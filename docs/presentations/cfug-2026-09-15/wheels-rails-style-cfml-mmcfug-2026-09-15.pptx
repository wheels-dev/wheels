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03"/>
    <p:restoredTop sz="94583"/>
  </p:normalViewPr>
  <p:slideViewPr>
    <p:cSldViewPr snapToGrid="0" snapToObjects="1">
      <p:cViewPr varScale="1">
        <p:scale>
          <a:sx n="209" d="100"/>
          <a:sy n="209" d="100"/>
        </p:scale>
        <p:origin x="18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124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Thank Rick and MMCFUG — 25 years of meetings, and the YouTube channel means this will outlive tonight. Set the shape of the evening: about 25 minutes of context, then roughly 50 minutes building a real app live, then Q&amp;A. Ask people to hold questions until the demo checkpoints unless something is unclear on screen.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90 seconds. The point that matters to this room: I run Wheels in production for a real business, and I maintain it. I am not selling a toy.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wait for hands on Zoom — ask people to use the reaction button. The third question is the setup for the whole talk; name-check Rick's story with his permission.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pain slide. Don't dwell; everyone recognizes it. Land the last line: none of this is the business. A framework's job is to make these boxes disappear so the business logic is what you 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from the project's own history (Tom King, David Belanger, original members incl. Chris Peters): Rob Cameron founded it in 2005–06 as a Rails-inspired beta; 1.0 in 2008 under Per Djurner; 1.1 in 2010; 1.2 skipped as a milestone because it changed hands repeatedly; 1.3/1.4 in 2014; 2.0 in 2017; 3.0 January 2026; 4.x this year. Rick's point about the ramp-up is the gap between 2005 and 2008 — say so. The 2017–2026 gap is the 'solid but quiet' years. Then pivot: the last nine months moved the framework more than the previous five years, and that's what the demo shows.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list matters to this crowd: Adobe shops are not excluded, and BoxLang is where a lot of new CFML will land. RustCFML is the newest: a JVM-free CFML interpreter written in Rust, young but a supported engine — full core suite (~5,350 specs) runs against it on every PR, with a couple of known upstream gaps (Query-of-Queries) baselined. Mention that the same app and the same password hashes move between engines unchanged.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know Rails, you already know this. If you only know CFML, this is the part where the fortieth copy of the CRUD code goes away. Singular model, plural table, plural controller — you never declare the mapping. You can override any of it (table(), etc.), but you rarely need 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 two dark boxes are the only ones you must write: a route in config/routes.cfm and a view. Wheels will instantiate a default controller when there's no Posts.cfc, and a view with no model is just a template. Controllers and models are where your logic and data live once you have some — which is why the scaffold generates them, but a static About page never needs them. Nothing here is a black box; every file lives in your app directory.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has upgraded a framework that lived inside their app directory knows the pain. This is the 3.0 change that made 4.x releases boring — in the good sense.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code aloud — point at three things: finders read like English, the builder chains, and save() either persists or hands you errors the form already knows how to render. The cfqueryparam line is the security pitch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'I don't want to install CommandBox to try it.' Homebrew on macOS or Linux, Scoop on Windows, Java 21, done. wheels-be tracks the develop branch if you want to see what's coming — that's the build tonight's demo may be running on. Linux matters beyond laptops: the same formula is what you put in a Dockerfile or a GitHub Actions runner, so the CLI that scaffolds your app is also the one that runs your test suite in CI and deploys it. Everything you're about to see in the demo is one of these commands.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verbatim. The DHH video worked because he named the target before he hit it. Then leave the slides and go to the terminal. Slides 13–20 are on-screen prompts for each beat — switch back to them only if you need a breather or the demo needs a fallback while you talk.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JVM boot: ~30–40 s before / answers. Keep talking — do NOT re-run wheels start. If a start ever fails partway it leaves a stale registration and the retry says 'registered to a different project: &lt;unknown&gt;' — recover with `wheels start --force`. Fallback: cd ~/demo/blogdemo-final in the second tab.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The scaffold writes validatesPresenceOf(title,body,publishedAt) AND validatesLengthOf(title, 50). On snapshot 2461 the new routes show up without a reload, but keep the `wheels reload` in the script — model config still needs it and it costs two seconds. One .resources() line = 16 route rows (7 actions, each with/without .[format]), named posts / newPost / editPost / post — say 'the whole REST surface from one line', not 'seven routes'. The table also lists 38 internal /wheels/* routes, hence the grep. Seeder fixed in 2461 (real dates). Title the hand-made post 'Hello, Wheels' (Beat 4's LIKE query depends on it). Running long? Skip --dry-run and routes, keep the browser CRUD. Checkpoint: cp1-scaffold.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Presence and length rules are already generated — don't pretend to type them. Type validatesExclusionOf(property="title", list="Untitled") — all-named arguments (the mixed form validatesExclusionOf("title", list=...) throws Missing argument name) and hasMany("comments"), then `wheels reload`. Do NOT type a uniqueness or minimum-length rule: uniqueness on title makes Beat 4's seed roll back (seeded titles repeat), and a body minimum breaks the generated specs' 'MyText' sample data (model config is cached; without the reload, include="comments" in Beat 4 fails with 'association comments could not be found'). Empty-form submit renders inline red errors. Known cosmetic: the publishedAt date selects repeat the error six times. Checkpoint: cp1 still valid.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Expected output: comments() → a one-row table; post().title → 'Test Title 3'; the builder → 'Hello, Wheels'. Each console line is its own stateless request — never `post = …` then `post.title`. Avoid findOne(include="comments") on stage: it prints a flattened row plus a second JSON dump and looks broken. Console needs the dev server running and development mode. First cut if behind. Checkpoint: cp2-comments.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develop (bcrypt generator commit 35894067e — make sure the demo machine has it). Reload after the migration or /register 404s. Flashes: 'Welcome!', 'You have been logged out.', 'Invalid email or password.', 'Welcome back.' Stored hash is a standard $2a$10$… string. Policy rule to type live (the generated file uses variables.user as a struct and variables.record): `public boolean function show() { return IsStruct(user) &amp;&amp; !StructIsEmpty(user); }`. To SHOW the 403, add `authorize(post);` after findByKey in Posts.show, reload, hit /posts/1 logged out → 403 Wheels.NotAuthorized with the Copy button; log in → 200. THEN REMOVE authorize() before Beat 6 or two Posts CRUD specs fail with 403 (they aren't logged in). If behind: generate auth, show the User model, skip the policy — but say the default-deny sentence anyway. Checkpoint: cp3-auth.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with a caveat. Expected: 27 passed → 28 → break → '27 passed, 1 failed: requires a body' → 28. Test BODY, not title: with presence commented out, the {50} length rule still rejects an empty title so a title spec never goes red. KNOWN FIRST-RUN BUG (still in 2461): the first `wheels test` on a fresh test DB fails the Comment show/edit/update/delete specs — the generated spec hard-codes post_id=1 and the controller's findByKey(include="post") inner-joins, so with no Post 1 yet the record comes back false; the second run is green because the Posts specs have created posts. Until the generator creates the parent in beforeEach, run `wheels test` once off-screen right after the auth migration in Beat 5 so the on-stage run is the second one. `wheels reload` after each model edit. Checkpoint: cp4-tests.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info, migrate diff ('No differences found'), coverage (runs the suite, prints CRAP table, reverts instrumentation), api-resource → migrate → reload → POST returns 201 with the record, GET list 200. `wheels stats` is fixed in 2461 and can go back in if there's time. `wheels doctor` still flags the scaffold's own new(params.x)/update(params.x) five times — leave it out. Don't run `wheels test` after api-resource: specs run in a separate `_wheelsTest` application that `wheels reload` never refreshes, so the generated API specs can't find the apiProducts route. Also mention if time: bindBy=slug, wheels upgrade check (needs network), wheels engines rustcfml start, debug-bar complexity panel. This beat is elastic.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2461: `wheels mcp wheels` answers initialize/tools/list (19 tools). Full agent loop run over MCP: generate {type:scaffold, name:Tag, attributes:'name:string{30} slug:string'} → migrate {action:latest} → reload → seed {generate:true} → /tags served 200. Bare `wheels mcp` still prints 'missing module name' — always type `wheels mcp wheels`. A failing `test` over MCP still returns only 'Tests failed' without the report. Keep to five minutes; it's the natural pitch for the intermediate session.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contract slide: this is the list we promised. If anything got cut for time, say so here and what it would have looked like.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headers only. Any one of these is a follow-up talk. Multi-tenancy and SSE tend to get questions from people running SaaS-shaped CF apps.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have ready: 'Is this actually maintained?' — 4.0 this year, 4.1 current, regular cadence, public changelog, one primary maintainer and I'll be straight about that. 'Why not Rails/Laravel?' — if you're hiring fresh, maybe. If you have twenty years of CFML and people who know it, this is how that codebase gets a modern shape without a rewrite you'll never finish. 'Performance?' — 4.0.6 and 4.1 together made model materialization roughly 3x faster (compile-time includes instead of copying ~270 methods per instance, then a direct constructor path); benchmark suite is in the repo. 'What about RocketUnit?' — deprecated in 4.1 with a one-time warning, removal planned for 5.0; WheelsTest is the path forward.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people the one-liner and let them type it during Q&amp;A. Ask Rick to put the links in the video description.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 If the room goes quiet: 'How many people still have a CF app in production? Right — that's why this matters.' Or: 'Rick, does this look like the Rails video?' Ask Rick about the intermediate session while the reception is fresh.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logo-dark.png"/>
          <p:cNvPicPr>
            <a:picLocks noChangeAspect="1"/>
          </p:cNvPicPr>
          <p:nvPr/>
        </p:nvPicPr>
        <p:blipFill>
          <a:blip r:embed="rId3"/>
          <a:stretch>
            <a:fillRect/>
          </a:stretch>
        </p:blipFill>
        <p:spPr>
          <a:xfrm>
            <a:off x="457200" y="548640"/>
            <a:ext cx="3840480" cy="630936"/>
          </a:xfrm>
          <a:prstGeom prst="rect">
            <a:avLst/>
          </a:prstGeom>
        </p:spPr>
      </p:pic>
      <p:sp>
        <p:nvSpPr>
          <p:cNvPr id="3" name="Text 0"/>
          <p:cNvSpPr txBox="1"/>
          <p:nvPr/>
        </p:nvSpPr>
        <p:spPr>
          <a:xfrm>
            <a:off x="457200" y="1554480"/>
            <a:ext cx="8229600" cy="91440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Rails-Style CFML</a:t>
            </a:r>
            <a:endParaRPr lang="en-US" sz="5400" dirty="0"/>
          </a:p>
        </p:txBody>
      </p:sp>
      <p:sp>
        <p:nvSpPr>
          <p:cNvPr id="4" name="Text 1"/>
          <p:cNvSpPr txBox="1"/>
          <p:nvPr/>
        </p:nvSpPr>
        <p:spPr>
          <a:xfrm>
            <a:off x="457200" y="2514600"/>
            <a:ext cx="7772400" cy="548640"/>
          </a:xfrm>
          <a:prstGeom prst="rect">
            <a:avLst/>
          </a:prstGeom>
          <a:noFill/>
          <a:ln/>
        </p:spPr>
        <p:txBody>
          <a:bodyPr wrap="square" lIns="0" tIns="0" rIns="0" bIns="0" rtlCol="0" anchor="ctr"/>
          <a:lstStyle/>
          <a:p>
            <a:pPr marL="0" indent="0">
              <a:buNone/>
            </a:pPr>
            <a:r>
              <a:rPr lang="en-US" sz="2000" dirty="0">
                <a:solidFill>
                  <a:srgbClr val="C9D3DD"/>
                </a:solidFill>
                <a:latin typeface="Calibri" pitchFamily="34" charset="0"/>
                <a:ea typeface="Calibri" pitchFamily="34" charset="-122"/>
                <a:cs typeface="Calibri" pitchFamily="34" charset="-120"/>
              </a:rPr>
              <a:t>Building a blog live with Wheels 4.1 — no IDE, no config files, no CommandBox.</a:t>
            </a:r>
            <a:endParaRPr lang="en-US" sz="2000" dirty="0"/>
          </a:p>
        </p:txBody>
      </p:sp>
      <p:sp>
        <p:nvSpPr>
          <p:cNvPr id="5" name="Text 2"/>
          <p:cNvSpPr txBox="1"/>
          <p:nvPr/>
        </p:nvSpPr>
        <p:spPr>
          <a:xfrm>
            <a:off x="457200" y="3794760"/>
            <a:ext cx="77724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Peter Amiri</a:t>
            </a:r>
            <a:r>
              <a:rPr lang="en-US" sz="1400" dirty="0">
                <a:solidFill>
                  <a:srgbClr val="9AA7B4"/>
                </a:solidFill>
                <a:latin typeface="Calibri" pitchFamily="34" charset="0"/>
                <a:ea typeface="Calibri" pitchFamily="34" charset="-122"/>
                <a:cs typeface="Calibri" pitchFamily="34" charset="-120"/>
              </a:rPr>
              <a:t>  ·  Wheels maintainer  ·  CTO, PAI Industries</a:t>
            </a:r>
            <a:endParaRPr lang="en-US" sz="1400" dirty="0"/>
          </a:p>
        </p:txBody>
      </p:sp>
      <p:sp>
        <p:nvSpPr>
          <p:cNvPr id="6" name="Text 3"/>
          <p:cNvSpPr txBox="1"/>
          <p:nvPr/>
        </p:nvSpPr>
        <p:spPr>
          <a:xfrm>
            <a:off x="457200" y="4114800"/>
            <a:ext cx="7772400" cy="274320"/>
          </a:xfrm>
          <a:prstGeom prst="rect">
            <a:avLst/>
          </a:prstGeom>
          <a:noFill/>
          <a:ln/>
        </p:spPr>
        <p:txBody>
          <a:bodyPr wrap="square" lIns="0" tIns="0" rIns="0" bIns="0" rtlCol="0" anchor="ctr"/>
          <a:lstStyle/>
          <a:p>
            <a:pPr marL="0" indent="0">
              <a:buNone/>
            </a:pPr>
            <a:r>
              <a:rPr lang="en-US" sz="1200" dirty="0">
                <a:solidFill>
                  <a:srgbClr val="9AA7B4"/>
                </a:solidFill>
                <a:latin typeface="Calibri" pitchFamily="34" charset="0"/>
                <a:ea typeface="Calibri" pitchFamily="34" charset="-122"/>
                <a:cs typeface="Calibri" pitchFamily="34" charset="-120"/>
              </a:rPr>
              <a:t>Mid-Michigan ColdFusion Users Group  ·  Tuesday, September 15, 2026  ·  7:00 PM ET</a:t>
            </a:r>
            <a:endParaRPr lang="en-US" sz="1200" dirty="0"/>
          </a:p>
        </p:txBody>
      </p:sp>
      <p:sp>
        <p:nvSpPr>
          <p:cNvPr id="7" name="Text 4"/>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github.com/wheels-dev/wheels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Who's talking</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HELLO</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
        <p:nvSpPr>
          <p:cNvPr id="7" name="Text 4"/>
          <p:cNvSpPr txBox="1"/>
          <p:nvPr/>
        </p:nvSpPr>
        <p:spPr>
          <a:xfrm>
            <a:off x="457200" y="1188720"/>
            <a:ext cx="4937760" cy="32918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CTO at PAI Industries — heavy-duty truck parts. Our ecommerce platform runs on Wheels in production (SQL Server + Elasticsearch).</a:t>
            </a:r>
            <a:endParaRPr lang="en-US" sz="1500" dirty="0"/>
          </a:p>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Maintainer of Wheels, the open-source CFML MVC framework (Apache 2.0).</a:t>
            </a:r>
            <a:endParaRPr lang="en-US" sz="1500" dirty="0"/>
          </a:p>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Writing CFML since the Allaire days. Last CF conference talk: CFUnited, 2006-ish. This is my first user group talk since.</a:t>
            </a:r>
            <a:endParaRPr lang="en-US" sz="1500" dirty="0"/>
          </a:p>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Also: Pick/MultiValue databases, multi-datacenter infrastructure, and a lot of AI-assisted engineering lately.</a:t>
            </a:r>
            <a:endParaRPr lang="en-US" sz="1500" dirty="0"/>
          </a:p>
        </p:txBody>
      </p:sp>
      <p:sp>
        <p:nvSpPr>
          <p:cNvPr id="8" name="Shape 5"/>
          <p:cNvSpPr/>
          <p:nvPr/>
        </p:nvSpPr>
        <p:spPr>
          <a:xfrm>
            <a:off x="5760720" y="1188720"/>
            <a:ext cx="2926080" cy="3200400"/>
          </a:xfrm>
          <a:prstGeom prst="roundRect">
            <a:avLst>
              <a:gd name="adj" fmla="val 2500"/>
            </a:avLst>
          </a:prstGeom>
          <a:solidFill>
            <a:srgbClr val="16232F"/>
          </a:solidFill>
          <a:ln w="12700">
            <a:solidFill>
              <a:srgbClr val="16232F"/>
            </a:solidFill>
            <a:prstDash val="solid"/>
          </a:ln>
        </p:spPr>
        <p:txBody>
          <a:bodyPr/>
          <a:lstStyle/>
          <a:p>
            <a:endParaRPr lang="en-US"/>
          </a:p>
        </p:txBody>
      </p:sp>
      <p:sp>
        <p:nvSpPr>
          <p:cNvPr id="9" name="Text 6"/>
          <p:cNvSpPr txBox="1"/>
          <p:nvPr/>
        </p:nvSpPr>
        <p:spPr>
          <a:xfrm>
            <a:off x="5943600" y="1325880"/>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Tonight's promise</a:t>
            </a:r>
            <a:endParaRPr lang="en-US" sz="1500" dirty="0"/>
          </a:p>
        </p:txBody>
      </p:sp>
      <p:sp>
        <p:nvSpPr>
          <p:cNvPr id="10" name="Text 7"/>
          <p:cNvSpPr txBox="1"/>
          <p:nvPr/>
        </p:nvSpPr>
        <p:spPr>
          <a:xfrm>
            <a:off x="5943600" y="1691640"/>
            <a:ext cx="2560320" cy="2560320"/>
          </a:xfrm>
          <a:prstGeom prst="rect">
            <a:avLst/>
          </a:prstGeom>
          <a:noFill/>
          <a:ln/>
        </p:spPr>
        <p:txBody>
          <a:bodyPr wrap="square" lIns="0" tIns="0" rIns="0" bIns="0" rtlCol="0" anchor="t"/>
          <a:lstStyle/>
          <a:p>
            <a:pPr marL="0" indent="0">
              <a:buNone/>
            </a:pPr>
            <a:r>
              <a:rPr lang="en-US" sz="1300" dirty="0">
                <a:solidFill>
                  <a:srgbClr val="9AA7B4"/>
                </a:solidFill>
                <a:latin typeface="Calibri" pitchFamily="34" charset="0"/>
                <a:ea typeface="Calibri" pitchFamily="34" charset="-122"/>
                <a:cs typeface="Calibri" pitchFamily="34" charset="-120"/>
              </a:rPr>
              <a:t>By the end of the demo you will have seen every command needed to go home and build the same app yourself. Nothing is pre-baked on screen except the fallbacks.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Three quick show-of-hands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BEFORE WE START</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457200" y="1234440"/>
            <a:ext cx="502920" cy="502920"/>
          </a:xfrm>
          <a:prstGeom prst="ellipse">
            <a:avLst/>
          </a:prstGeom>
          <a:solidFill>
            <a:srgbClr val="EF3B2D"/>
          </a:solidFill>
          <a:ln w="12700">
            <a:solidFill>
              <a:srgbClr val="EF3B2D"/>
            </a:solidFill>
            <a:prstDash val="solid"/>
          </a:ln>
        </p:spPr>
        <p:txBody>
          <a:bodyPr/>
          <a:lstStyle/>
          <a:p>
            <a:endParaRPr lang="en-US"/>
          </a:p>
        </p:txBody>
      </p:sp>
      <p:sp>
        <p:nvSpPr>
          <p:cNvPr id="8" name="Text 5"/>
          <p:cNvSpPr txBox="1"/>
          <p:nvPr/>
        </p:nvSpPr>
        <p:spPr>
          <a:xfrm>
            <a:off x="457200" y="12344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1188720" y="1188720"/>
            <a:ext cx="7498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Still have a CFML app in production?</a:t>
            </a:r>
            <a:endParaRPr lang="en-US" sz="2000" dirty="0"/>
          </a:p>
        </p:txBody>
      </p:sp>
      <p:sp>
        <p:nvSpPr>
          <p:cNvPr id="10" name="Text 7"/>
          <p:cNvSpPr txBox="1"/>
          <p:nvPr/>
        </p:nvSpPr>
        <p:spPr>
          <a:xfrm>
            <a:off x="1188720" y="1572768"/>
            <a:ext cx="7498080" cy="548640"/>
          </a:xfrm>
          <a:prstGeom prst="rect">
            <a:avLst/>
          </a:prstGeom>
          <a:noFill/>
          <a:ln/>
        </p:spPr>
        <p:txBody>
          <a:bodyPr wrap="square" lIns="0" tIns="0" rIns="0" bIns="0" rtlCol="0" anchor="ctr"/>
          <a:lstStyle/>
          <a:p>
            <a:pPr marL="0" indent="0">
              <a:buNone/>
            </a:pPr>
            <a:r>
              <a:rPr lang="en-US" sz="1300" dirty="0">
                <a:solidFill>
                  <a:srgbClr val="C9D3DD"/>
                </a:solidFill>
                <a:latin typeface="Calibri" pitchFamily="34" charset="0"/>
                <a:ea typeface="Calibri" pitchFamily="34" charset="-122"/>
                <a:cs typeface="Calibri" pitchFamily="34" charset="-120"/>
              </a:rPr>
              <a:t>That's the room this talk is for. This is not a rewrite pitch — it's a place to put the next feature.</a:t>
            </a:r>
            <a:endParaRPr lang="en-US" sz="1300" dirty="0"/>
          </a:p>
        </p:txBody>
      </p:sp>
      <p:sp>
        <p:nvSpPr>
          <p:cNvPr id="11" name="Shape 8"/>
          <p:cNvSpPr/>
          <p:nvPr/>
        </p:nvSpPr>
        <p:spPr>
          <a:xfrm>
            <a:off x="457200" y="2331720"/>
            <a:ext cx="502920" cy="502920"/>
          </a:xfrm>
          <a:prstGeom prst="ellipse">
            <a:avLst/>
          </a:prstGeom>
          <a:solidFill>
            <a:srgbClr val="EF3B2D"/>
          </a:solidFill>
          <a:ln w="12700">
            <a:solidFill>
              <a:srgbClr val="EF3B2D"/>
            </a:solidFill>
            <a:prstDash val="solid"/>
          </a:ln>
        </p:spPr>
        <p:txBody>
          <a:bodyPr/>
          <a:lstStyle/>
          <a:p>
            <a:endParaRPr lang="en-US"/>
          </a:p>
        </p:txBody>
      </p:sp>
      <p:sp>
        <p:nvSpPr>
          <p:cNvPr id="12" name="Text 9"/>
          <p:cNvSpPr txBox="1"/>
          <p:nvPr/>
        </p:nvSpPr>
        <p:spPr>
          <a:xfrm>
            <a:off x="457200" y="23317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txBox="1"/>
          <p:nvPr/>
        </p:nvSpPr>
        <p:spPr>
          <a:xfrm>
            <a:off x="1188720" y="2286000"/>
            <a:ext cx="7498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Ever tried CFWheels — 1.x, 2.x, any of it?</a:t>
            </a:r>
            <a:endParaRPr lang="en-US" sz="2000" dirty="0"/>
          </a:p>
        </p:txBody>
      </p:sp>
      <p:sp>
        <p:nvSpPr>
          <p:cNvPr id="14" name="Text 11"/>
          <p:cNvSpPr txBox="1"/>
          <p:nvPr/>
        </p:nvSpPr>
        <p:spPr>
          <a:xfrm>
            <a:off x="1188720" y="2670048"/>
            <a:ext cx="7498080" cy="548640"/>
          </a:xfrm>
          <a:prstGeom prst="rect">
            <a:avLst/>
          </a:prstGeom>
          <a:noFill/>
          <a:ln/>
        </p:spPr>
        <p:txBody>
          <a:bodyPr wrap="square" lIns="0" tIns="0" rIns="0" bIns="0" rtlCol="0" anchor="ctr"/>
          <a:lstStyle/>
          <a:p>
            <a:pPr marL="0" indent="0">
              <a:buNone/>
            </a:pPr>
            <a:r>
              <a:rPr lang="en-US" sz="1300" dirty="0">
                <a:solidFill>
                  <a:srgbClr val="C9D3DD"/>
                </a:solidFill>
                <a:latin typeface="Calibri" pitchFamily="34" charset="0"/>
                <a:ea typeface="Calibri" pitchFamily="34" charset="-122"/>
                <a:cs typeface="Calibri" pitchFamily="34" charset="-120"/>
              </a:rPr>
              <a:t>If you bounced off it years ago, tonight is the update. A lot changed in 3.0, 4.0 and 4.1.</a:t>
            </a:r>
            <a:endParaRPr lang="en-US" sz="1300" dirty="0"/>
          </a:p>
        </p:txBody>
      </p:sp>
      <p:sp>
        <p:nvSpPr>
          <p:cNvPr id="15" name="Shape 12"/>
          <p:cNvSpPr/>
          <p:nvPr/>
        </p:nvSpPr>
        <p:spPr>
          <a:xfrm>
            <a:off x="457200" y="3429000"/>
            <a:ext cx="502920" cy="502920"/>
          </a:xfrm>
          <a:prstGeom prst="ellipse">
            <a:avLst/>
          </a:prstGeom>
          <a:solidFill>
            <a:srgbClr val="EF3B2D"/>
          </a:solidFill>
          <a:ln w="12700">
            <a:solidFill>
              <a:srgbClr val="EF3B2D"/>
            </a:solidFill>
            <a:prstDash val="solid"/>
          </a:ln>
        </p:spPr>
        <p:txBody>
          <a:bodyPr/>
          <a:lstStyle/>
          <a:p>
            <a:endParaRPr lang="en-US"/>
          </a:p>
        </p:txBody>
      </p:sp>
      <p:sp>
        <p:nvSpPr>
          <p:cNvPr id="16" name="Text 13"/>
          <p:cNvSpPr txBox="1"/>
          <p:nvPr/>
        </p:nvSpPr>
        <p:spPr>
          <a:xfrm>
            <a:off x="457200" y="34290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1188720" y="3383280"/>
            <a:ext cx="74980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Seen the original Rails blog video?</a:t>
            </a:r>
            <a:endParaRPr lang="en-US" sz="2000" dirty="0"/>
          </a:p>
        </p:txBody>
      </p:sp>
      <p:sp>
        <p:nvSpPr>
          <p:cNvPr id="18" name="Text 15"/>
          <p:cNvSpPr txBox="1"/>
          <p:nvPr/>
        </p:nvSpPr>
        <p:spPr>
          <a:xfrm>
            <a:off x="1188720" y="3767328"/>
            <a:ext cx="7498080" cy="548640"/>
          </a:xfrm>
          <a:prstGeom prst="rect">
            <a:avLst/>
          </a:prstGeom>
          <a:noFill/>
          <a:ln/>
        </p:spPr>
        <p:txBody>
          <a:bodyPr wrap="square" lIns="0" tIns="0" rIns="0" bIns="0" rtlCol="0" anchor="ctr"/>
          <a:lstStyle/>
          <a:p>
            <a:pPr marL="0" indent="0">
              <a:buNone/>
            </a:pPr>
            <a:r>
              <a:rPr lang="en-US" sz="1300" dirty="0">
                <a:solidFill>
                  <a:srgbClr val="C9D3DD"/>
                </a:solidFill>
                <a:latin typeface="Calibri" pitchFamily="34" charset="0"/>
                <a:ea typeface="Calibri" pitchFamily="34" charset="-122"/>
                <a:cs typeface="Calibri" pitchFamily="34" charset="-120"/>
              </a:rPr>
              <a:t>DHH, 2005, fifteen minutes, one blog. Rick saw it and took a Rails contract. Tonight is the CFML version of that video.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The 200 lines you've written forty times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WHY A FRAMEWORK, IN 2026</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457200" y="1188720"/>
            <a:ext cx="4023360" cy="914400"/>
          </a:xfrm>
          <a:prstGeom prst="roundRect">
            <a:avLst>
              <a:gd name="adj" fmla="val 8000"/>
            </a:avLst>
          </a:prstGeom>
          <a:solidFill>
            <a:srgbClr val="F3F5F7"/>
          </a:solidFill>
          <a:ln w="12700">
            <a:solidFill>
              <a:srgbClr val="F3F5F7"/>
            </a:solidFill>
            <a:prstDash val="solid"/>
          </a:ln>
        </p:spPr>
        <p:txBody>
          <a:bodyPr/>
          <a:lstStyle/>
          <a:p>
            <a:endParaRPr lang="en-US"/>
          </a:p>
        </p:txBody>
      </p:sp>
      <p:sp>
        <p:nvSpPr>
          <p:cNvPr id="8" name="Text 5"/>
          <p:cNvSpPr txBox="1"/>
          <p:nvPr/>
        </p:nvSpPr>
        <p:spPr>
          <a:xfrm>
            <a:off x="640080" y="1298448"/>
            <a:ext cx="3657600" cy="365760"/>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List / show / new / edit / delete</a:t>
            </a:r>
            <a:endParaRPr lang="en-US" sz="1500" dirty="0"/>
          </a:p>
        </p:txBody>
      </p:sp>
      <p:sp>
        <p:nvSpPr>
          <p:cNvPr id="9" name="Text 6"/>
          <p:cNvSpPr txBox="1"/>
          <p:nvPr/>
        </p:nvSpPr>
        <p:spPr>
          <a:xfrm>
            <a:off x="640080" y="1645920"/>
            <a:ext cx="3657600" cy="36576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for every table, by hand</a:t>
            </a:r>
            <a:endParaRPr lang="en-US" sz="1200" dirty="0"/>
          </a:p>
        </p:txBody>
      </p:sp>
      <p:sp>
        <p:nvSpPr>
          <p:cNvPr id="10" name="Shape 7"/>
          <p:cNvSpPr/>
          <p:nvPr/>
        </p:nvSpPr>
        <p:spPr>
          <a:xfrm>
            <a:off x="4663440" y="1188720"/>
            <a:ext cx="4023360" cy="914400"/>
          </a:xfrm>
          <a:prstGeom prst="roundRect">
            <a:avLst>
              <a:gd name="adj" fmla="val 8000"/>
            </a:avLst>
          </a:prstGeom>
          <a:solidFill>
            <a:srgbClr val="F3F5F7"/>
          </a:solidFill>
          <a:ln w="12700">
            <a:solidFill>
              <a:srgbClr val="F3F5F7"/>
            </a:solidFill>
            <a:prstDash val="solid"/>
          </a:ln>
        </p:spPr>
        <p:txBody>
          <a:bodyPr/>
          <a:lstStyle/>
          <a:p>
            <a:endParaRPr lang="en-US"/>
          </a:p>
        </p:txBody>
      </p:sp>
      <p:sp>
        <p:nvSpPr>
          <p:cNvPr id="11" name="Text 8"/>
          <p:cNvSpPr txBox="1"/>
          <p:nvPr/>
        </p:nvSpPr>
        <p:spPr>
          <a:xfrm>
            <a:off x="4846320" y="1298448"/>
            <a:ext cx="3657600" cy="365760"/>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Form validation</a:t>
            </a:r>
            <a:endParaRPr lang="en-US" sz="1500" dirty="0"/>
          </a:p>
        </p:txBody>
      </p:sp>
      <p:sp>
        <p:nvSpPr>
          <p:cNvPr id="12" name="Text 9"/>
          <p:cNvSpPr txBox="1"/>
          <p:nvPr/>
        </p:nvSpPr>
        <p:spPr>
          <a:xfrm>
            <a:off x="4846320" y="1645920"/>
            <a:ext cx="3657600" cy="36576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and re-rendering the form with errors</a:t>
            </a:r>
            <a:endParaRPr lang="en-US" sz="1200" dirty="0"/>
          </a:p>
        </p:txBody>
      </p:sp>
      <p:sp>
        <p:nvSpPr>
          <p:cNvPr id="13" name="Shape 10"/>
          <p:cNvSpPr/>
          <p:nvPr/>
        </p:nvSpPr>
        <p:spPr>
          <a:xfrm>
            <a:off x="457200" y="2240280"/>
            <a:ext cx="4023360" cy="914400"/>
          </a:xfrm>
          <a:prstGeom prst="roundRect">
            <a:avLst>
              <a:gd name="adj" fmla="val 8000"/>
            </a:avLst>
          </a:prstGeom>
          <a:solidFill>
            <a:srgbClr val="F3F5F7"/>
          </a:solidFill>
          <a:ln w="12700">
            <a:solidFill>
              <a:srgbClr val="F3F5F7"/>
            </a:solidFill>
            <a:prstDash val="solid"/>
          </a:ln>
        </p:spPr>
        <p:txBody>
          <a:bodyPr/>
          <a:lstStyle/>
          <a:p>
            <a:endParaRPr lang="en-US"/>
          </a:p>
        </p:txBody>
      </p:sp>
      <p:sp>
        <p:nvSpPr>
          <p:cNvPr id="14" name="Text 11"/>
          <p:cNvSpPr txBox="1"/>
          <p:nvPr/>
        </p:nvSpPr>
        <p:spPr>
          <a:xfrm>
            <a:off x="640080" y="2350008"/>
            <a:ext cx="3657600" cy="365760"/>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URL routing</a:t>
            </a:r>
            <a:endParaRPr lang="en-US" sz="1500" dirty="0"/>
          </a:p>
        </p:txBody>
      </p:sp>
      <p:sp>
        <p:nvSpPr>
          <p:cNvPr id="15" name="Text 12"/>
          <p:cNvSpPr txBox="1"/>
          <p:nvPr/>
        </p:nvSpPr>
        <p:spPr>
          <a:xfrm>
            <a:off x="640080" y="2697480"/>
            <a:ext cx="3657600" cy="36576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and the switch statement that grows forever</a:t>
            </a:r>
            <a:endParaRPr lang="en-US" sz="1200" dirty="0"/>
          </a:p>
        </p:txBody>
      </p:sp>
      <p:sp>
        <p:nvSpPr>
          <p:cNvPr id="16" name="Shape 13"/>
          <p:cNvSpPr/>
          <p:nvPr/>
        </p:nvSpPr>
        <p:spPr>
          <a:xfrm>
            <a:off x="4663440" y="2240280"/>
            <a:ext cx="4023360" cy="914400"/>
          </a:xfrm>
          <a:prstGeom prst="roundRect">
            <a:avLst>
              <a:gd name="adj" fmla="val 8000"/>
            </a:avLst>
          </a:prstGeom>
          <a:solidFill>
            <a:srgbClr val="F3F5F7"/>
          </a:solidFill>
          <a:ln w="12700">
            <a:solidFill>
              <a:srgbClr val="F3F5F7"/>
            </a:solidFill>
            <a:prstDash val="solid"/>
          </a:ln>
        </p:spPr>
        <p:txBody>
          <a:bodyPr/>
          <a:lstStyle/>
          <a:p>
            <a:endParaRPr lang="en-US"/>
          </a:p>
        </p:txBody>
      </p:sp>
      <p:sp>
        <p:nvSpPr>
          <p:cNvPr id="17" name="Text 14"/>
          <p:cNvSpPr txBox="1"/>
          <p:nvPr/>
        </p:nvSpPr>
        <p:spPr>
          <a:xfrm>
            <a:off x="4846320" y="2350008"/>
            <a:ext cx="3657600" cy="365760"/>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Parameterized queries</a:t>
            </a:r>
            <a:endParaRPr lang="en-US" sz="1500" dirty="0"/>
          </a:p>
        </p:txBody>
      </p:sp>
      <p:sp>
        <p:nvSpPr>
          <p:cNvPr id="18" name="Text 15"/>
          <p:cNvSpPr txBox="1"/>
          <p:nvPr/>
        </p:nvSpPr>
        <p:spPr>
          <a:xfrm>
            <a:off x="4846320" y="2697480"/>
            <a:ext cx="3657600" cy="36576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and the one you forgot to cfqueryparam</a:t>
            </a:r>
            <a:endParaRPr lang="en-US" sz="1200" dirty="0"/>
          </a:p>
        </p:txBody>
      </p:sp>
      <p:sp>
        <p:nvSpPr>
          <p:cNvPr id="19" name="Shape 16"/>
          <p:cNvSpPr/>
          <p:nvPr/>
        </p:nvSpPr>
        <p:spPr>
          <a:xfrm>
            <a:off x="457200" y="3291840"/>
            <a:ext cx="4023360" cy="914400"/>
          </a:xfrm>
          <a:prstGeom prst="roundRect">
            <a:avLst>
              <a:gd name="adj" fmla="val 8000"/>
            </a:avLst>
          </a:prstGeom>
          <a:solidFill>
            <a:srgbClr val="F3F5F7"/>
          </a:solidFill>
          <a:ln w="12700">
            <a:solidFill>
              <a:srgbClr val="F3F5F7"/>
            </a:solidFill>
            <a:prstDash val="solid"/>
          </a:ln>
        </p:spPr>
        <p:txBody>
          <a:bodyPr/>
          <a:lstStyle/>
          <a:p>
            <a:endParaRPr lang="en-US"/>
          </a:p>
        </p:txBody>
      </p:sp>
      <p:sp>
        <p:nvSpPr>
          <p:cNvPr id="20" name="Text 17"/>
          <p:cNvSpPr txBox="1"/>
          <p:nvPr/>
        </p:nvSpPr>
        <p:spPr>
          <a:xfrm>
            <a:off x="640080" y="3401568"/>
            <a:ext cx="3657600" cy="365760"/>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Login, password hashing, sessions</a:t>
            </a:r>
            <a:endParaRPr lang="en-US" sz="1500" dirty="0"/>
          </a:p>
        </p:txBody>
      </p:sp>
      <p:sp>
        <p:nvSpPr>
          <p:cNvPr id="21" name="Text 18"/>
          <p:cNvSpPr txBox="1"/>
          <p:nvPr/>
        </p:nvSpPr>
        <p:spPr>
          <a:xfrm>
            <a:off x="640080" y="3749040"/>
            <a:ext cx="3657600" cy="36576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hand-rolled, differently, each app</a:t>
            </a:r>
            <a:endParaRPr lang="en-US" sz="1200" dirty="0"/>
          </a:p>
        </p:txBody>
      </p:sp>
      <p:sp>
        <p:nvSpPr>
          <p:cNvPr id="22" name="Shape 19"/>
          <p:cNvSpPr/>
          <p:nvPr/>
        </p:nvSpPr>
        <p:spPr>
          <a:xfrm>
            <a:off x="4663440" y="3291840"/>
            <a:ext cx="4023360" cy="914400"/>
          </a:xfrm>
          <a:prstGeom prst="roundRect">
            <a:avLst>
              <a:gd name="adj" fmla="val 8000"/>
            </a:avLst>
          </a:prstGeom>
          <a:solidFill>
            <a:srgbClr val="F3F5F7"/>
          </a:solidFill>
          <a:ln w="12700">
            <a:solidFill>
              <a:srgbClr val="F3F5F7"/>
            </a:solidFill>
            <a:prstDash val="solid"/>
          </a:ln>
        </p:spPr>
        <p:txBody>
          <a:bodyPr/>
          <a:lstStyle/>
          <a:p>
            <a:endParaRPr lang="en-US"/>
          </a:p>
        </p:txBody>
      </p:sp>
      <p:sp>
        <p:nvSpPr>
          <p:cNvPr id="23" name="Text 20"/>
          <p:cNvSpPr txBox="1"/>
          <p:nvPr/>
        </p:nvSpPr>
        <p:spPr>
          <a:xfrm>
            <a:off x="4846320" y="3401568"/>
            <a:ext cx="3657600" cy="365760"/>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Tests</a:t>
            </a:r>
            <a:endParaRPr lang="en-US" sz="1500" dirty="0"/>
          </a:p>
        </p:txBody>
      </p:sp>
      <p:sp>
        <p:nvSpPr>
          <p:cNvPr id="24" name="Text 21"/>
          <p:cNvSpPr txBox="1"/>
          <p:nvPr/>
        </p:nvSpPr>
        <p:spPr>
          <a:xfrm>
            <a:off x="4846320" y="3749040"/>
            <a:ext cx="3657600" cy="36576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…next sprint</a:t>
            </a:r>
            <a:endParaRPr lang="en-US" sz="1200" dirty="0"/>
          </a:p>
        </p:txBody>
      </p:sp>
      <p:sp>
        <p:nvSpPr>
          <p:cNvPr id="25" name="Text 22"/>
          <p:cNvSpPr txBox="1"/>
          <p:nvPr/>
        </p:nvSpPr>
        <p:spPr>
          <a:xfrm>
            <a:off x="457200" y="4343400"/>
            <a:ext cx="8229600" cy="365760"/>
          </a:xfrm>
          <a:prstGeom prst="rect">
            <a:avLst/>
          </a:prstGeom>
          <a:noFill/>
          <a:ln/>
        </p:spPr>
        <p:txBody>
          <a:bodyPr wrap="square" lIns="0" tIns="0" rIns="0" bIns="0" rtlCol="0" anchor="ctr"/>
          <a:lstStyle/>
          <a:p>
            <a:pPr marL="0" indent="0">
              <a:buNone/>
            </a:pPr>
            <a:r>
              <a:rPr lang="en-US" sz="1300" i="1" dirty="0">
                <a:solidFill>
                  <a:srgbClr val="6B7785"/>
                </a:solidFill>
                <a:latin typeface="Calibri" pitchFamily="34" charset="0"/>
                <a:ea typeface="Calibri" pitchFamily="34" charset="-122"/>
                <a:cs typeface="Calibri" pitchFamily="34" charset="-120"/>
              </a:rPr>
              <a:t>Every legacy CF app in this room has its own version of each box. None of them are the interesting part of the app.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Twenty years of Wheels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A LITTLE HISTORY — INCLUDING THE HONEST PART</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960120" y="1965960"/>
            <a:ext cx="7461504" cy="0"/>
          </a:xfrm>
          <a:prstGeom prst="line">
            <a:avLst/>
          </a:prstGeom>
          <a:noFill/>
          <a:ln w="25400">
            <a:solidFill>
              <a:srgbClr val="D9DEE4"/>
            </a:solidFill>
            <a:prstDash val="solid"/>
          </a:ln>
        </p:spPr>
        <p:txBody>
          <a:bodyPr/>
          <a:lstStyle/>
          <a:p>
            <a:endParaRPr lang="en-US"/>
          </a:p>
        </p:txBody>
      </p:sp>
      <p:sp>
        <p:nvSpPr>
          <p:cNvPr id="8" name="Shape 5"/>
          <p:cNvSpPr/>
          <p:nvPr/>
        </p:nvSpPr>
        <p:spPr>
          <a:xfrm>
            <a:off x="841248" y="1847088"/>
            <a:ext cx="237744" cy="237744"/>
          </a:xfrm>
          <a:prstGeom prst="ellipse">
            <a:avLst/>
          </a:prstGeom>
          <a:solidFill>
            <a:srgbClr val="0C1620"/>
          </a:solidFill>
          <a:ln w="12700">
            <a:solidFill>
              <a:srgbClr val="0C1620"/>
            </a:solidFill>
            <a:prstDash val="solid"/>
          </a:ln>
        </p:spPr>
        <p:txBody>
          <a:bodyPr/>
          <a:lstStyle/>
          <a:p>
            <a:endParaRPr lang="en-US"/>
          </a:p>
        </p:txBody>
      </p:sp>
      <p:sp>
        <p:nvSpPr>
          <p:cNvPr id="9" name="Text 6"/>
          <p:cNvSpPr txBox="1"/>
          <p:nvPr/>
        </p:nvSpPr>
        <p:spPr>
          <a:xfrm>
            <a:off x="411480" y="1371600"/>
            <a:ext cx="1097280" cy="365760"/>
          </a:xfrm>
          <a:prstGeom prst="rect">
            <a:avLst/>
          </a:prstGeom>
          <a:noFill/>
          <a:ln/>
        </p:spPr>
        <p:txBody>
          <a:bodyPr wrap="square" lIns="0" tIns="0" rIns="0" bIns="0" rtlCol="0" anchor="ctr"/>
          <a:lstStyle/>
          <a:p>
            <a:pPr marL="0" indent="0" algn="ctr">
              <a:buNone/>
            </a:pPr>
            <a:r>
              <a:rPr lang="en-US" sz="1500" b="1" dirty="0">
                <a:solidFill>
                  <a:srgbClr val="1A2430"/>
                </a:solidFill>
                <a:latin typeface="Calibri" pitchFamily="34" charset="0"/>
                <a:ea typeface="Calibri" pitchFamily="34" charset="-122"/>
                <a:cs typeface="Calibri" pitchFamily="34" charset="-120"/>
              </a:rPr>
              <a:t>2005</a:t>
            </a:r>
            <a:endParaRPr lang="en-US" sz="1500" dirty="0"/>
          </a:p>
        </p:txBody>
      </p:sp>
      <p:sp>
        <p:nvSpPr>
          <p:cNvPr id="10" name="Text 7"/>
          <p:cNvSpPr txBox="1"/>
          <p:nvPr/>
        </p:nvSpPr>
        <p:spPr>
          <a:xfrm>
            <a:off x="365760" y="2212848"/>
            <a:ext cx="1188720" cy="320040"/>
          </a:xfrm>
          <a:prstGeom prst="rect">
            <a:avLst/>
          </a:prstGeom>
          <a:noFill/>
          <a:ln/>
        </p:spPr>
        <p:txBody>
          <a:bodyPr wrap="square" lIns="0" tIns="0" rIns="0" bIns="0" rtlCol="0" anchor="ctr"/>
          <a:lstStyle/>
          <a:p>
            <a:pPr marL="0" indent="0" algn="ctr">
              <a:buNone/>
            </a:pPr>
            <a:r>
              <a:rPr lang="en-US" sz="1250" b="1" dirty="0">
                <a:solidFill>
                  <a:srgbClr val="1A2430"/>
                </a:solidFill>
                <a:latin typeface="Calibri" pitchFamily="34" charset="0"/>
                <a:ea typeface="Calibri" pitchFamily="34" charset="-122"/>
                <a:cs typeface="Calibri" pitchFamily="34" charset="-120"/>
              </a:rPr>
              <a:t>Rails 1.0</a:t>
            </a:r>
            <a:endParaRPr lang="en-US" sz="1250" dirty="0"/>
          </a:p>
        </p:txBody>
      </p:sp>
      <p:sp>
        <p:nvSpPr>
          <p:cNvPr id="11" name="Text 8"/>
          <p:cNvSpPr txBox="1"/>
          <p:nvPr/>
        </p:nvSpPr>
        <p:spPr>
          <a:xfrm>
            <a:off x="393192" y="2560320"/>
            <a:ext cx="1133856" cy="1645920"/>
          </a:xfrm>
          <a:prstGeom prst="rect">
            <a:avLst/>
          </a:prstGeom>
          <a:noFill/>
          <a:ln/>
        </p:spPr>
        <p:txBody>
          <a:bodyPr wrap="square" lIns="0" tIns="0" rIns="0" bIns="0"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DHH's 15-minute blog video. Convention over configuration, DRY, generators.</a:t>
            </a:r>
            <a:endParaRPr lang="en-US" sz="950" dirty="0"/>
          </a:p>
        </p:txBody>
      </p:sp>
      <p:sp>
        <p:nvSpPr>
          <p:cNvPr id="12" name="Shape 9"/>
          <p:cNvSpPr/>
          <p:nvPr/>
        </p:nvSpPr>
        <p:spPr>
          <a:xfrm>
            <a:off x="2084832" y="1847088"/>
            <a:ext cx="237744" cy="237744"/>
          </a:xfrm>
          <a:prstGeom prst="ellipse">
            <a:avLst/>
          </a:prstGeom>
          <a:solidFill>
            <a:srgbClr val="0C1620"/>
          </a:solidFill>
          <a:ln w="12700">
            <a:solidFill>
              <a:srgbClr val="0C1620"/>
            </a:solidFill>
            <a:prstDash val="solid"/>
          </a:ln>
        </p:spPr>
        <p:txBody>
          <a:bodyPr/>
          <a:lstStyle/>
          <a:p>
            <a:endParaRPr lang="en-US"/>
          </a:p>
        </p:txBody>
      </p:sp>
      <p:sp>
        <p:nvSpPr>
          <p:cNvPr id="13" name="Text 10"/>
          <p:cNvSpPr txBox="1"/>
          <p:nvPr/>
        </p:nvSpPr>
        <p:spPr>
          <a:xfrm>
            <a:off x="1655064" y="1371600"/>
            <a:ext cx="1097280" cy="365760"/>
          </a:xfrm>
          <a:prstGeom prst="rect">
            <a:avLst/>
          </a:prstGeom>
          <a:noFill/>
          <a:ln/>
        </p:spPr>
        <p:txBody>
          <a:bodyPr wrap="square" lIns="0" tIns="0" rIns="0" bIns="0" rtlCol="0" anchor="ctr"/>
          <a:lstStyle/>
          <a:p>
            <a:pPr marL="0" indent="0" algn="ctr">
              <a:buNone/>
            </a:pPr>
            <a:r>
              <a:rPr lang="en-US" sz="1500" b="1" dirty="0">
                <a:solidFill>
                  <a:srgbClr val="1A2430"/>
                </a:solidFill>
                <a:latin typeface="Calibri" pitchFamily="34" charset="0"/>
                <a:ea typeface="Calibri" pitchFamily="34" charset="-122"/>
                <a:cs typeface="Calibri" pitchFamily="34" charset="-120"/>
              </a:rPr>
              <a:t>2005–06</a:t>
            </a:r>
            <a:endParaRPr lang="en-US" sz="1500" dirty="0"/>
          </a:p>
        </p:txBody>
      </p:sp>
      <p:sp>
        <p:nvSpPr>
          <p:cNvPr id="14" name="Text 11"/>
          <p:cNvSpPr txBox="1"/>
          <p:nvPr/>
        </p:nvSpPr>
        <p:spPr>
          <a:xfrm>
            <a:off x="1609344" y="2212848"/>
            <a:ext cx="1188720" cy="320040"/>
          </a:xfrm>
          <a:prstGeom prst="rect">
            <a:avLst/>
          </a:prstGeom>
          <a:noFill/>
          <a:ln/>
        </p:spPr>
        <p:txBody>
          <a:bodyPr wrap="square" lIns="0" tIns="0" rIns="0" bIns="0" rtlCol="0" anchor="ctr"/>
          <a:lstStyle/>
          <a:p>
            <a:pPr marL="0" indent="0" algn="ctr">
              <a:buNone/>
            </a:pPr>
            <a:r>
              <a:rPr lang="en-US" sz="1250" b="1" dirty="0">
                <a:solidFill>
                  <a:srgbClr val="1A2430"/>
                </a:solidFill>
                <a:latin typeface="Calibri" pitchFamily="34" charset="0"/>
                <a:ea typeface="Calibri" pitchFamily="34" charset="-122"/>
                <a:cs typeface="Calibri" pitchFamily="34" charset="-120"/>
              </a:rPr>
              <a:t>CFWheels begins</a:t>
            </a:r>
            <a:endParaRPr lang="en-US" sz="1250" dirty="0"/>
          </a:p>
        </p:txBody>
      </p:sp>
      <p:sp>
        <p:nvSpPr>
          <p:cNvPr id="15" name="Text 12"/>
          <p:cNvSpPr txBox="1"/>
          <p:nvPr/>
        </p:nvSpPr>
        <p:spPr>
          <a:xfrm>
            <a:off x="1636776" y="2560320"/>
            <a:ext cx="1133856" cy="1645920"/>
          </a:xfrm>
          <a:prstGeom prst="rect">
            <a:avLst/>
          </a:prstGeom>
          <a:noFill/>
          <a:ln/>
        </p:spPr>
        <p:txBody>
          <a:bodyPr wrap="square" lIns="0" tIns="0" rIns="0" bIns="0"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Rob Cameron's Rails-inspired beta: controllers and views first, then a model layer and basic ORM.</a:t>
            </a:r>
            <a:endParaRPr lang="en-US" sz="950" dirty="0"/>
          </a:p>
        </p:txBody>
      </p:sp>
      <p:sp>
        <p:nvSpPr>
          <p:cNvPr id="16" name="Shape 13"/>
          <p:cNvSpPr/>
          <p:nvPr/>
        </p:nvSpPr>
        <p:spPr>
          <a:xfrm>
            <a:off x="3328416" y="1847088"/>
            <a:ext cx="237744" cy="237744"/>
          </a:xfrm>
          <a:prstGeom prst="ellipse">
            <a:avLst/>
          </a:prstGeom>
          <a:solidFill>
            <a:srgbClr val="0C1620"/>
          </a:solidFill>
          <a:ln w="12700">
            <a:solidFill>
              <a:srgbClr val="0C1620"/>
            </a:solidFill>
            <a:prstDash val="solid"/>
          </a:ln>
        </p:spPr>
        <p:txBody>
          <a:bodyPr/>
          <a:lstStyle/>
          <a:p>
            <a:endParaRPr lang="en-US"/>
          </a:p>
        </p:txBody>
      </p:sp>
      <p:sp>
        <p:nvSpPr>
          <p:cNvPr id="17" name="Text 14"/>
          <p:cNvSpPr txBox="1"/>
          <p:nvPr/>
        </p:nvSpPr>
        <p:spPr>
          <a:xfrm>
            <a:off x="2898648" y="1371600"/>
            <a:ext cx="1097280" cy="365760"/>
          </a:xfrm>
          <a:prstGeom prst="rect">
            <a:avLst/>
          </a:prstGeom>
          <a:noFill/>
          <a:ln/>
        </p:spPr>
        <p:txBody>
          <a:bodyPr wrap="square" lIns="0" tIns="0" rIns="0" bIns="0" rtlCol="0" anchor="ctr"/>
          <a:lstStyle/>
          <a:p>
            <a:pPr marL="0" indent="0" algn="ctr">
              <a:buNone/>
            </a:pPr>
            <a:r>
              <a:rPr lang="en-US" sz="1500" b="1" dirty="0">
                <a:solidFill>
                  <a:srgbClr val="1A2430"/>
                </a:solidFill>
                <a:latin typeface="Calibri" pitchFamily="34" charset="0"/>
                <a:ea typeface="Calibri" pitchFamily="34" charset="-122"/>
                <a:cs typeface="Calibri" pitchFamily="34" charset="-120"/>
              </a:rPr>
              <a:t>2008</a:t>
            </a:r>
            <a:endParaRPr lang="en-US" sz="1500" dirty="0"/>
          </a:p>
        </p:txBody>
      </p:sp>
      <p:sp>
        <p:nvSpPr>
          <p:cNvPr id="18" name="Text 15"/>
          <p:cNvSpPr txBox="1"/>
          <p:nvPr/>
        </p:nvSpPr>
        <p:spPr>
          <a:xfrm>
            <a:off x="2852928" y="2212848"/>
            <a:ext cx="1188720" cy="320040"/>
          </a:xfrm>
          <a:prstGeom prst="rect">
            <a:avLst/>
          </a:prstGeom>
          <a:noFill/>
          <a:ln/>
        </p:spPr>
        <p:txBody>
          <a:bodyPr wrap="square" lIns="0" tIns="0" rIns="0" bIns="0" rtlCol="0" anchor="ctr"/>
          <a:lstStyle/>
          <a:p>
            <a:pPr marL="0" indent="0" algn="ctr">
              <a:buNone/>
            </a:pPr>
            <a:r>
              <a:rPr lang="en-US" sz="1250" b="1" dirty="0">
                <a:solidFill>
                  <a:srgbClr val="1A2430"/>
                </a:solidFill>
                <a:latin typeface="Calibri" pitchFamily="34" charset="0"/>
                <a:ea typeface="Calibri" pitchFamily="34" charset="-122"/>
                <a:cs typeface="Calibri" pitchFamily="34" charset="-120"/>
              </a:rPr>
              <a:t>1.0</a:t>
            </a:r>
            <a:endParaRPr lang="en-US" sz="1250" dirty="0"/>
          </a:p>
        </p:txBody>
      </p:sp>
      <p:sp>
        <p:nvSpPr>
          <p:cNvPr id="19" name="Text 16"/>
          <p:cNvSpPr txBox="1"/>
          <p:nvPr/>
        </p:nvSpPr>
        <p:spPr>
          <a:xfrm>
            <a:off x="2880360" y="2560320"/>
            <a:ext cx="1133856" cy="1645920"/>
          </a:xfrm>
          <a:prstGeom prst="rect">
            <a:avLst/>
          </a:prstGeom>
          <a:noFill/>
          <a:ln/>
        </p:spPr>
        <p:txBody>
          <a:bodyPr wrap="square" lIns="0" tIns="0" rIns="0" bIns="0"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Cleaned up and organized. "Up and running in an hour." Railo support. Per Djurner leads.</a:t>
            </a:r>
            <a:endParaRPr lang="en-US" sz="950" dirty="0"/>
          </a:p>
        </p:txBody>
      </p:sp>
      <p:sp>
        <p:nvSpPr>
          <p:cNvPr id="20" name="Shape 17"/>
          <p:cNvSpPr/>
          <p:nvPr/>
        </p:nvSpPr>
        <p:spPr>
          <a:xfrm>
            <a:off x="4572000" y="1847088"/>
            <a:ext cx="237744" cy="237744"/>
          </a:xfrm>
          <a:prstGeom prst="ellipse">
            <a:avLst/>
          </a:prstGeom>
          <a:solidFill>
            <a:srgbClr val="0C1620"/>
          </a:solidFill>
          <a:ln w="12700">
            <a:solidFill>
              <a:srgbClr val="0C1620"/>
            </a:solidFill>
            <a:prstDash val="solid"/>
          </a:ln>
        </p:spPr>
        <p:txBody>
          <a:bodyPr/>
          <a:lstStyle/>
          <a:p>
            <a:endParaRPr lang="en-US"/>
          </a:p>
        </p:txBody>
      </p:sp>
      <p:sp>
        <p:nvSpPr>
          <p:cNvPr id="21" name="Text 18"/>
          <p:cNvSpPr txBox="1"/>
          <p:nvPr/>
        </p:nvSpPr>
        <p:spPr>
          <a:xfrm>
            <a:off x="4142232" y="1371600"/>
            <a:ext cx="1097280" cy="365760"/>
          </a:xfrm>
          <a:prstGeom prst="rect">
            <a:avLst/>
          </a:prstGeom>
          <a:noFill/>
          <a:ln/>
        </p:spPr>
        <p:txBody>
          <a:bodyPr wrap="square" lIns="0" tIns="0" rIns="0" bIns="0" rtlCol="0" anchor="ctr"/>
          <a:lstStyle/>
          <a:p>
            <a:pPr marL="0" indent="0" algn="ctr">
              <a:buNone/>
            </a:pPr>
            <a:r>
              <a:rPr lang="en-US" sz="1500" b="1" dirty="0">
                <a:solidFill>
                  <a:srgbClr val="1A2430"/>
                </a:solidFill>
                <a:latin typeface="Calibri" pitchFamily="34" charset="0"/>
                <a:ea typeface="Calibri" pitchFamily="34" charset="-122"/>
                <a:cs typeface="Calibri" pitchFamily="34" charset="-120"/>
              </a:rPr>
              <a:t>2010</a:t>
            </a:r>
            <a:endParaRPr lang="en-US" sz="1500" dirty="0"/>
          </a:p>
        </p:txBody>
      </p:sp>
      <p:sp>
        <p:nvSpPr>
          <p:cNvPr id="22" name="Text 19"/>
          <p:cNvSpPr txBox="1"/>
          <p:nvPr/>
        </p:nvSpPr>
        <p:spPr>
          <a:xfrm>
            <a:off x="4096512" y="2212848"/>
            <a:ext cx="1188720" cy="320040"/>
          </a:xfrm>
          <a:prstGeom prst="rect">
            <a:avLst/>
          </a:prstGeom>
          <a:noFill/>
          <a:ln/>
        </p:spPr>
        <p:txBody>
          <a:bodyPr wrap="square" lIns="0" tIns="0" rIns="0" bIns="0" rtlCol="0" anchor="ctr"/>
          <a:lstStyle/>
          <a:p>
            <a:pPr marL="0" indent="0" algn="ctr">
              <a:buNone/>
            </a:pPr>
            <a:r>
              <a:rPr lang="en-US" sz="1250" b="1" dirty="0">
                <a:solidFill>
                  <a:srgbClr val="1A2430"/>
                </a:solidFill>
                <a:latin typeface="Calibri" pitchFamily="34" charset="0"/>
                <a:ea typeface="Calibri" pitchFamily="34" charset="-122"/>
                <a:cs typeface="Calibri" pitchFamily="34" charset="-120"/>
              </a:rPr>
              <a:t>1.1</a:t>
            </a:r>
            <a:endParaRPr lang="en-US" sz="1250" dirty="0"/>
          </a:p>
        </p:txBody>
      </p:sp>
      <p:sp>
        <p:nvSpPr>
          <p:cNvPr id="23" name="Text 20"/>
          <p:cNvSpPr txBox="1"/>
          <p:nvPr/>
        </p:nvSpPr>
        <p:spPr>
          <a:xfrm>
            <a:off x="4123944" y="2560320"/>
            <a:ext cx="1133856" cy="1645920"/>
          </a:xfrm>
          <a:prstGeom prst="rect">
            <a:avLst/>
          </a:prstGeom>
          <a:noFill/>
          <a:ln/>
        </p:spPr>
        <p:txBody>
          <a:bodyPr wrap="square" lIns="0" tIns="0" rIns="0" bIns="0"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RocketUnit tests, major ORM work, controllers respond with XML, JSON, CSV, PDF, XLS.</a:t>
            </a:r>
            <a:endParaRPr lang="en-US" sz="950" dirty="0"/>
          </a:p>
        </p:txBody>
      </p:sp>
      <p:sp>
        <p:nvSpPr>
          <p:cNvPr id="24" name="Shape 21"/>
          <p:cNvSpPr/>
          <p:nvPr/>
        </p:nvSpPr>
        <p:spPr>
          <a:xfrm>
            <a:off x="5815584" y="1847088"/>
            <a:ext cx="237744" cy="237744"/>
          </a:xfrm>
          <a:prstGeom prst="ellipse">
            <a:avLst/>
          </a:prstGeom>
          <a:solidFill>
            <a:srgbClr val="0C1620"/>
          </a:solidFill>
          <a:ln w="12700">
            <a:solidFill>
              <a:srgbClr val="0C1620"/>
            </a:solidFill>
            <a:prstDash val="solid"/>
          </a:ln>
        </p:spPr>
        <p:txBody>
          <a:bodyPr/>
          <a:lstStyle/>
          <a:p>
            <a:endParaRPr lang="en-US"/>
          </a:p>
        </p:txBody>
      </p:sp>
      <p:sp>
        <p:nvSpPr>
          <p:cNvPr id="25" name="Text 22"/>
          <p:cNvSpPr txBox="1"/>
          <p:nvPr/>
        </p:nvSpPr>
        <p:spPr>
          <a:xfrm>
            <a:off x="5385816" y="1371600"/>
            <a:ext cx="1097280" cy="365760"/>
          </a:xfrm>
          <a:prstGeom prst="rect">
            <a:avLst/>
          </a:prstGeom>
          <a:noFill/>
          <a:ln/>
        </p:spPr>
        <p:txBody>
          <a:bodyPr wrap="square" lIns="0" tIns="0" rIns="0" bIns="0" rtlCol="0" anchor="ctr"/>
          <a:lstStyle/>
          <a:p>
            <a:pPr marL="0" indent="0" algn="ctr">
              <a:buNone/>
            </a:pPr>
            <a:r>
              <a:rPr lang="en-US" sz="1500" b="1" dirty="0">
                <a:solidFill>
                  <a:srgbClr val="1A2430"/>
                </a:solidFill>
                <a:latin typeface="Calibri" pitchFamily="34" charset="0"/>
                <a:ea typeface="Calibri" pitchFamily="34" charset="-122"/>
                <a:cs typeface="Calibri" pitchFamily="34" charset="-120"/>
              </a:rPr>
              <a:t>2014</a:t>
            </a:r>
            <a:endParaRPr lang="en-US" sz="1500" dirty="0"/>
          </a:p>
        </p:txBody>
      </p:sp>
      <p:sp>
        <p:nvSpPr>
          <p:cNvPr id="26" name="Text 23"/>
          <p:cNvSpPr txBox="1"/>
          <p:nvPr/>
        </p:nvSpPr>
        <p:spPr>
          <a:xfrm>
            <a:off x="5340096" y="2212848"/>
            <a:ext cx="1188720" cy="320040"/>
          </a:xfrm>
          <a:prstGeom prst="rect">
            <a:avLst/>
          </a:prstGeom>
          <a:noFill/>
          <a:ln/>
        </p:spPr>
        <p:txBody>
          <a:bodyPr wrap="square" lIns="0" tIns="0" rIns="0" bIns="0" rtlCol="0" anchor="ctr"/>
          <a:lstStyle/>
          <a:p>
            <a:pPr marL="0" indent="0" algn="ctr">
              <a:buNone/>
            </a:pPr>
            <a:r>
              <a:rPr lang="en-US" sz="1250" b="1" dirty="0">
                <a:solidFill>
                  <a:srgbClr val="1A2430"/>
                </a:solidFill>
                <a:latin typeface="Calibri" pitchFamily="34" charset="0"/>
                <a:ea typeface="Calibri" pitchFamily="34" charset="-122"/>
                <a:cs typeface="Calibri" pitchFamily="34" charset="-120"/>
              </a:rPr>
              <a:t>1.3 · 1.4</a:t>
            </a:r>
            <a:endParaRPr lang="en-US" sz="1250" dirty="0"/>
          </a:p>
        </p:txBody>
      </p:sp>
      <p:sp>
        <p:nvSpPr>
          <p:cNvPr id="27" name="Text 24"/>
          <p:cNvSpPr txBox="1"/>
          <p:nvPr/>
        </p:nvSpPr>
        <p:spPr>
          <a:xfrm>
            <a:off x="5367528" y="2560320"/>
            <a:ext cx="1133856" cy="1645920"/>
          </a:xfrm>
          <a:prstGeom prst="rect">
            <a:avLst/>
          </a:prstGeom>
          <a:noFill/>
          <a:ln/>
        </p:spPr>
        <p:txBody>
          <a:bodyPr wrap="square" lIns="0" tIns="0" rIns="0" bIns="0"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Tableless models, HTML5, Lucee support. (1.2 changed hands a lot — nobody counts it.)</a:t>
            </a:r>
            <a:endParaRPr lang="en-US" sz="950" dirty="0"/>
          </a:p>
        </p:txBody>
      </p:sp>
      <p:sp>
        <p:nvSpPr>
          <p:cNvPr id="28" name="Shape 25"/>
          <p:cNvSpPr/>
          <p:nvPr/>
        </p:nvSpPr>
        <p:spPr>
          <a:xfrm>
            <a:off x="7059168" y="1847088"/>
            <a:ext cx="237744" cy="237744"/>
          </a:xfrm>
          <a:prstGeom prst="ellipse">
            <a:avLst/>
          </a:prstGeom>
          <a:solidFill>
            <a:srgbClr val="0C1620"/>
          </a:solidFill>
          <a:ln w="12700">
            <a:solidFill>
              <a:srgbClr val="0C1620"/>
            </a:solidFill>
            <a:prstDash val="solid"/>
          </a:ln>
        </p:spPr>
        <p:txBody>
          <a:bodyPr/>
          <a:lstStyle/>
          <a:p>
            <a:endParaRPr lang="en-US"/>
          </a:p>
        </p:txBody>
      </p:sp>
      <p:sp>
        <p:nvSpPr>
          <p:cNvPr id="29" name="Text 26"/>
          <p:cNvSpPr txBox="1"/>
          <p:nvPr/>
        </p:nvSpPr>
        <p:spPr>
          <a:xfrm>
            <a:off x="6629400" y="1371600"/>
            <a:ext cx="1097280" cy="365760"/>
          </a:xfrm>
          <a:prstGeom prst="rect">
            <a:avLst/>
          </a:prstGeom>
          <a:noFill/>
          <a:ln/>
        </p:spPr>
        <p:txBody>
          <a:bodyPr wrap="square" lIns="0" tIns="0" rIns="0" bIns="0" rtlCol="0" anchor="ctr"/>
          <a:lstStyle/>
          <a:p>
            <a:pPr marL="0" indent="0" algn="ctr">
              <a:buNone/>
            </a:pPr>
            <a:r>
              <a:rPr lang="en-US" sz="1500" b="1" dirty="0">
                <a:solidFill>
                  <a:srgbClr val="1A2430"/>
                </a:solidFill>
                <a:latin typeface="Calibri" pitchFamily="34" charset="0"/>
                <a:ea typeface="Calibri" pitchFamily="34" charset="-122"/>
                <a:cs typeface="Calibri" pitchFamily="34" charset="-120"/>
              </a:rPr>
              <a:t>2017</a:t>
            </a:r>
            <a:endParaRPr lang="en-US" sz="1500" dirty="0"/>
          </a:p>
        </p:txBody>
      </p:sp>
      <p:sp>
        <p:nvSpPr>
          <p:cNvPr id="30" name="Text 27"/>
          <p:cNvSpPr txBox="1"/>
          <p:nvPr/>
        </p:nvSpPr>
        <p:spPr>
          <a:xfrm>
            <a:off x="6583680" y="2212848"/>
            <a:ext cx="1188720" cy="320040"/>
          </a:xfrm>
          <a:prstGeom prst="rect">
            <a:avLst/>
          </a:prstGeom>
          <a:noFill/>
          <a:ln/>
        </p:spPr>
        <p:txBody>
          <a:bodyPr wrap="square" lIns="0" tIns="0" rIns="0" bIns="0" rtlCol="0" anchor="ctr"/>
          <a:lstStyle/>
          <a:p>
            <a:pPr marL="0" indent="0" algn="ctr">
              <a:buNone/>
            </a:pPr>
            <a:r>
              <a:rPr lang="en-US" sz="1250" b="1" dirty="0">
                <a:solidFill>
                  <a:srgbClr val="1A2430"/>
                </a:solidFill>
                <a:latin typeface="Calibri" pitchFamily="34" charset="0"/>
                <a:ea typeface="Calibri" pitchFamily="34" charset="-122"/>
                <a:cs typeface="Calibri" pitchFamily="34" charset="-120"/>
              </a:rPr>
              <a:t>2.0</a:t>
            </a:r>
            <a:endParaRPr lang="en-US" sz="1250" dirty="0"/>
          </a:p>
        </p:txBody>
      </p:sp>
      <p:sp>
        <p:nvSpPr>
          <p:cNvPr id="31" name="Text 28"/>
          <p:cNvSpPr txBox="1"/>
          <p:nvPr/>
        </p:nvSpPr>
        <p:spPr>
          <a:xfrm>
            <a:off x="6611112" y="2560320"/>
            <a:ext cx="1133856" cy="1645920"/>
          </a:xfrm>
          <a:prstGeom prst="rect">
            <a:avLst/>
          </a:prstGeom>
          <a:noFill/>
          <a:ln/>
        </p:spPr>
        <p:txBody>
          <a:bodyPr wrap="square" lIns="0" tIns="0" rIns="0" bIns="0"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All-cfscript core, migrations and routing in core, CSRF, plugins on </a:t>
            </a:r>
            <a:r>
              <a:rPr lang="en-US" sz="950">
                <a:solidFill>
                  <a:srgbClr val="6B7785"/>
                </a:solidFill>
                <a:latin typeface="Calibri" pitchFamily="34" charset="0"/>
                <a:ea typeface="Calibri" pitchFamily="34" charset="-122"/>
                <a:cs typeface="Calibri" pitchFamily="34" charset="-120"/>
              </a:rPr>
              <a:t>ForgeBox. Tom King leads.</a:t>
            </a:r>
            <a:endParaRPr lang="en-US" sz="950" dirty="0"/>
          </a:p>
        </p:txBody>
      </p:sp>
      <p:sp>
        <p:nvSpPr>
          <p:cNvPr id="32" name="Shape 29"/>
          <p:cNvSpPr/>
          <p:nvPr/>
        </p:nvSpPr>
        <p:spPr>
          <a:xfrm>
            <a:off x="8302752" y="1847088"/>
            <a:ext cx="237744" cy="237744"/>
          </a:xfrm>
          <a:prstGeom prst="ellipse">
            <a:avLst/>
          </a:prstGeom>
          <a:solidFill>
            <a:srgbClr val="EF3B2D"/>
          </a:solidFill>
          <a:ln w="12700">
            <a:solidFill>
              <a:srgbClr val="EF3B2D"/>
            </a:solidFill>
            <a:prstDash val="solid"/>
          </a:ln>
        </p:spPr>
        <p:txBody>
          <a:bodyPr/>
          <a:lstStyle/>
          <a:p>
            <a:endParaRPr lang="en-US"/>
          </a:p>
        </p:txBody>
      </p:sp>
      <p:sp>
        <p:nvSpPr>
          <p:cNvPr id="33" name="Text 30"/>
          <p:cNvSpPr txBox="1"/>
          <p:nvPr/>
        </p:nvSpPr>
        <p:spPr>
          <a:xfrm>
            <a:off x="7872984" y="1371600"/>
            <a:ext cx="1097280" cy="365760"/>
          </a:xfrm>
          <a:prstGeom prst="rect">
            <a:avLst/>
          </a:prstGeom>
          <a:noFill/>
          <a:ln/>
        </p:spPr>
        <p:txBody>
          <a:bodyPr wrap="square" lIns="0" tIns="0" rIns="0" bIns="0" rtlCol="0" anchor="ctr"/>
          <a:lstStyle/>
          <a:p>
            <a:pPr marL="0" indent="0" algn="ctr">
              <a:buNone/>
            </a:pPr>
            <a:r>
              <a:rPr lang="en-US" sz="1500" b="1" dirty="0">
                <a:solidFill>
                  <a:srgbClr val="EF3B2D"/>
                </a:solidFill>
                <a:latin typeface="Calibri" pitchFamily="34" charset="0"/>
                <a:ea typeface="Calibri" pitchFamily="34" charset="-122"/>
                <a:cs typeface="Calibri" pitchFamily="34" charset="-120"/>
              </a:rPr>
              <a:t>2026</a:t>
            </a:r>
            <a:endParaRPr lang="en-US" sz="1500" dirty="0"/>
          </a:p>
        </p:txBody>
      </p:sp>
      <p:sp>
        <p:nvSpPr>
          <p:cNvPr id="34" name="Text 31"/>
          <p:cNvSpPr txBox="1"/>
          <p:nvPr/>
        </p:nvSpPr>
        <p:spPr>
          <a:xfrm>
            <a:off x="7827264" y="2212848"/>
            <a:ext cx="1188720" cy="320040"/>
          </a:xfrm>
          <a:prstGeom prst="rect">
            <a:avLst/>
          </a:prstGeom>
          <a:noFill/>
          <a:ln/>
        </p:spPr>
        <p:txBody>
          <a:bodyPr wrap="square" lIns="0" tIns="0" rIns="0" bIns="0" rtlCol="0" anchor="ctr"/>
          <a:lstStyle/>
          <a:p>
            <a:pPr marL="0" indent="0" algn="ctr">
              <a:buNone/>
            </a:pPr>
            <a:r>
              <a:rPr lang="en-US" sz="1250" b="1" dirty="0">
                <a:solidFill>
                  <a:srgbClr val="1A2430"/>
                </a:solidFill>
                <a:latin typeface="Calibri" pitchFamily="34" charset="0"/>
                <a:ea typeface="Calibri" pitchFamily="34" charset="-122"/>
                <a:cs typeface="Calibri" pitchFamily="34" charset="-120"/>
              </a:rPr>
              <a:t>3.0 → 4.1</a:t>
            </a:r>
            <a:endParaRPr lang="en-US" sz="1250" dirty="0"/>
          </a:p>
        </p:txBody>
      </p:sp>
      <p:sp>
        <p:nvSpPr>
          <p:cNvPr id="35" name="Text 32"/>
          <p:cNvSpPr txBox="1"/>
          <p:nvPr/>
        </p:nvSpPr>
        <p:spPr>
          <a:xfrm>
            <a:off x="7854696" y="2560320"/>
            <a:ext cx="1133856" cy="1645920"/>
          </a:xfrm>
          <a:prstGeom prst="rect">
            <a:avLst/>
          </a:prstGeom>
          <a:noFill/>
          <a:ln/>
        </p:spPr>
        <p:txBody>
          <a:bodyPr wrap="square" lIns="0" tIns="0" rIns="0" bIns="0"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Rebrand to wheels.dev, core in vendor/, standalone CLI, auth &amp; policies, MCP, agent-driven CI. 4.1 shipped Sept 10.</a:t>
            </a:r>
            <a:endParaRPr lang="en-US" sz="950" dirty="0"/>
          </a:p>
        </p:txBody>
      </p:sp>
      <p:sp>
        <p:nvSpPr>
          <p:cNvPr id="36" name="Text 33"/>
          <p:cNvSpPr txBox="1"/>
          <p:nvPr/>
        </p:nvSpPr>
        <p:spPr>
          <a:xfrm>
            <a:off x="457200" y="4297680"/>
            <a:ext cx="8229600" cy="365760"/>
          </a:xfrm>
          <a:prstGeom prst="rect">
            <a:avLst/>
          </a:prstGeom>
          <a:noFill/>
          <a:ln/>
        </p:spPr>
        <p:txBody>
          <a:bodyPr wrap="square" lIns="0" tIns="0" rIns="0" bIns="0" rtlCol="0" anchor="ctr"/>
          <a:lstStyle/>
          <a:p>
            <a:pPr marL="0" indent="0" algn="ctr">
              <a:buNone/>
            </a:pPr>
            <a:r>
              <a:rPr lang="en-US" sz="1300" b="1" dirty="0">
                <a:solidFill>
                  <a:srgbClr val="1A2430"/>
                </a:solidFill>
                <a:latin typeface="Calibri" pitchFamily="34" charset="0"/>
                <a:ea typeface="Calibri" pitchFamily="34" charset="-122"/>
                <a:cs typeface="Calibri" pitchFamily="34" charset="-120"/>
              </a:rPr>
              <a:t>Older than jQuery. Runs on Adobe ColdFusion 2018–2025, Lucee 5/6/7, BoxLang 1.x — and JVM-free RustCFML.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What Wheels is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IN ONE SLIDE</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6</a:t>
            </a:r>
            <a:endParaRPr lang="en-US" sz="900" dirty="0"/>
          </a:p>
        </p:txBody>
      </p:sp>
      <p:sp>
        <p:nvSpPr>
          <p:cNvPr id="7" name="Text 4"/>
          <p:cNvSpPr txBox="1"/>
          <p:nvPr/>
        </p:nvSpPr>
        <p:spPr>
          <a:xfrm>
            <a:off x="457200" y="1097280"/>
            <a:ext cx="8229600" cy="640080"/>
          </a:xfrm>
          <a:prstGeom prst="rect">
            <a:avLst/>
          </a:prstGeom>
          <a:noFill/>
          <a:ln/>
        </p:spPr>
        <p:txBody>
          <a:bodyPr wrap="square" lIns="0" tIns="0" rIns="0" bIns="0" rtlCol="0" anchor="ctr"/>
          <a:lstStyle/>
          <a:p>
            <a:pPr marL="0" indent="0">
              <a:buNone/>
            </a:pPr>
            <a:r>
              <a:rPr lang="en-US" sz="1700" dirty="0">
                <a:solidFill>
                  <a:srgbClr val="1A2430"/>
                </a:solidFill>
                <a:latin typeface="Calibri" pitchFamily="34" charset="0"/>
                <a:ea typeface="Calibri" pitchFamily="34" charset="-122"/>
                <a:cs typeface="Calibri" pitchFamily="34" charset="-120"/>
              </a:rPr>
              <a:t>An MVC web framework for CFML, built on Rails conventions, that runs on any modern CFML engine and any mainstream database.</a:t>
            </a:r>
            <a:endParaRPr lang="en-US" sz="1700" dirty="0"/>
          </a:p>
        </p:txBody>
      </p:sp>
      <p:sp>
        <p:nvSpPr>
          <p:cNvPr id="8" name="Shape 5"/>
          <p:cNvSpPr/>
          <p:nvPr/>
        </p:nvSpPr>
        <p:spPr>
          <a:xfrm>
            <a:off x="457200" y="1920240"/>
            <a:ext cx="2651760" cy="2286000"/>
          </a:xfrm>
          <a:prstGeom prst="roundRect">
            <a:avLst>
              <a:gd name="adj" fmla="val 3200"/>
            </a:avLst>
          </a:prstGeom>
          <a:solidFill>
            <a:srgbClr val="F3F5F7"/>
          </a:solidFill>
          <a:ln w="12700">
            <a:solidFill>
              <a:srgbClr val="F3F5F7"/>
            </a:solidFill>
            <a:prstDash val="solid"/>
          </a:ln>
        </p:spPr>
        <p:txBody>
          <a:bodyPr/>
          <a:lstStyle/>
          <a:p>
            <a:endParaRPr lang="en-US"/>
          </a:p>
        </p:txBody>
      </p:sp>
      <p:sp>
        <p:nvSpPr>
          <p:cNvPr id="9" name="Text 6"/>
          <p:cNvSpPr txBox="1"/>
          <p:nvPr/>
        </p:nvSpPr>
        <p:spPr>
          <a:xfrm>
            <a:off x="640080" y="2057400"/>
            <a:ext cx="2286000" cy="365760"/>
          </a:xfrm>
          <a:prstGeom prst="rect">
            <a:avLst/>
          </a:prstGeom>
          <a:noFill/>
          <a:ln/>
        </p:spPr>
        <p:txBody>
          <a:bodyPr wrap="square" lIns="0" tIns="0" rIns="0" bIns="0" rtlCol="0" anchor="ctr"/>
          <a:lstStyle/>
          <a:p>
            <a:pPr marL="0" indent="0">
              <a:buNone/>
            </a:pPr>
            <a:r>
              <a:rPr lang="en-US" sz="1600" b="1" dirty="0">
                <a:solidFill>
                  <a:srgbClr val="1A2430"/>
                </a:solidFill>
                <a:latin typeface="Calibri" pitchFamily="34" charset="0"/>
                <a:ea typeface="Calibri" pitchFamily="34" charset="-122"/>
                <a:cs typeface="Calibri" pitchFamily="34" charset="-120"/>
              </a:rPr>
              <a:t>Engines</a:t>
            </a:r>
            <a:endParaRPr lang="en-US" sz="1600" dirty="0"/>
          </a:p>
        </p:txBody>
      </p:sp>
      <p:sp>
        <p:nvSpPr>
          <p:cNvPr id="10" name="Text 7"/>
          <p:cNvSpPr txBox="1"/>
          <p:nvPr/>
        </p:nvSpPr>
        <p:spPr>
          <a:xfrm>
            <a:off x="640080" y="2514600"/>
            <a:ext cx="2286000" cy="1554480"/>
          </a:xfrm>
          <a:prstGeom prst="rect">
            <a:avLst/>
          </a:prstGeom>
          <a:noFill/>
          <a:ln/>
        </p:spPr>
        <p:txBody>
          <a:bodyPr wrap="square" lIns="0" tIns="0" rIns="0" bIns="0" rtlCol="0" anchor="t"/>
          <a:lstStyle/>
          <a:p>
            <a:pPr marL="0" indent="0">
              <a:spcAft>
                <a:spcPts val="800"/>
              </a:spcAft>
              <a:buNone/>
            </a:pPr>
            <a:r>
              <a:rPr lang="en-US" sz="1250" dirty="0">
                <a:solidFill>
                  <a:srgbClr val="6B7785"/>
                </a:solidFill>
                <a:latin typeface="Calibri" pitchFamily="34" charset="0"/>
                <a:ea typeface="Calibri" pitchFamily="34" charset="-122"/>
                <a:cs typeface="Calibri" pitchFamily="34" charset="-120"/>
              </a:rPr>
              <a:t>Adobe </a:t>
            </a:r>
            <a:r>
              <a:rPr lang="en-US" sz="1250">
                <a:solidFill>
                  <a:srgbClr val="6B7785"/>
                </a:solidFill>
                <a:latin typeface="Calibri" pitchFamily="34" charset="0"/>
                <a:ea typeface="Calibri" pitchFamily="34" charset="-122"/>
                <a:cs typeface="Calibri" pitchFamily="34" charset="-120"/>
              </a:rPr>
              <a:t>ColdFusion </a:t>
            </a:r>
            <a:r>
              <a:rPr lang="en-US" sz="1250" b="1">
                <a:solidFill>
                  <a:srgbClr val="6B7785"/>
                </a:solidFill>
                <a:latin typeface="Calibri" pitchFamily="34" charset="0"/>
                <a:ea typeface="Calibri" pitchFamily="34" charset="-122"/>
                <a:cs typeface="Calibri" pitchFamily="34" charset="-120"/>
              </a:rPr>
              <a:t>2023</a:t>
            </a:r>
            <a:r>
              <a:rPr lang="en-US" sz="1250">
                <a:solidFill>
                  <a:srgbClr val="6B7785"/>
                </a:solidFill>
                <a:latin typeface="Calibri" pitchFamily="34" charset="0"/>
                <a:ea typeface="Calibri" pitchFamily="34" charset="-122"/>
                <a:cs typeface="Calibri" pitchFamily="34" charset="-120"/>
              </a:rPr>
              <a:t> </a:t>
            </a:r>
            <a:r>
              <a:rPr lang="en-US" sz="1250" dirty="0">
                <a:solidFill>
                  <a:srgbClr val="6B7785"/>
                </a:solidFill>
                <a:latin typeface="Calibri" pitchFamily="34" charset="0"/>
                <a:ea typeface="Calibri" pitchFamily="34" charset="-122"/>
                <a:cs typeface="Calibri" pitchFamily="34" charset="-120"/>
              </a:rPr>
              <a:t>· </a:t>
            </a:r>
            <a:r>
              <a:rPr lang="en-US" sz="1250" b="1" dirty="0">
                <a:solidFill>
                  <a:srgbClr val="6B7785"/>
                </a:solidFill>
                <a:latin typeface="Calibri" pitchFamily="34" charset="0"/>
                <a:ea typeface="Calibri" pitchFamily="34" charset="-122"/>
                <a:cs typeface="Calibri" pitchFamily="34" charset="-120"/>
              </a:rPr>
              <a:t>2025</a:t>
            </a:r>
            <a:endParaRPr lang="en-US" sz="1250" b="1" dirty="0"/>
          </a:p>
          <a:p>
            <a:pPr marL="0" indent="0">
              <a:spcAft>
                <a:spcPts val="800"/>
              </a:spcAft>
              <a:buNone/>
            </a:pPr>
            <a:r>
              <a:rPr lang="en-US" sz="1250">
                <a:solidFill>
                  <a:srgbClr val="6B7785"/>
                </a:solidFill>
                <a:latin typeface="Calibri" pitchFamily="34" charset="0"/>
                <a:ea typeface="Calibri" pitchFamily="34" charset="-122"/>
                <a:cs typeface="Calibri" pitchFamily="34" charset="-120"/>
              </a:rPr>
              <a:t>Lucee </a:t>
            </a:r>
            <a:r>
              <a:rPr lang="en-US" sz="1250" b="1">
                <a:solidFill>
                  <a:srgbClr val="6B7785"/>
                </a:solidFill>
                <a:latin typeface="Calibri" pitchFamily="34" charset="0"/>
                <a:ea typeface="Calibri" pitchFamily="34" charset="-122"/>
                <a:cs typeface="Calibri" pitchFamily="34" charset="-120"/>
              </a:rPr>
              <a:t>6</a:t>
            </a:r>
            <a:r>
              <a:rPr lang="en-US" sz="1250">
                <a:solidFill>
                  <a:srgbClr val="6B7785"/>
                </a:solidFill>
                <a:latin typeface="Calibri" pitchFamily="34" charset="0"/>
                <a:ea typeface="Calibri" pitchFamily="34" charset="-122"/>
                <a:cs typeface="Calibri" pitchFamily="34" charset="-120"/>
              </a:rPr>
              <a:t> </a:t>
            </a:r>
            <a:r>
              <a:rPr lang="en-US" sz="1250" dirty="0">
                <a:solidFill>
                  <a:srgbClr val="6B7785"/>
                </a:solidFill>
                <a:latin typeface="Calibri" pitchFamily="34" charset="0"/>
                <a:ea typeface="Calibri" pitchFamily="34" charset="-122"/>
                <a:cs typeface="Calibri" pitchFamily="34" charset="-120"/>
              </a:rPr>
              <a:t>· </a:t>
            </a:r>
            <a:r>
              <a:rPr lang="en-US" sz="1250" b="1" dirty="0">
                <a:solidFill>
                  <a:srgbClr val="6B7785"/>
                </a:solidFill>
                <a:latin typeface="Calibri" pitchFamily="34" charset="0"/>
                <a:ea typeface="Calibri" pitchFamily="34" charset="-122"/>
                <a:cs typeface="Calibri" pitchFamily="34" charset="-120"/>
              </a:rPr>
              <a:t>7</a:t>
            </a:r>
            <a:endParaRPr lang="en-US" sz="1250" b="1" dirty="0"/>
          </a:p>
          <a:p>
            <a:pPr marL="0" indent="0">
              <a:spcAft>
                <a:spcPts val="800"/>
              </a:spcAft>
              <a:buNone/>
            </a:pPr>
            <a:r>
              <a:rPr lang="en-US" sz="1250" dirty="0">
                <a:solidFill>
                  <a:srgbClr val="6B7785"/>
                </a:solidFill>
                <a:latin typeface="Calibri" pitchFamily="34" charset="0"/>
                <a:ea typeface="Calibri" pitchFamily="34" charset="-122"/>
                <a:cs typeface="Calibri" pitchFamily="34" charset="-120"/>
              </a:rPr>
              <a:t>BoxLang 1.x</a:t>
            </a:r>
            <a:endParaRPr lang="en-US" sz="1250" dirty="0"/>
          </a:p>
          <a:p>
            <a:pPr marL="0" indent="0">
              <a:spcAft>
                <a:spcPts val="800"/>
              </a:spcAft>
              <a:buNone/>
            </a:pPr>
            <a:r>
              <a:rPr lang="en-US" sz="1250" b="1" dirty="0">
                <a:solidFill>
                  <a:srgbClr val="6B7785"/>
                </a:solidFill>
                <a:latin typeface="Calibri" pitchFamily="34" charset="0"/>
                <a:ea typeface="Calibri" pitchFamily="34" charset="-122"/>
                <a:cs typeface="Calibri" pitchFamily="34" charset="-120"/>
              </a:rPr>
              <a:t>RustCFML</a:t>
            </a:r>
            <a:r>
              <a:rPr lang="en-US" sz="1250" dirty="0">
                <a:solidFill>
                  <a:srgbClr val="6B7785"/>
                </a:solidFill>
                <a:latin typeface="Calibri" pitchFamily="34" charset="0"/>
                <a:ea typeface="Calibri" pitchFamily="34" charset="-122"/>
                <a:cs typeface="Calibri" pitchFamily="34" charset="-120"/>
              </a:rPr>
              <a:t> — JVM-free, written in Rust</a:t>
            </a:r>
            <a:endParaRPr lang="en-US" sz="1250" dirty="0"/>
          </a:p>
        </p:txBody>
      </p:sp>
      <p:sp>
        <p:nvSpPr>
          <p:cNvPr id="11" name="Shape 8"/>
          <p:cNvSpPr/>
          <p:nvPr/>
        </p:nvSpPr>
        <p:spPr>
          <a:xfrm>
            <a:off x="3246120" y="1920240"/>
            <a:ext cx="2651760" cy="2286000"/>
          </a:xfrm>
          <a:prstGeom prst="roundRect">
            <a:avLst>
              <a:gd name="adj" fmla="val 3200"/>
            </a:avLst>
          </a:prstGeom>
          <a:solidFill>
            <a:srgbClr val="F3F5F7"/>
          </a:solidFill>
          <a:ln w="12700">
            <a:solidFill>
              <a:srgbClr val="F3F5F7"/>
            </a:solidFill>
            <a:prstDash val="solid"/>
          </a:ln>
        </p:spPr>
        <p:txBody>
          <a:bodyPr/>
          <a:lstStyle/>
          <a:p>
            <a:endParaRPr lang="en-US"/>
          </a:p>
        </p:txBody>
      </p:sp>
      <p:sp>
        <p:nvSpPr>
          <p:cNvPr id="12" name="Text 9"/>
          <p:cNvSpPr txBox="1"/>
          <p:nvPr/>
        </p:nvSpPr>
        <p:spPr>
          <a:xfrm>
            <a:off x="3429000" y="2057400"/>
            <a:ext cx="2286000" cy="365760"/>
          </a:xfrm>
          <a:prstGeom prst="rect">
            <a:avLst/>
          </a:prstGeom>
          <a:noFill/>
          <a:ln/>
        </p:spPr>
        <p:txBody>
          <a:bodyPr wrap="square" lIns="0" tIns="0" rIns="0" bIns="0" rtlCol="0" anchor="ctr"/>
          <a:lstStyle/>
          <a:p>
            <a:pPr marL="0" indent="0">
              <a:buNone/>
            </a:pPr>
            <a:r>
              <a:rPr lang="en-US" sz="1600" b="1" dirty="0">
                <a:solidFill>
                  <a:srgbClr val="1A2430"/>
                </a:solidFill>
                <a:latin typeface="Calibri" pitchFamily="34" charset="0"/>
                <a:ea typeface="Calibri" pitchFamily="34" charset="-122"/>
                <a:cs typeface="Calibri" pitchFamily="34" charset="-120"/>
              </a:rPr>
              <a:t>Databases</a:t>
            </a:r>
            <a:endParaRPr lang="en-US" sz="1600" dirty="0"/>
          </a:p>
        </p:txBody>
      </p:sp>
      <p:sp>
        <p:nvSpPr>
          <p:cNvPr id="13" name="Text 10"/>
          <p:cNvSpPr txBox="1"/>
          <p:nvPr/>
        </p:nvSpPr>
        <p:spPr>
          <a:xfrm>
            <a:off x="3429000" y="2514600"/>
            <a:ext cx="2286000" cy="1554480"/>
          </a:xfrm>
          <a:prstGeom prst="rect">
            <a:avLst/>
          </a:prstGeom>
          <a:noFill/>
          <a:ln/>
        </p:spPr>
        <p:txBody>
          <a:bodyPr wrap="square" lIns="0" tIns="0" rIns="0" bIns="0" rtlCol="0" anchor="t"/>
          <a:lstStyle/>
          <a:p>
            <a:pPr marL="0" indent="0">
              <a:spcAft>
                <a:spcPts val="800"/>
              </a:spcAft>
              <a:buNone/>
            </a:pPr>
            <a:r>
              <a:rPr lang="en-US" sz="1250" dirty="0">
                <a:solidFill>
                  <a:srgbClr val="6B7785"/>
                </a:solidFill>
                <a:latin typeface="Calibri" pitchFamily="34" charset="0"/>
                <a:ea typeface="Calibri" pitchFamily="34" charset="-122"/>
                <a:cs typeface="Calibri" pitchFamily="34" charset="-120"/>
              </a:rPr>
              <a:t>SQL Server · MySQL · PostgreSQL</a:t>
            </a:r>
            <a:endParaRPr lang="en-US" sz="1250" dirty="0"/>
          </a:p>
          <a:p>
            <a:pPr marL="0" indent="0">
              <a:spcAft>
                <a:spcPts val="800"/>
              </a:spcAft>
              <a:buNone/>
            </a:pPr>
            <a:r>
              <a:rPr lang="en-US" sz="1250" dirty="0">
                <a:solidFill>
                  <a:srgbClr val="6B7785"/>
                </a:solidFill>
                <a:latin typeface="Calibri" pitchFamily="34" charset="0"/>
                <a:ea typeface="Calibri" pitchFamily="34" charset="-122"/>
                <a:cs typeface="Calibri" pitchFamily="34" charset="-120"/>
              </a:rPr>
              <a:t>Oracle · SQLite · H2</a:t>
            </a:r>
            <a:endParaRPr lang="en-US" sz="1250" dirty="0"/>
          </a:p>
          <a:p>
            <a:pPr marL="0" indent="0">
              <a:spcAft>
                <a:spcPts val="800"/>
              </a:spcAft>
              <a:buNone/>
            </a:pPr>
            <a:r>
              <a:rPr lang="en-US" sz="1250" dirty="0">
                <a:solidFill>
                  <a:srgbClr val="6B7785"/>
                </a:solidFill>
                <a:latin typeface="Calibri" pitchFamily="34" charset="0"/>
                <a:ea typeface="Calibri" pitchFamily="34" charset="-122"/>
                <a:cs typeface="Calibri" pitchFamily="34" charset="-120"/>
              </a:rPr>
              <a:t>CockroachDB</a:t>
            </a:r>
            <a:endParaRPr lang="en-US" sz="1250" dirty="0"/>
          </a:p>
        </p:txBody>
      </p:sp>
      <p:sp>
        <p:nvSpPr>
          <p:cNvPr id="14" name="Shape 11"/>
          <p:cNvSpPr/>
          <p:nvPr/>
        </p:nvSpPr>
        <p:spPr>
          <a:xfrm>
            <a:off x="6035040" y="1920240"/>
            <a:ext cx="2651760" cy="2286000"/>
          </a:xfrm>
          <a:prstGeom prst="roundRect">
            <a:avLst>
              <a:gd name="adj" fmla="val 3200"/>
            </a:avLst>
          </a:prstGeom>
          <a:solidFill>
            <a:srgbClr val="0C1620"/>
          </a:solidFill>
          <a:ln w="12700">
            <a:solidFill>
              <a:srgbClr val="0C1620"/>
            </a:solidFill>
            <a:prstDash val="solid"/>
          </a:ln>
        </p:spPr>
        <p:txBody>
          <a:bodyPr/>
          <a:lstStyle/>
          <a:p>
            <a:endParaRPr lang="en-US"/>
          </a:p>
        </p:txBody>
      </p:sp>
      <p:sp>
        <p:nvSpPr>
          <p:cNvPr id="15" name="Text 12"/>
          <p:cNvSpPr txBox="1"/>
          <p:nvPr/>
        </p:nvSpPr>
        <p:spPr>
          <a:xfrm>
            <a:off x="6217920" y="2057400"/>
            <a:ext cx="2286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 the box</a:t>
            </a:r>
            <a:endParaRPr lang="en-US" sz="1600" dirty="0"/>
          </a:p>
        </p:txBody>
      </p:sp>
      <p:sp>
        <p:nvSpPr>
          <p:cNvPr id="16" name="Text 13"/>
          <p:cNvSpPr txBox="1"/>
          <p:nvPr/>
        </p:nvSpPr>
        <p:spPr>
          <a:xfrm>
            <a:off x="6217920" y="2514600"/>
            <a:ext cx="2286000" cy="1554480"/>
          </a:xfrm>
          <a:prstGeom prst="rect">
            <a:avLst/>
          </a:prstGeom>
          <a:noFill/>
          <a:ln/>
        </p:spPr>
        <p:txBody>
          <a:bodyPr wrap="square" lIns="0" tIns="0" rIns="0" bIns="0" rtlCol="0" anchor="t"/>
          <a:lstStyle/>
          <a:p>
            <a:pPr marL="0" indent="0">
              <a:spcAft>
                <a:spcPts val="800"/>
              </a:spcAft>
              <a:buNone/>
            </a:pPr>
            <a:r>
              <a:rPr lang="en-US" sz="1250" dirty="0">
                <a:solidFill>
                  <a:srgbClr val="C9D3DD"/>
                </a:solidFill>
                <a:latin typeface="Calibri" pitchFamily="34" charset="0"/>
                <a:ea typeface="Calibri" pitchFamily="34" charset="-122"/>
                <a:cs typeface="Calibri" pitchFamily="34" charset="-120"/>
              </a:rPr>
              <a:t>ORM + migrations + query builder</a:t>
            </a:r>
            <a:endParaRPr lang="en-US" sz="1250" dirty="0"/>
          </a:p>
          <a:p>
            <a:pPr marL="0" indent="0">
              <a:spcAft>
                <a:spcPts val="800"/>
              </a:spcAft>
              <a:buNone/>
            </a:pPr>
            <a:r>
              <a:rPr lang="en-US" sz="1250" dirty="0">
                <a:solidFill>
                  <a:srgbClr val="C9D3DD"/>
                </a:solidFill>
                <a:latin typeface="Calibri" pitchFamily="34" charset="0"/>
                <a:ea typeface="Calibri" pitchFamily="34" charset="-122"/>
                <a:cs typeface="Calibri" pitchFamily="34" charset="-120"/>
              </a:rPr>
              <a:t>Routing · validation · auth · policies</a:t>
            </a:r>
            <a:endParaRPr lang="en-US" sz="1250" dirty="0"/>
          </a:p>
          <a:p>
            <a:pPr marL="0" indent="0">
              <a:spcAft>
                <a:spcPts val="800"/>
              </a:spcAft>
              <a:buNone/>
            </a:pPr>
            <a:r>
              <a:rPr lang="en-US" sz="1250" dirty="0">
                <a:solidFill>
                  <a:srgbClr val="C9D3DD"/>
                </a:solidFill>
                <a:latin typeface="Calibri" pitchFamily="34" charset="0"/>
                <a:ea typeface="Calibri" pitchFamily="34" charset="-122"/>
                <a:cs typeface="Calibri" pitchFamily="34" charset="-120"/>
              </a:rPr>
              <a:t>WheelsTest specs · CLI · MCP server</a:t>
            </a:r>
            <a:endParaRPr lang="en-US" sz="1250" dirty="0"/>
          </a:p>
        </p:txBody>
      </p:sp>
      <p:sp>
        <p:nvSpPr>
          <p:cNvPr id="17" name="Text 14"/>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Apache 2.0 licensed · github.com/wheels-dev/wheels · ForgeBox: wheels-core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Convention over configuration</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THE CORE IDEA</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7</a:t>
            </a:r>
            <a:endParaRPr lang="en-US" sz="900" dirty="0"/>
          </a:p>
        </p:txBody>
      </p:sp>
      <p:sp>
        <p:nvSpPr>
          <p:cNvPr id="7" name="Text 4"/>
          <p:cNvSpPr txBox="1"/>
          <p:nvPr/>
        </p:nvSpPr>
        <p:spPr>
          <a:xfrm>
            <a:off x="457200" y="1051560"/>
            <a:ext cx="8229600" cy="411480"/>
          </a:xfrm>
          <a:prstGeom prst="rect">
            <a:avLst/>
          </a:prstGeom>
          <a:noFill/>
          <a:ln/>
        </p:spPr>
        <p:txBody>
          <a:bodyPr wrap="square" lIns="0" tIns="0" rIns="0" bIns="0" rtlCol="0" anchor="ctr"/>
          <a:lstStyle/>
          <a:p>
            <a:pPr marL="0" indent="0">
              <a:buNone/>
            </a:pPr>
            <a:r>
              <a:rPr lang="en-US" sz="1800" dirty="0">
                <a:solidFill>
                  <a:srgbClr val="1A2430"/>
                </a:solidFill>
                <a:latin typeface="Calibri" pitchFamily="34" charset="0"/>
                <a:ea typeface="Calibri" pitchFamily="34" charset="-122"/>
                <a:cs typeface="Calibri" pitchFamily="34" charset="-120"/>
              </a:rPr>
              <a:t>Name one thing. Wheels infers the rest.</a:t>
            </a:r>
            <a:endParaRPr lang="en-US" sz="1800" dirty="0"/>
          </a:p>
        </p:txBody>
      </p:sp>
      <p:sp>
        <p:nvSpPr>
          <p:cNvPr id="8" name="Shape 5"/>
          <p:cNvSpPr/>
          <p:nvPr/>
        </p:nvSpPr>
        <p:spPr>
          <a:xfrm>
            <a:off x="457200" y="1691640"/>
            <a:ext cx="1463040" cy="1417320"/>
          </a:xfrm>
          <a:prstGeom prst="roundRect">
            <a:avLst>
              <a:gd name="adj" fmla="val 5161"/>
            </a:avLst>
          </a:prstGeom>
          <a:solidFill>
            <a:srgbClr val="EF3B2D"/>
          </a:solidFill>
          <a:ln w="12700">
            <a:solidFill>
              <a:srgbClr val="EF3B2D"/>
            </a:solidFill>
            <a:prstDash val="solid"/>
          </a:ln>
        </p:spPr>
        <p:txBody>
          <a:bodyPr/>
          <a:lstStyle/>
          <a:p>
            <a:endParaRPr lang="en-US"/>
          </a:p>
        </p:txBody>
      </p:sp>
      <p:sp>
        <p:nvSpPr>
          <p:cNvPr id="9" name="Text 6"/>
          <p:cNvSpPr txBox="1"/>
          <p:nvPr/>
        </p:nvSpPr>
        <p:spPr>
          <a:xfrm>
            <a:off x="457200" y="1828800"/>
            <a:ext cx="146304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Post</a:t>
            </a:r>
            <a:endParaRPr lang="en-US" sz="1700" dirty="0"/>
          </a:p>
        </p:txBody>
      </p:sp>
      <p:sp>
        <p:nvSpPr>
          <p:cNvPr id="10" name="Text 7"/>
          <p:cNvSpPr txBox="1"/>
          <p:nvPr/>
        </p:nvSpPr>
        <p:spPr>
          <a:xfrm>
            <a:off x="457200" y="2286000"/>
            <a:ext cx="1463040" cy="274320"/>
          </a:xfrm>
          <a:prstGeom prst="rect">
            <a:avLst/>
          </a:prstGeom>
          <a:noFill/>
          <a:ln/>
        </p:spPr>
        <p:txBody>
          <a:bodyPr wrap="square" lIns="0" tIns="0" rIns="0" bIns="0" rtlCol="0" anchor="ctr"/>
          <a:lstStyle/>
          <a:p>
            <a:pPr marL="0" indent="0" algn="ctr">
              <a:buNone/>
            </a:pPr>
            <a:r>
              <a:rPr lang="en-US" sz="1100" dirty="0">
                <a:solidFill>
                  <a:srgbClr val="C9D3DD"/>
                </a:solidFill>
                <a:latin typeface="Calibri" pitchFamily="34" charset="0"/>
                <a:ea typeface="Calibri" pitchFamily="34" charset="-122"/>
                <a:cs typeface="Calibri" pitchFamily="34" charset="-120"/>
              </a:rPr>
              <a:t>model</a:t>
            </a:r>
            <a:endParaRPr lang="en-US" sz="1100" dirty="0"/>
          </a:p>
        </p:txBody>
      </p:sp>
      <p:sp>
        <p:nvSpPr>
          <p:cNvPr id="11" name="Text 8"/>
          <p:cNvSpPr txBox="1"/>
          <p:nvPr/>
        </p:nvSpPr>
        <p:spPr>
          <a:xfrm>
            <a:off x="502920" y="2606040"/>
            <a:ext cx="1371600" cy="457200"/>
          </a:xfrm>
          <a:prstGeom prst="rect">
            <a:avLst/>
          </a:prstGeom>
          <a:noFill/>
          <a:ln/>
        </p:spPr>
        <p:txBody>
          <a:bodyPr wrap="square" lIns="0" tIns="0" rIns="0" bIns="0" rtlCol="0" anchor="ctr"/>
          <a:lstStyle/>
          <a:p>
            <a:pPr marL="0" indent="0" algn="ctr">
              <a:buNone/>
            </a:pPr>
            <a:r>
              <a:rPr lang="en-US" sz="950" dirty="0">
                <a:solidFill>
                  <a:srgbClr val="9AA7B4"/>
                </a:solidFill>
                <a:latin typeface="Courier New" pitchFamily="34" charset="0"/>
                <a:ea typeface="Courier New" pitchFamily="34" charset="-122"/>
                <a:cs typeface="Courier New" pitchFamily="34" charset="-120"/>
              </a:rPr>
              <a:t>app/models/Post.cfc</a:t>
            </a:r>
            <a:endParaRPr lang="en-US" sz="950" dirty="0"/>
          </a:p>
        </p:txBody>
      </p:sp>
      <p:sp>
        <p:nvSpPr>
          <p:cNvPr id="12" name="Text 9"/>
          <p:cNvSpPr txBox="1"/>
          <p:nvPr/>
        </p:nvSpPr>
        <p:spPr>
          <a:xfrm>
            <a:off x="1901952" y="2148840"/>
            <a:ext cx="274320" cy="365760"/>
          </a:xfrm>
          <a:prstGeom prst="rect">
            <a:avLst/>
          </a:prstGeom>
          <a:noFill/>
          <a:ln/>
        </p:spPr>
        <p:txBody>
          <a:bodyPr wrap="square" lIns="0" tIns="0" rIns="0" bIns="0" rtlCol="0" anchor="ctr"/>
          <a:lstStyle/>
          <a:p>
            <a:pPr marL="0" indent="0" algn="ctr">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13" name="Shape 10"/>
          <p:cNvSpPr/>
          <p:nvPr/>
        </p:nvSpPr>
        <p:spPr>
          <a:xfrm>
            <a:off x="2148840" y="1691640"/>
            <a:ext cx="1463040" cy="1417320"/>
          </a:xfrm>
          <a:prstGeom prst="roundRect">
            <a:avLst>
              <a:gd name="adj" fmla="val 5161"/>
            </a:avLst>
          </a:prstGeom>
          <a:solidFill>
            <a:srgbClr val="0C1620"/>
          </a:solidFill>
          <a:ln w="12700">
            <a:solidFill>
              <a:srgbClr val="0C1620"/>
            </a:solidFill>
            <a:prstDash val="solid"/>
          </a:ln>
        </p:spPr>
        <p:txBody>
          <a:bodyPr/>
          <a:lstStyle/>
          <a:p>
            <a:endParaRPr lang="en-US"/>
          </a:p>
        </p:txBody>
      </p:sp>
      <p:sp>
        <p:nvSpPr>
          <p:cNvPr id="14" name="Text 11"/>
          <p:cNvSpPr txBox="1"/>
          <p:nvPr/>
        </p:nvSpPr>
        <p:spPr>
          <a:xfrm>
            <a:off x="2148840" y="1828800"/>
            <a:ext cx="146304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posts</a:t>
            </a:r>
            <a:endParaRPr lang="en-US" sz="1700" dirty="0"/>
          </a:p>
        </p:txBody>
      </p:sp>
      <p:sp>
        <p:nvSpPr>
          <p:cNvPr id="15" name="Text 12"/>
          <p:cNvSpPr txBox="1"/>
          <p:nvPr/>
        </p:nvSpPr>
        <p:spPr>
          <a:xfrm>
            <a:off x="2148840" y="2286000"/>
            <a:ext cx="1463040" cy="274320"/>
          </a:xfrm>
          <a:prstGeom prst="rect">
            <a:avLst/>
          </a:prstGeom>
          <a:noFill/>
          <a:ln/>
        </p:spPr>
        <p:txBody>
          <a:bodyPr wrap="square" lIns="0" tIns="0" rIns="0" bIns="0" rtlCol="0" anchor="ctr"/>
          <a:lstStyle/>
          <a:p>
            <a:pPr marL="0" indent="0" algn="ctr">
              <a:buNone/>
            </a:pPr>
            <a:r>
              <a:rPr lang="en-US" sz="1100" dirty="0">
                <a:solidFill>
                  <a:srgbClr val="C9D3DD"/>
                </a:solidFill>
                <a:latin typeface="Calibri" pitchFamily="34" charset="0"/>
                <a:ea typeface="Calibri" pitchFamily="34" charset="-122"/>
                <a:cs typeface="Calibri" pitchFamily="34" charset="-120"/>
              </a:rPr>
              <a:t>table</a:t>
            </a:r>
            <a:endParaRPr lang="en-US" sz="1100" dirty="0"/>
          </a:p>
        </p:txBody>
      </p:sp>
      <p:sp>
        <p:nvSpPr>
          <p:cNvPr id="16" name="Text 13"/>
          <p:cNvSpPr txBox="1"/>
          <p:nvPr/>
        </p:nvSpPr>
        <p:spPr>
          <a:xfrm>
            <a:off x="2194560" y="2606040"/>
            <a:ext cx="1371600" cy="457200"/>
          </a:xfrm>
          <a:prstGeom prst="rect">
            <a:avLst/>
          </a:prstGeom>
          <a:noFill/>
          <a:ln/>
        </p:spPr>
        <p:txBody>
          <a:bodyPr wrap="square" lIns="0" tIns="0" rIns="0" bIns="0" rtlCol="0" anchor="ctr"/>
          <a:lstStyle/>
          <a:p>
            <a:pPr marL="0" indent="0" algn="ctr">
              <a:buNone/>
            </a:pPr>
            <a:r>
              <a:rPr lang="en-US" sz="950" dirty="0">
                <a:solidFill>
                  <a:srgbClr val="9AA7B4"/>
                </a:solidFill>
                <a:latin typeface="Courier New" pitchFamily="34" charset="0"/>
                <a:ea typeface="Courier New" pitchFamily="34" charset="-122"/>
                <a:cs typeface="Courier New" pitchFamily="34" charset="-120"/>
              </a:rPr>
              <a:t>one migration</a:t>
            </a:r>
            <a:endParaRPr lang="en-US" sz="950" dirty="0"/>
          </a:p>
        </p:txBody>
      </p:sp>
      <p:sp>
        <p:nvSpPr>
          <p:cNvPr id="17" name="Text 14"/>
          <p:cNvSpPr txBox="1"/>
          <p:nvPr/>
        </p:nvSpPr>
        <p:spPr>
          <a:xfrm>
            <a:off x="3593592" y="2148840"/>
            <a:ext cx="274320" cy="365760"/>
          </a:xfrm>
          <a:prstGeom prst="rect">
            <a:avLst/>
          </a:prstGeom>
          <a:noFill/>
          <a:ln/>
        </p:spPr>
        <p:txBody>
          <a:bodyPr wrap="square" lIns="0" tIns="0" rIns="0" bIns="0" rtlCol="0" anchor="ctr"/>
          <a:lstStyle/>
          <a:p>
            <a:pPr marL="0" indent="0" algn="ctr">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3840480" y="1691640"/>
            <a:ext cx="1463040" cy="1417320"/>
          </a:xfrm>
          <a:prstGeom prst="roundRect">
            <a:avLst>
              <a:gd name="adj" fmla="val 5161"/>
            </a:avLst>
          </a:prstGeom>
          <a:solidFill>
            <a:srgbClr val="0C1620"/>
          </a:solidFill>
          <a:ln w="12700">
            <a:solidFill>
              <a:srgbClr val="0C1620"/>
            </a:solidFill>
            <a:prstDash val="solid"/>
          </a:ln>
        </p:spPr>
        <p:txBody>
          <a:bodyPr/>
          <a:lstStyle/>
          <a:p>
            <a:endParaRPr lang="en-US"/>
          </a:p>
        </p:txBody>
      </p:sp>
      <p:sp>
        <p:nvSpPr>
          <p:cNvPr id="19" name="Text 16"/>
          <p:cNvSpPr txBox="1"/>
          <p:nvPr/>
        </p:nvSpPr>
        <p:spPr>
          <a:xfrm>
            <a:off x="3840480" y="1828800"/>
            <a:ext cx="146304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Posts</a:t>
            </a:r>
            <a:endParaRPr lang="en-US" sz="1700" dirty="0"/>
          </a:p>
        </p:txBody>
      </p:sp>
      <p:sp>
        <p:nvSpPr>
          <p:cNvPr id="20" name="Text 17"/>
          <p:cNvSpPr txBox="1"/>
          <p:nvPr/>
        </p:nvSpPr>
        <p:spPr>
          <a:xfrm>
            <a:off x="3840480" y="2286000"/>
            <a:ext cx="1463040" cy="274320"/>
          </a:xfrm>
          <a:prstGeom prst="rect">
            <a:avLst/>
          </a:prstGeom>
          <a:noFill/>
          <a:ln/>
        </p:spPr>
        <p:txBody>
          <a:bodyPr wrap="square" lIns="0" tIns="0" rIns="0" bIns="0" rtlCol="0" anchor="ctr"/>
          <a:lstStyle/>
          <a:p>
            <a:pPr marL="0" indent="0" algn="ctr">
              <a:buNone/>
            </a:pPr>
            <a:r>
              <a:rPr lang="en-US" sz="1100" dirty="0">
                <a:solidFill>
                  <a:srgbClr val="C9D3DD"/>
                </a:solidFill>
                <a:latin typeface="Calibri" pitchFamily="34" charset="0"/>
                <a:ea typeface="Calibri" pitchFamily="34" charset="-122"/>
                <a:cs typeface="Calibri" pitchFamily="34" charset="-120"/>
              </a:rPr>
              <a:t>controller</a:t>
            </a:r>
            <a:endParaRPr lang="en-US" sz="1100" dirty="0"/>
          </a:p>
        </p:txBody>
      </p:sp>
      <p:sp>
        <p:nvSpPr>
          <p:cNvPr id="21" name="Text 18"/>
          <p:cNvSpPr txBox="1"/>
          <p:nvPr/>
        </p:nvSpPr>
        <p:spPr>
          <a:xfrm>
            <a:off x="3886200" y="2606040"/>
            <a:ext cx="1371600" cy="457200"/>
          </a:xfrm>
          <a:prstGeom prst="rect">
            <a:avLst/>
          </a:prstGeom>
          <a:noFill/>
          <a:ln/>
        </p:spPr>
        <p:txBody>
          <a:bodyPr wrap="square" lIns="0" tIns="0" rIns="0" bIns="0" rtlCol="0" anchor="ctr"/>
          <a:lstStyle/>
          <a:p>
            <a:pPr marL="0" indent="0" algn="ctr">
              <a:buNone/>
            </a:pPr>
            <a:r>
              <a:rPr lang="en-US" sz="950" dirty="0">
                <a:solidFill>
                  <a:srgbClr val="9AA7B4"/>
                </a:solidFill>
                <a:latin typeface="Courier New" pitchFamily="34" charset="0"/>
                <a:ea typeface="Courier New" pitchFamily="34" charset="-122"/>
                <a:cs typeface="Courier New" pitchFamily="34" charset="-120"/>
              </a:rPr>
              <a:t>app/controllers/Posts.cfc</a:t>
            </a:r>
            <a:endParaRPr lang="en-US" sz="950" dirty="0"/>
          </a:p>
        </p:txBody>
      </p:sp>
      <p:sp>
        <p:nvSpPr>
          <p:cNvPr id="22" name="Text 19"/>
          <p:cNvSpPr txBox="1"/>
          <p:nvPr/>
        </p:nvSpPr>
        <p:spPr>
          <a:xfrm>
            <a:off x="5285232" y="2148840"/>
            <a:ext cx="274320" cy="365760"/>
          </a:xfrm>
          <a:prstGeom prst="rect">
            <a:avLst/>
          </a:prstGeom>
          <a:noFill/>
          <a:ln/>
        </p:spPr>
        <p:txBody>
          <a:bodyPr wrap="square" lIns="0" tIns="0" rIns="0" bIns="0" rtlCol="0" anchor="ctr"/>
          <a:lstStyle/>
          <a:p>
            <a:pPr marL="0" indent="0" algn="ctr">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23" name="Shape 20"/>
          <p:cNvSpPr/>
          <p:nvPr/>
        </p:nvSpPr>
        <p:spPr>
          <a:xfrm>
            <a:off x="5532120" y="1691640"/>
            <a:ext cx="1463040" cy="1417320"/>
          </a:xfrm>
          <a:prstGeom prst="roundRect">
            <a:avLst>
              <a:gd name="adj" fmla="val 5161"/>
            </a:avLst>
          </a:prstGeom>
          <a:solidFill>
            <a:srgbClr val="0C1620"/>
          </a:solidFill>
          <a:ln w="12700">
            <a:solidFill>
              <a:srgbClr val="0C1620"/>
            </a:solidFill>
            <a:prstDash val="solid"/>
          </a:ln>
        </p:spPr>
        <p:txBody>
          <a:bodyPr/>
          <a:lstStyle/>
          <a:p>
            <a:endParaRPr lang="en-US"/>
          </a:p>
        </p:txBody>
      </p:sp>
      <p:sp>
        <p:nvSpPr>
          <p:cNvPr id="24" name="Text 21"/>
          <p:cNvSpPr txBox="1"/>
          <p:nvPr/>
        </p:nvSpPr>
        <p:spPr>
          <a:xfrm>
            <a:off x="5532120" y="1828800"/>
            <a:ext cx="146304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posts/</a:t>
            </a:r>
            <a:endParaRPr lang="en-US" sz="1700" dirty="0"/>
          </a:p>
        </p:txBody>
      </p:sp>
      <p:sp>
        <p:nvSpPr>
          <p:cNvPr id="25" name="Text 22"/>
          <p:cNvSpPr txBox="1"/>
          <p:nvPr/>
        </p:nvSpPr>
        <p:spPr>
          <a:xfrm>
            <a:off x="5532120" y="2286000"/>
            <a:ext cx="1463040" cy="274320"/>
          </a:xfrm>
          <a:prstGeom prst="rect">
            <a:avLst/>
          </a:prstGeom>
          <a:noFill/>
          <a:ln/>
        </p:spPr>
        <p:txBody>
          <a:bodyPr wrap="square" lIns="0" tIns="0" rIns="0" bIns="0" rtlCol="0" anchor="ctr"/>
          <a:lstStyle/>
          <a:p>
            <a:pPr marL="0" indent="0" algn="ctr">
              <a:buNone/>
            </a:pPr>
            <a:r>
              <a:rPr lang="en-US" sz="1100" dirty="0">
                <a:solidFill>
                  <a:srgbClr val="C9D3DD"/>
                </a:solidFill>
                <a:latin typeface="Calibri" pitchFamily="34" charset="0"/>
                <a:ea typeface="Calibri" pitchFamily="34" charset="-122"/>
                <a:cs typeface="Calibri" pitchFamily="34" charset="-120"/>
              </a:rPr>
              <a:t>views</a:t>
            </a:r>
            <a:endParaRPr lang="en-US" sz="1100" dirty="0"/>
          </a:p>
        </p:txBody>
      </p:sp>
      <p:sp>
        <p:nvSpPr>
          <p:cNvPr id="26" name="Text 23"/>
          <p:cNvSpPr txBox="1"/>
          <p:nvPr/>
        </p:nvSpPr>
        <p:spPr>
          <a:xfrm>
            <a:off x="5577840" y="2606040"/>
            <a:ext cx="1371600" cy="457200"/>
          </a:xfrm>
          <a:prstGeom prst="rect">
            <a:avLst/>
          </a:prstGeom>
          <a:noFill/>
          <a:ln/>
        </p:spPr>
        <p:txBody>
          <a:bodyPr wrap="square" lIns="0" tIns="0" rIns="0" bIns="0" rtlCol="0" anchor="ctr"/>
          <a:lstStyle/>
          <a:p>
            <a:pPr marL="0" indent="0" algn="ctr">
              <a:buNone/>
            </a:pPr>
            <a:r>
              <a:rPr lang="en-US" sz="950" dirty="0">
                <a:solidFill>
                  <a:srgbClr val="9AA7B4"/>
                </a:solidFill>
                <a:latin typeface="Courier New" pitchFamily="34" charset="0"/>
                <a:ea typeface="Courier New" pitchFamily="34" charset="-122"/>
                <a:cs typeface="Courier New" pitchFamily="34" charset="-120"/>
              </a:rPr>
              <a:t>index · show · new · edit</a:t>
            </a:r>
            <a:endParaRPr lang="en-US" sz="950" dirty="0"/>
          </a:p>
        </p:txBody>
      </p:sp>
      <p:sp>
        <p:nvSpPr>
          <p:cNvPr id="27" name="Text 24"/>
          <p:cNvSpPr txBox="1"/>
          <p:nvPr/>
        </p:nvSpPr>
        <p:spPr>
          <a:xfrm>
            <a:off x="6976872" y="2148840"/>
            <a:ext cx="274320" cy="365760"/>
          </a:xfrm>
          <a:prstGeom prst="rect">
            <a:avLst/>
          </a:prstGeom>
          <a:noFill/>
          <a:ln/>
        </p:spPr>
        <p:txBody>
          <a:bodyPr wrap="square" lIns="0" tIns="0" rIns="0" bIns="0" rtlCol="0" anchor="ctr"/>
          <a:lstStyle/>
          <a:p>
            <a:pPr marL="0" indent="0" algn="ctr">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28" name="Shape 25"/>
          <p:cNvSpPr/>
          <p:nvPr/>
        </p:nvSpPr>
        <p:spPr>
          <a:xfrm>
            <a:off x="7223760" y="1691640"/>
            <a:ext cx="1463040" cy="1417320"/>
          </a:xfrm>
          <a:prstGeom prst="roundRect">
            <a:avLst>
              <a:gd name="adj" fmla="val 5161"/>
            </a:avLst>
          </a:prstGeom>
          <a:solidFill>
            <a:srgbClr val="0C1620"/>
          </a:solidFill>
          <a:ln w="12700">
            <a:solidFill>
              <a:srgbClr val="0C1620"/>
            </a:solidFill>
            <a:prstDash val="solid"/>
          </a:ln>
        </p:spPr>
        <p:txBody>
          <a:bodyPr/>
          <a:lstStyle/>
          <a:p>
            <a:endParaRPr lang="en-US"/>
          </a:p>
        </p:txBody>
      </p:sp>
      <p:sp>
        <p:nvSpPr>
          <p:cNvPr id="29" name="Text 26"/>
          <p:cNvSpPr txBox="1"/>
          <p:nvPr/>
        </p:nvSpPr>
        <p:spPr>
          <a:xfrm>
            <a:off x="7223760" y="1828800"/>
            <a:ext cx="146304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editPost</a:t>
            </a:r>
            <a:endParaRPr lang="en-US" sz="1700" dirty="0"/>
          </a:p>
        </p:txBody>
      </p:sp>
      <p:sp>
        <p:nvSpPr>
          <p:cNvPr id="30" name="Text 27"/>
          <p:cNvSpPr txBox="1"/>
          <p:nvPr/>
        </p:nvSpPr>
        <p:spPr>
          <a:xfrm>
            <a:off x="7223760" y="2286000"/>
            <a:ext cx="1463040" cy="274320"/>
          </a:xfrm>
          <a:prstGeom prst="rect">
            <a:avLst/>
          </a:prstGeom>
          <a:noFill/>
          <a:ln/>
        </p:spPr>
        <p:txBody>
          <a:bodyPr wrap="square" lIns="0" tIns="0" rIns="0" bIns="0" rtlCol="0" anchor="ctr"/>
          <a:lstStyle/>
          <a:p>
            <a:pPr marL="0" indent="0" algn="ctr">
              <a:buNone/>
            </a:pPr>
            <a:r>
              <a:rPr lang="en-US" sz="1100" dirty="0">
                <a:solidFill>
                  <a:srgbClr val="C9D3DD"/>
                </a:solidFill>
                <a:latin typeface="Calibri" pitchFamily="34" charset="0"/>
                <a:ea typeface="Calibri" pitchFamily="34" charset="-122"/>
                <a:cs typeface="Calibri" pitchFamily="34" charset="-120"/>
              </a:rPr>
              <a:t>named routes</a:t>
            </a:r>
            <a:endParaRPr lang="en-US" sz="1100" dirty="0"/>
          </a:p>
        </p:txBody>
      </p:sp>
      <p:sp>
        <p:nvSpPr>
          <p:cNvPr id="31" name="Text 28"/>
          <p:cNvSpPr txBox="1"/>
          <p:nvPr/>
        </p:nvSpPr>
        <p:spPr>
          <a:xfrm>
            <a:off x="7269480" y="2606040"/>
            <a:ext cx="1371600" cy="457200"/>
          </a:xfrm>
          <a:prstGeom prst="rect">
            <a:avLst/>
          </a:prstGeom>
          <a:noFill/>
          <a:ln/>
        </p:spPr>
        <p:txBody>
          <a:bodyPr wrap="square" lIns="0" tIns="0" rIns="0" bIns="0" rtlCol="0" anchor="ctr"/>
          <a:lstStyle/>
          <a:p>
            <a:pPr marL="0" indent="0" algn="ctr">
              <a:buNone/>
            </a:pPr>
            <a:r>
              <a:rPr lang="en-US" sz="950" dirty="0">
                <a:solidFill>
                  <a:srgbClr val="9AA7B4"/>
                </a:solidFill>
                <a:latin typeface="Courier New" pitchFamily="34" charset="0"/>
                <a:ea typeface="Courier New" pitchFamily="34" charset="-122"/>
                <a:cs typeface="Courier New" pitchFamily="34" charset="-120"/>
              </a:rPr>
              <a:t>linkTo(route=…)</a:t>
            </a:r>
            <a:endParaRPr lang="en-US" sz="950" dirty="0"/>
          </a:p>
        </p:txBody>
      </p:sp>
      <p:sp>
        <p:nvSpPr>
          <p:cNvPr id="32" name="Shape 29"/>
          <p:cNvSpPr/>
          <p:nvPr/>
        </p:nvSpPr>
        <p:spPr>
          <a:xfrm>
            <a:off x="457200" y="3337560"/>
            <a:ext cx="8229600" cy="1280160"/>
          </a:xfrm>
          <a:prstGeom prst="roundRect">
            <a:avLst>
              <a:gd name="adj" fmla="val 5714"/>
            </a:avLst>
          </a:prstGeom>
          <a:solidFill>
            <a:srgbClr val="16232F"/>
          </a:solidFill>
          <a:ln w="12700">
            <a:solidFill>
              <a:srgbClr val="16232F"/>
            </a:solidFill>
            <a:prstDash val="solid"/>
          </a:ln>
        </p:spPr>
        <p:txBody>
          <a:bodyPr/>
          <a:lstStyle/>
          <a:p>
            <a:endParaRPr lang="en-US"/>
          </a:p>
        </p:txBody>
      </p:sp>
      <p:sp>
        <p:nvSpPr>
          <p:cNvPr id="33" name="Shape 30"/>
          <p:cNvSpPr/>
          <p:nvPr/>
        </p:nvSpPr>
        <p:spPr>
          <a:xfrm>
            <a:off x="594360" y="3456432"/>
            <a:ext cx="91440" cy="91440"/>
          </a:xfrm>
          <a:prstGeom prst="ellipse">
            <a:avLst/>
          </a:prstGeom>
          <a:solidFill>
            <a:srgbClr val="EF3B2D"/>
          </a:solidFill>
          <a:ln w="12700">
            <a:solidFill>
              <a:srgbClr val="EF3B2D"/>
            </a:solidFill>
            <a:prstDash val="solid"/>
          </a:ln>
        </p:spPr>
        <p:txBody>
          <a:bodyPr/>
          <a:lstStyle/>
          <a:p>
            <a:endParaRPr lang="en-US"/>
          </a:p>
        </p:txBody>
      </p:sp>
      <p:sp>
        <p:nvSpPr>
          <p:cNvPr id="34" name="Shape 31"/>
          <p:cNvSpPr/>
          <p:nvPr/>
        </p:nvSpPr>
        <p:spPr>
          <a:xfrm>
            <a:off x="758952" y="3456432"/>
            <a:ext cx="91440" cy="91440"/>
          </a:xfrm>
          <a:prstGeom prst="ellipse">
            <a:avLst/>
          </a:prstGeom>
          <a:solidFill>
            <a:srgbClr val="F5B62E"/>
          </a:solidFill>
          <a:ln w="12700">
            <a:solidFill>
              <a:srgbClr val="F5B62E"/>
            </a:solidFill>
            <a:prstDash val="solid"/>
          </a:ln>
        </p:spPr>
        <p:txBody>
          <a:bodyPr/>
          <a:lstStyle/>
          <a:p>
            <a:endParaRPr lang="en-US"/>
          </a:p>
        </p:txBody>
      </p:sp>
      <p:sp>
        <p:nvSpPr>
          <p:cNvPr id="35" name="Shape 32"/>
          <p:cNvSpPr/>
          <p:nvPr/>
        </p:nvSpPr>
        <p:spPr>
          <a:xfrm>
            <a:off x="923544" y="3456432"/>
            <a:ext cx="91440" cy="91440"/>
          </a:xfrm>
          <a:prstGeom prst="ellipse">
            <a:avLst/>
          </a:prstGeom>
          <a:solidFill>
            <a:srgbClr val="3DDC84"/>
          </a:solidFill>
          <a:ln w="12700">
            <a:solidFill>
              <a:srgbClr val="3DDC84"/>
            </a:solidFill>
            <a:prstDash val="solid"/>
          </a:ln>
        </p:spPr>
        <p:txBody>
          <a:bodyPr/>
          <a:lstStyle/>
          <a:p>
            <a:endParaRPr lang="en-US"/>
          </a:p>
        </p:txBody>
      </p:sp>
      <p:sp>
        <p:nvSpPr>
          <p:cNvPr id="36" name="Text 33"/>
          <p:cNvSpPr txBox="1"/>
          <p:nvPr/>
        </p:nvSpPr>
        <p:spPr>
          <a:xfrm>
            <a:off x="640080" y="3657600"/>
            <a:ext cx="7863840" cy="868680"/>
          </a:xfrm>
          <a:prstGeom prst="rect">
            <a:avLst/>
          </a:prstGeom>
          <a:noFill/>
          <a:ln/>
        </p:spPr>
        <p:txBody>
          <a:bodyPr wrap="square" lIns="0" tIns="0" rIns="0" bIns="0" rtlCol="0" anchor="t"/>
          <a:lstStyle/>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app/models/Post.cfc — everything else is inferred</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component </a:t>
            </a:r>
            <a:r>
              <a:rPr lang="en-US" sz="1100" dirty="0">
                <a:solidFill>
                  <a:srgbClr val="E6EDF3"/>
                </a:solidFill>
                <a:latin typeface="Courier New" pitchFamily="34" charset="0"/>
                <a:ea typeface="Courier New" pitchFamily="34" charset="-122"/>
                <a:cs typeface="Courier New" pitchFamily="34" charset="-120"/>
              </a:rPr>
              <a:t>extends=</a:t>
            </a:r>
            <a:r>
              <a:rPr lang="en-US" sz="1100" dirty="0">
                <a:solidFill>
                  <a:srgbClr val="3DDC84"/>
                </a:solidFill>
                <a:latin typeface="Courier New" pitchFamily="34" charset="0"/>
                <a:ea typeface="Courier New" pitchFamily="34" charset="-122"/>
                <a:cs typeface="Courier New" pitchFamily="34" charset="-120"/>
              </a:rPr>
              <a:t>"Model"</a:t>
            </a: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EF3B2D"/>
                </a:solidFill>
                <a:latin typeface="Courier New" pitchFamily="34" charset="0"/>
                <a:ea typeface="Courier New" pitchFamily="34" charset="-122"/>
                <a:cs typeface="Courier New" pitchFamily="34" charset="-120"/>
              </a:rPr>
              <a:t>function</a:t>
            </a:r>
            <a:r>
              <a:rPr lang="en-US" sz="1100" dirty="0">
                <a:solidFill>
                  <a:srgbClr val="E6EDF3"/>
                </a:solidFill>
                <a:latin typeface="Courier New" pitchFamily="34" charset="0"/>
                <a:ea typeface="Courier New" pitchFamily="34" charset="-122"/>
                <a:cs typeface="Courier New" pitchFamily="34" charset="-120"/>
              </a:rPr>
              <a:t> config() { hasMany(</a:t>
            </a:r>
            <a:r>
              <a:rPr lang="en-US" sz="1100" dirty="0">
                <a:solidFill>
                  <a:srgbClr val="3DDC84"/>
                </a:solidFill>
                <a:latin typeface="Courier New" pitchFamily="34" charset="0"/>
                <a:ea typeface="Courier New" pitchFamily="34" charset="-122"/>
                <a:cs typeface="Courier New" pitchFamily="34" charset="-120"/>
              </a:rPr>
              <a:t>"comments"</a:t>
            </a:r>
            <a:r>
              <a:rPr lang="en-US" sz="1100" dirty="0">
                <a:solidFill>
                  <a:srgbClr val="E6EDF3"/>
                </a:solidFill>
                <a:latin typeface="Courier New" pitchFamily="34" charset="0"/>
                <a:ea typeface="Courier New" pitchFamily="34" charset="-122"/>
                <a:cs typeface="Courier New" pitchFamily="34" charset="-120"/>
              </a:rPr>
              <a:t>); validatesPresenceOf(</a:t>
            </a:r>
            <a:r>
              <a:rPr lang="en-US" sz="1100" dirty="0">
                <a:solidFill>
                  <a:srgbClr val="3DDC84"/>
                </a:solidFill>
                <a:latin typeface="Courier New" pitchFamily="34" charset="0"/>
                <a:ea typeface="Courier New" pitchFamily="34" charset="-122"/>
                <a:cs typeface="Courier New" pitchFamily="34" charset="-120"/>
              </a:rPr>
              <a:t>"title,body"</a:t>
            </a: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One request, end to end</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HOW A PAGE GETS BUILT</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457200" y="1280160"/>
            <a:ext cx="1508760" cy="2377440"/>
          </a:xfrm>
          <a:prstGeom prst="roundRect">
            <a:avLst>
              <a:gd name="adj" fmla="val 4848"/>
            </a:avLst>
          </a:prstGeom>
          <a:solidFill>
            <a:srgbClr val="F3F5F7"/>
          </a:solidFill>
          <a:ln w="12700">
            <a:solidFill>
              <a:srgbClr val="F3F5F7"/>
            </a:solidFill>
            <a:prstDash val="solid"/>
          </a:ln>
        </p:spPr>
        <p:txBody>
          <a:bodyPr/>
          <a:lstStyle/>
          <a:p>
            <a:endParaRPr lang="en-US"/>
          </a:p>
        </p:txBody>
      </p:sp>
      <p:sp>
        <p:nvSpPr>
          <p:cNvPr id="8" name="Text 5"/>
          <p:cNvSpPr txBox="1"/>
          <p:nvPr/>
        </p:nvSpPr>
        <p:spPr>
          <a:xfrm>
            <a:off x="548640" y="1417320"/>
            <a:ext cx="1325880" cy="365760"/>
          </a:xfrm>
          <a:prstGeom prst="rect">
            <a:avLst/>
          </a:prstGeom>
          <a:noFill/>
          <a:ln/>
        </p:spPr>
        <p:txBody>
          <a:bodyPr wrap="square" lIns="0" tIns="0" rIns="0" bIns="0" rtlCol="0" anchor="ctr"/>
          <a:lstStyle/>
          <a:p>
            <a:pPr marL="0" indent="0" algn="ctr">
              <a:buNone/>
            </a:pPr>
            <a:r>
              <a:rPr lang="en-US" sz="1600" b="1" dirty="0">
                <a:solidFill>
                  <a:srgbClr val="1A2430"/>
                </a:solidFill>
                <a:latin typeface="Calibri" pitchFamily="34" charset="0"/>
                <a:ea typeface="Calibri" pitchFamily="34" charset="-122"/>
                <a:cs typeface="Calibri" pitchFamily="34" charset="-120"/>
              </a:rPr>
              <a:t>Browser</a:t>
            </a:r>
            <a:endParaRPr lang="en-US" sz="1600" dirty="0"/>
          </a:p>
        </p:txBody>
      </p:sp>
      <p:sp>
        <p:nvSpPr>
          <p:cNvPr id="9" name="Text 6"/>
          <p:cNvSpPr txBox="1"/>
          <p:nvPr/>
        </p:nvSpPr>
        <p:spPr>
          <a:xfrm>
            <a:off x="548640" y="2103120"/>
            <a:ext cx="1325880" cy="1463040"/>
          </a:xfrm>
          <a:prstGeom prst="rect">
            <a:avLst/>
          </a:prstGeom>
          <a:noFill/>
          <a:ln/>
        </p:spPr>
        <p:txBody>
          <a:bodyPr wrap="square" lIns="0" tIns="0" rIns="0" bIns="0" rtlCol="0" anchor="t"/>
          <a:lstStyle/>
          <a:p>
            <a:pPr marL="0" indent="0" algn="ctr">
              <a:buNone/>
            </a:pPr>
            <a:r>
              <a:rPr lang="en-US" sz="950" dirty="0">
                <a:solidFill>
                  <a:srgbClr val="6B7785"/>
                </a:solidFill>
                <a:latin typeface="Courier New" pitchFamily="34" charset="0"/>
                <a:ea typeface="Courier New" pitchFamily="34" charset="-122"/>
                <a:cs typeface="Courier New" pitchFamily="34" charset="-120"/>
              </a:rPr>
              <a:t>GET /posts/42</a:t>
            </a:r>
            <a:endParaRPr lang="en-US" sz="950" dirty="0"/>
          </a:p>
        </p:txBody>
      </p:sp>
      <p:sp>
        <p:nvSpPr>
          <p:cNvPr id="10" name="Text 7"/>
          <p:cNvSpPr txBox="1"/>
          <p:nvPr/>
        </p:nvSpPr>
        <p:spPr>
          <a:xfrm>
            <a:off x="1920240" y="2240280"/>
            <a:ext cx="274320" cy="365760"/>
          </a:xfrm>
          <a:prstGeom prst="rect">
            <a:avLst/>
          </a:prstGeom>
          <a:noFill/>
          <a:ln/>
        </p:spPr>
        <p:txBody>
          <a:bodyPr wrap="square" lIns="0" tIns="0" rIns="0" bIns="0" rtlCol="0" anchor="ctr"/>
          <a:lstStyle/>
          <a:p>
            <a:pPr marL="0" indent="0" algn="ctr">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2148840" y="1280160"/>
            <a:ext cx="1508760" cy="2377440"/>
          </a:xfrm>
          <a:prstGeom prst="roundRect">
            <a:avLst>
              <a:gd name="adj" fmla="val 4848"/>
            </a:avLst>
          </a:prstGeom>
          <a:solidFill>
            <a:srgbClr val="0C1620"/>
          </a:solidFill>
          <a:ln w="12700">
            <a:solidFill>
              <a:srgbClr val="0C1620"/>
            </a:solidFill>
            <a:prstDash val="solid"/>
          </a:ln>
        </p:spPr>
        <p:txBody>
          <a:bodyPr/>
          <a:lstStyle/>
          <a:p>
            <a:endParaRPr lang="en-US"/>
          </a:p>
        </p:txBody>
      </p:sp>
      <p:sp>
        <p:nvSpPr>
          <p:cNvPr id="12" name="Text 9"/>
          <p:cNvSpPr txBox="1"/>
          <p:nvPr/>
        </p:nvSpPr>
        <p:spPr>
          <a:xfrm>
            <a:off x="2240280" y="1417320"/>
            <a:ext cx="13258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Router</a:t>
            </a:r>
            <a:endParaRPr lang="en-US" sz="1600" dirty="0"/>
          </a:p>
        </p:txBody>
      </p:sp>
      <p:sp>
        <p:nvSpPr>
          <p:cNvPr id="13" name="Text 10"/>
          <p:cNvSpPr txBox="1"/>
          <p:nvPr/>
        </p:nvSpPr>
        <p:spPr>
          <a:xfrm>
            <a:off x="2240280" y="1783080"/>
            <a:ext cx="1325880" cy="228600"/>
          </a:xfrm>
          <a:prstGeom prst="rect">
            <a:avLst/>
          </a:prstGeom>
          <a:noFill/>
          <a:ln/>
        </p:spPr>
        <p:txBody>
          <a:bodyPr wrap="square" lIns="0" tIns="0" rIns="0" bIns="0" rtlCol="0" anchor="ctr"/>
          <a:lstStyle/>
          <a:p>
            <a:pPr marL="0" indent="0" algn="ctr">
              <a:buNone/>
            </a:pPr>
            <a:r>
              <a:rPr lang="en-US" sz="850" b="1" kern="0" spc="150" dirty="0">
                <a:solidFill>
                  <a:srgbClr val="EF3B2D"/>
                </a:solidFill>
                <a:latin typeface="Calibri" pitchFamily="34" charset="0"/>
                <a:ea typeface="Calibri" pitchFamily="34" charset="-122"/>
                <a:cs typeface="Calibri" pitchFamily="34" charset="-120"/>
              </a:rPr>
              <a:t>YOU WRITE</a:t>
            </a:r>
            <a:endParaRPr lang="en-US" sz="850" dirty="0"/>
          </a:p>
        </p:txBody>
      </p:sp>
      <p:sp>
        <p:nvSpPr>
          <p:cNvPr id="14" name="Text 11"/>
          <p:cNvSpPr txBox="1"/>
          <p:nvPr/>
        </p:nvSpPr>
        <p:spPr>
          <a:xfrm>
            <a:off x="2240280" y="2103120"/>
            <a:ext cx="1325880" cy="1463040"/>
          </a:xfrm>
          <a:prstGeom prst="rect">
            <a:avLst/>
          </a:prstGeom>
          <a:noFill/>
          <a:ln/>
        </p:spPr>
        <p:txBody>
          <a:bodyPr wrap="square" lIns="0" tIns="0" rIns="0" bIns="0" rtlCol="0" anchor="t"/>
          <a:lstStyle/>
          <a:p>
            <a:pPr marL="0" indent="0" algn="ctr">
              <a:buNone/>
            </a:pPr>
            <a:r>
              <a:rPr lang="en-US" sz="950" dirty="0">
                <a:solidFill>
                  <a:srgbClr val="C9D3DD"/>
                </a:solidFill>
                <a:latin typeface="Courier New" pitchFamily="34" charset="0"/>
                <a:ea typeface="Courier New" pitchFamily="34" charset="-122"/>
                <a:cs typeface="Courier New" pitchFamily="34" charset="-120"/>
              </a:rPr>
              <a:t>config/routes</a:t>
            </a:r>
            <a:r>
              <a:rPr lang="en-US" sz="950">
                <a:solidFill>
                  <a:srgbClr val="C9D3DD"/>
                </a:solidFill>
                <a:latin typeface="Courier New" pitchFamily="34" charset="0"/>
                <a:ea typeface="Courier New" pitchFamily="34" charset="-122"/>
                <a:cs typeface="Courier New" pitchFamily="34" charset="-120"/>
              </a:rPr>
              <a:t>.cfm</a:t>
            </a:r>
            <a:br>
              <a:rPr lang="en-US" sz="950">
                <a:solidFill>
                  <a:srgbClr val="C9D3DD"/>
                </a:solidFill>
                <a:latin typeface="Courier New" pitchFamily="34" charset="0"/>
                <a:ea typeface="Courier New" pitchFamily="34" charset="-122"/>
                <a:cs typeface="Courier New" pitchFamily="34" charset="-120"/>
              </a:rPr>
            </a:br>
            <a:endParaRPr lang="en-US" sz="950" dirty="0"/>
          </a:p>
          <a:p>
            <a:pPr marL="0" indent="0" algn="ctr">
              <a:buNone/>
            </a:pPr>
            <a:r>
              <a:rPr lang="en-US" sz="950" dirty="0">
                <a:solidFill>
                  <a:srgbClr val="C9D3DD"/>
                </a:solidFill>
                <a:latin typeface="Courier New" pitchFamily="34" charset="0"/>
                <a:ea typeface="Courier New" pitchFamily="34" charset="-122"/>
                <a:cs typeface="Courier New" pitchFamily="34" charset="-120"/>
              </a:rPr>
              <a:t>.resources("posts") → Posts.show</a:t>
            </a:r>
            <a:endParaRPr lang="en-US" sz="950" dirty="0"/>
          </a:p>
        </p:txBody>
      </p:sp>
      <p:sp>
        <p:nvSpPr>
          <p:cNvPr id="15" name="Text 12"/>
          <p:cNvSpPr txBox="1"/>
          <p:nvPr/>
        </p:nvSpPr>
        <p:spPr>
          <a:xfrm>
            <a:off x="3611880" y="2240280"/>
            <a:ext cx="274320" cy="365760"/>
          </a:xfrm>
          <a:prstGeom prst="rect">
            <a:avLst/>
          </a:prstGeom>
          <a:noFill/>
          <a:ln/>
        </p:spPr>
        <p:txBody>
          <a:bodyPr wrap="square" lIns="0" tIns="0" rIns="0" bIns="0" rtlCol="0" anchor="ctr"/>
          <a:lstStyle/>
          <a:p>
            <a:pPr marL="0" indent="0" algn="ctr">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16" name="Shape 13"/>
          <p:cNvSpPr/>
          <p:nvPr/>
        </p:nvSpPr>
        <p:spPr>
          <a:xfrm>
            <a:off x="3840480" y="1280160"/>
            <a:ext cx="1508760" cy="2377440"/>
          </a:xfrm>
          <a:prstGeom prst="roundRect">
            <a:avLst>
              <a:gd name="adj" fmla="val 4848"/>
            </a:avLst>
          </a:prstGeom>
          <a:solidFill>
            <a:srgbClr val="F3F5F7"/>
          </a:solidFill>
          <a:ln w="12700">
            <a:solidFill>
              <a:srgbClr val="F3F5F7"/>
            </a:solidFill>
            <a:prstDash val="solid"/>
          </a:ln>
        </p:spPr>
        <p:txBody>
          <a:bodyPr/>
          <a:lstStyle/>
          <a:p>
            <a:endParaRPr lang="en-US"/>
          </a:p>
        </p:txBody>
      </p:sp>
      <p:sp>
        <p:nvSpPr>
          <p:cNvPr id="17" name="Text 14"/>
          <p:cNvSpPr txBox="1"/>
          <p:nvPr/>
        </p:nvSpPr>
        <p:spPr>
          <a:xfrm>
            <a:off x="3931920" y="1417320"/>
            <a:ext cx="1325880" cy="365760"/>
          </a:xfrm>
          <a:prstGeom prst="rect">
            <a:avLst/>
          </a:prstGeom>
          <a:noFill/>
          <a:ln/>
        </p:spPr>
        <p:txBody>
          <a:bodyPr wrap="square" lIns="0" tIns="0" rIns="0" bIns="0" rtlCol="0" anchor="ctr"/>
          <a:lstStyle/>
          <a:p>
            <a:pPr marL="0" indent="0" algn="ctr">
              <a:buNone/>
            </a:pPr>
            <a:r>
              <a:rPr lang="en-US" sz="1600" b="1" dirty="0">
                <a:solidFill>
                  <a:srgbClr val="1A2430"/>
                </a:solidFill>
                <a:latin typeface="Calibri" pitchFamily="34" charset="0"/>
                <a:ea typeface="Calibri" pitchFamily="34" charset="-122"/>
                <a:cs typeface="Calibri" pitchFamily="34" charset="-120"/>
              </a:rPr>
              <a:t>Controller</a:t>
            </a:r>
            <a:endParaRPr lang="en-US" sz="1600" dirty="0"/>
          </a:p>
        </p:txBody>
      </p:sp>
      <p:sp>
        <p:nvSpPr>
          <p:cNvPr id="18" name="Text 15"/>
          <p:cNvSpPr txBox="1"/>
          <p:nvPr/>
        </p:nvSpPr>
        <p:spPr>
          <a:xfrm>
            <a:off x="3931920" y="1783080"/>
            <a:ext cx="1325880" cy="228600"/>
          </a:xfrm>
          <a:prstGeom prst="rect">
            <a:avLst/>
          </a:prstGeom>
          <a:noFill/>
          <a:ln/>
        </p:spPr>
        <p:txBody>
          <a:bodyPr wrap="square" lIns="0" tIns="0" rIns="0" bIns="0" rtlCol="0" anchor="ctr"/>
          <a:lstStyle/>
          <a:p>
            <a:pPr marL="0" indent="0" algn="ctr">
              <a:buNone/>
            </a:pPr>
            <a:r>
              <a:rPr lang="en-US" sz="850" b="1" kern="0" spc="150" dirty="0">
                <a:solidFill>
                  <a:srgbClr val="6B7785"/>
                </a:solidFill>
                <a:latin typeface="Calibri" pitchFamily="34" charset="0"/>
                <a:ea typeface="Calibri" pitchFamily="34" charset="-122"/>
                <a:cs typeface="Calibri" pitchFamily="34" charset="-120"/>
              </a:rPr>
              <a:t>OPTIONAL</a:t>
            </a:r>
            <a:endParaRPr lang="en-US" sz="850" dirty="0"/>
          </a:p>
        </p:txBody>
      </p:sp>
      <p:sp>
        <p:nvSpPr>
          <p:cNvPr id="19" name="Text 16"/>
          <p:cNvSpPr txBox="1"/>
          <p:nvPr/>
        </p:nvSpPr>
        <p:spPr>
          <a:xfrm>
            <a:off x="3931920" y="2103120"/>
            <a:ext cx="1325880" cy="1463040"/>
          </a:xfrm>
          <a:prstGeom prst="rect">
            <a:avLst/>
          </a:prstGeom>
          <a:noFill/>
          <a:ln/>
        </p:spPr>
        <p:txBody>
          <a:bodyPr wrap="square" lIns="0" tIns="0" rIns="0" bIns="0" rtlCol="0" anchor="t"/>
          <a:lstStyle/>
          <a:p>
            <a:pPr marL="0" indent="0" algn="ctr">
              <a:buNone/>
            </a:pPr>
            <a:r>
              <a:rPr lang="en-US" sz="950" dirty="0">
                <a:solidFill>
                  <a:srgbClr val="6B7785"/>
                </a:solidFill>
                <a:latin typeface="Courier New" pitchFamily="34" charset="0"/>
                <a:ea typeface="Courier New" pitchFamily="34" charset="-122"/>
                <a:cs typeface="Courier New" pitchFamily="34" charset="-120"/>
              </a:rPr>
              <a:t>app/</a:t>
            </a:r>
            <a:r>
              <a:rPr lang="en-US" sz="950">
                <a:solidFill>
                  <a:srgbClr val="6B7785"/>
                </a:solidFill>
                <a:latin typeface="Courier New" pitchFamily="34" charset="0"/>
                <a:ea typeface="Courier New" pitchFamily="34" charset="-122"/>
                <a:cs typeface="Courier New" pitchFamily="34" charset="-120"/>
              </a:rPr>
              <a:t>controllers/</a:t>
            </a:r>
            <a:br>
              <a:rPr lang="en-US" sz="950">
                <a:solidFill>
                  <a:srgbClr val="6B7785"/>
                </a:solidFill>
                <a:latin typeface="Courier New" pitchFamily="34" charset="0"/>
                <a:ea typeface="Courier New" pitchFamily="34" charset="-122"/>
                <a:cs typeface="Courier New" pitchFamily="34" charset="-120"/>
              </a:rPr>
            </a:br>
            <a:r>
              <a:rPr lang="en-US" sz="950">
                <a:solidFill>
                  <a:srgbClr val="6B7785"/>
                </a:solidFill>
                <a:latin typeface="Courier New" pitchFamily="34" charset="0"/>
                <a:ea typeface="Courier New" pitchFamily="34" charset="-122"/>
                <a:cs typeface="Courier New" pitchFamily="34" charset="-120"/>
              </a:rPr>
              <a:t>Posts.cfc</a:t>
            </a:r>
            <a:br>
              <a:rPr lang="en-US" sz="1000">
                <a:solidFill>
                  <a:srgbClr val="6B7785"/>
                </a:solidFill>
                <a:latin typeface="Courier New" pitchFamily="34" charset="0"/>
                <a:ea typeface="Courier New" pitchFamily="34" charset="-122"/>
                <a:cs typeface="Courier New" pitchFamily="34" charset="-120"/>
              </a:rPr>
            </a:br>
            <a:endParaRPr lang="en-US" sz="1000" dirty="0"/>
          </a:p>
          <a:p>
            <a:pPr marL="0" indent="0" algn="ctr">
              <a:buNone/>
            </a:pPr>
            <a:r>
              <a:rPr lang="en-US" sz="950" dirty="0">
                <a:solidFill>
                  <a:srgbClr val="6B7785"/>
                </a:solidFill>
                <a:latin typeface="Courier New" pitchFamily="34" charset="0"/>
                <a:ea typeface="Courier New" pitchFamily="34" charset="-122"/>
                <a:cs typeface="Courier New" pitchFamily="34" charset="-120"/>
              </a:rPr>
              <a:t>post = model("Post").findByKey(params.key)</a:t>
            </a:r>
            <a:endParaRPr lang="en-US" sz="950" dirty="0"/>
          </a:p>
        </p:txBody>
      </p:sp>
      <p:sp>
        <p:nvSpPr>
          <p:cNvPr id="20" name="Text 17"/>
          <p:cNvSpPr txBox="1"/>
          <p:nvPr/>
        </p:nvSpPr>
        <p:spPr>
          <a:xfrm>
            <a:off x="5303520" y="2240280"/>
            <a:ext cx="274320" cy="365760"/>
          </a:xfrm>
          <a:prstGeom prst="rect">
            <a:avLst/>
          </a:prstGeom>
          <a:noFill/>
          <a:ln/>
        </p:spPr>
        <p:txBody>
          <a:bodyPr wrap="square" lIns="0" tIns="0" rIns="0" bIns="0" rtlCol="0" anchor="ctr"/>
          <a:lstStyle/>
          <a:p>
            <a:pPr marL="0" indent="0" algn="ctr">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21" name="Shape 18"/>
          <p:cNvSpPr/>
          <p:nvPr/>
        </p:nvSpPr>
        <p:spPr>
          <a:xfrm>
            <a:off x="5532120" y="1280160"/>
            <a:ext cx="1508760" cy="2377440"/>
          </a:xfrm>
          <a:prstGeom prst="roundRect">
            <a:avLst>
              <a:gd name="adj" fmla="val 4848"/>
            </a:avLst>
          </a:prstGeom>
          <a:solidFill>
            <a:srgbClr val="F3F5F7"/>
          </a:solidFill>
          <a:ln w="12700">
            <a:solidFill>
              <a:srgbClr val="F3F5F7"/>
            </a:solidFill>
            <a:prstDash val="solid"/>
          </a:ln>
        </p:spPr>
        <p:txBody>
          <a:bodyPr/>
          <a:lstStyle/>
          <a:p>
            <a:endParaRPr lang="en-US"/>
          </a:p>
        </p:txBody>
      </p:sp>
      <p:sp>
        <p:nvSpPr>
          <p:cNvPr id="22" name="Text 19"/>
          <p:cNvSpPr txBox="1"/>
          <p:nvPr/>
        </p:nvSpPr>
        <p:spPr>
          <a:xfrm>
            <a:off x="5623560" y="1417320"/>
            <a:ext cx="1325880" cy="365760"/>
          </a:xfrm>
          <a:prstGeom prst="rect">
            <a:avLst/>
          </a:prstGeom>
          <a:noFill/>
          <a:ln/>
        </p:spPr>
        <p:txBody>
          <a:bodyPr wrap="square" lIns="0" tIns="0" rIns="0" bIns="0" rtlCol="0" anchor="ctr"/>
          <a:lstStyle/>
          <a:p>
            <a:pPr marL="0" indent="0" algn="ctr">
              <a:buNone/>
            </a:pPr>
            <a:r>
              <a:rPr lang="en-US" sz="1600" b="1" dirty="0">
                <a:solidFill>
                  <a:srgbClr val="1A2430"/>
                </a:solidFill>
                <a:latin typeface="Calibri" pitchFamily="34" charset="0"/>
                <a:ea typeface="Calibri" pitchFamily="34" charset="-122"/>
                <a:cs typeface="Calibri" pitchFamily="34" charset="-120"/>
              </a:rPr>
              <a:t>Model</a:t>
            </a:r>
            <a:endParaRPr lang="en-US" sz="1600" dirty="0"/>
          </a:p>
        </p:txBody>
      </p:sp>
      <p:sp>
        <p:nvSpPr>
          <p:cNvPr id="23" name="Text 20"/>
          <p:cNvSpPr txBox="1"/>
          <p:nvPr/>
        </p:nvSpPr>
        <p:spPr>
          <a:xfrm>
            <a:off x="5623560" y="1783080"/>
            <a:ext cx="1325880" cy="228600"/>
          </a:xfrm>
          <a:prstGeom prst="rect">
            <a:avLst/>
          </a:prstGeom>
          <a:noFill/>
          <a:ln/>
        </p:spPr>
        <p:txBody>
          <a:bodyPr wrap="square" lIns="0" tIns="0" rIns="0" bIns="0" rtlCol="0" anchor="ctr"/>
          <a:lstStyle/>
          <a:p>
            <a:pPr marL="0" indent="0" algn="ctr">
              <a:buNone/>
            </a:pPr>
            <a:r>
              <a:rPr lang="en-US" sz="850" b="1" kern="0" spc="150" dirty="0">
                <a:solidFill>
                  <a:srgbClr val="6B7785"/>
                </a:solidFill>
                <a:latin typeface="Calibri" pitchFamily="34" charset="0"/>
                <a:ea typeface="Calibri" pitchFamily="34" charset="-122"/>
                <a:cs typeface="Calibri" pitchFamily="34" charset="-120"/>
              </a:rPr>
              <a:t>OPTIONAL</a:t>
            </a:r>
            <a:endParaRPr lang="en-US" sz="850" dirty="0"/>
          </a:p>
        </p:txBody>
      </p:sp>
      <p:sp>
        <p:nvSpPr>
          <p:cNvPr id="24" name="Text 21"/>
          <p:cNvSpPr txBox="1"/>
          <p:nvPr/>
        </p:nvSpPr>
        <p:spPr>
          <a:xfrm>
            <a:off x="5623560" y="2103120"/>
            <a:ext cx="1325880" cy="1463040"/>
          </a:xfrm>
          <a:prstGeom prst="rect">
            <a:avLst/>
          </a:prstGeom>
          <a:noFill/>
          <a:ln/>
        </p:spPr>
        <p:txBody>
          <a:bodyPr wrap="square" lIns="0" tIns="0" rIns="0" bIns="0" rtlCol="0" anchor="t"/>
          <a:lstStyle/>
          <a:p>
            <a:pPr marL="0" indent="0" algn="ctr">
              <a:buNone/>
            </a:pPr>
            <a:r>
              <a:rPr lang="en-US" sz="950" dirty="0">
                <a:solidFill>
                  <a:srgbClr val="6B7785"/>
                </a:solidFill>
                <a:latin typeface="Courier New" pitchFamily="34" charset="0"/>
                <a:ea typeface="Courier New" pitchFamily="34" charset="-122"/>
                <a:cs typeface="Courier New" pitchFamily="34" charset="-120"/>
              </a:rPr>
              <a:t>app/</a:t>
            </a:r>
            <a:r>
              <a:rPr lang="en-US" sz="950">
                <a:solidFill>
                  <a:srgbClr val="6B7785"/>
                </a:solidFill>
                <a:latin typeface="Courier New" pitchFamily="34" charset="0"/>
                <a:ea typeface="Courier New" pitchFamily="34" charset="-122"/>
                <a:cs typeface="Courier New" pitchFamily="34" charset="-120"/>
              </a:rPr>
              <a:t>models/</a:t>
            </a:r>
            <a:br>
              <a:rPr lang="en-US" sz="950">
                <a:solidFill>
                  <a:srgbClr val="6B7785"/>
                </a:solidFill>
                <a:latin typeface="Courier New" pitchFamily="34" charset="0"/>
                <a:ea typeface="Courier New" pitchFamily="34" charset="-122"/>
                <a:cs typeface="Courier New" pitchFamily="34" charset="-120"/>
              </a:rPr>
            </a:br>
            <a:r>
              <a:rPr lang="en-US" sz="950">
                <a:solidFill>
                  <a:srgbClr val="6B7785"/>
                </a:solidFill>
                <a:latin typeface="Courier New" pitchFamily="34" charset="0"/>
                <a:ea typeface="Courier New" pitchFamily="34" charset="-122"/>
                <a:cs typeface="Courier New" pitchFamily="34" charset="-120"/>
              </a:rPr>
              <a:t>Post.cfc</a:t>
            </a:r>
            <a:br>
              <a:rPr lang="en-US" sz="950">
                <a:solidFill>
                  <a:srgbClr val="6B7785"/>
                </a:solidFill>
                <a:latin typeface="Courier New" pitchFamily="34" charset="0"/>
                <a:ea typeface="Courier New" pitchFamily="34" charset="-122"/>
                <a:cs typeface="Courier New" pitchFamily="34" charset="-120"/>
              </a:rPr>
            </a:br>
            <a:endParaRPr lang="en-US" sz="950" dirty="0"/>
          </a:p>
          <a:p>
            <a:pPr marL="0" indent="0" algn="ctr">
              <a:buNone/>
            </a:pPr>
            <a:r>
              <a:rPr lang="en-US" sz="950" dirty="0">
                <a:solidFill>
                  <a:srgbClr val="6B7785"/>
                </a:solidFill>
                <a:latin typeface="Courier New" pitchFamily="34" charset="0"/>
                <a:ea typeface="Courier New" pitchFamily="34" charset="-122"/>
                <a:cs typeface="Courier New" pitchFamily="34" charset="-120"/>
              </a:rPr>
              <a:t>SQL generated, every value a cfqueryparam</a:t>
            </a:r>
            <a:endParaRPr lang="en-US" sz="950" dirty="0"/>
          </a:p>
        </p:txBody>
      </p:sp>
      <p:sp>
        <p:nvSpPr>
          <p:cNvPr id="25" name="Text 22"/>
          <p:cNvSpPr txBox="1"/>
          <p:nvPr/>
        </p:nvSpPr>
        <p:spPr>
          <a:xfrm>
            <a:off x="6995160" y="2240280"/>
            <a:ext cx="274320" cy="365760"/>
          </a:xfrm>
          <a:prstGeom prst="rect">
            <a:avLst/>
          </a:prstGeom>
          <a:noFill/>
          <a:ln/>
        </p:spPr>
        <p:txBody>
          <a:bodyPr wrap="square" lIns="0" tIns="0" rIns="0" bIns="0" rtlCol="0" anchor="ctr"/>
          <a:lstStyle/>
          <a:p>
            <a:pPr marL="0" indent="0" algn="ctr">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26" name="Shape 23"/>
          <p:cNvSpPr/>
          <p:nvPr/>
        </p:nvSpPr>
        <p:spPr>
          <a:xfrm>
            <a:off x="7223760" y="1280160"/>
            <a:ext cx="1508760" cy="2377440"/>
          </a:xfrm>
          <a:prstGeom prst="roundRect">
            <a:avLst>
              <a:gd name="adj" fmla="val 4848"/>
            </a:avLst>
          </a:prstGeom>
          <a:solidFill>
            <a:srgbClr val="0C1620"/>
          </a:solidFill>
          <a:ln w="12700">
            <a:solidFill>
              <a:srgbClr val="0C1620"/>
            </a:solidFill>
            <a:prstDash val="solid"/>
          </a:ln>
        </p:spPr>
        <p:txBody>
          <a:bodyPr/>
          <a:lstStyle/>
          <a:p>
            <a:endParaRPr lang="en-US"/>
          </a:p>
        </p:txBody>
      </p:sp>
      <p:sp>
        <p:nvSpPr>
          <p:cNvPr id="27" name="Text 24"/>
          <p:cNvSpPr txBox="1"/>
          <p:nvPr/>
        </p:nvSpPr>
        <p:spPr>
          <a:xfrm>
            <a:off x="7315200" y="1417320"/>
            <a:ext cx="13258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View</a:t>
            </a:r>
            <a:endParaRPr lang="en-US" sz="1600" dirty="0"/>
          </a:p>
        </p:txBody>
      </p:sp>
      <p:sp>
        <p:nvSpPr>
          <p:cNvPr id="28" name="Text 25"/>
          <p:cNvSpPr txBox="1"/>
          <p:nvPr/>
        </p:nvSpPr>
        <p:spPr>
          <a:xfrm>
            <a:off x="7315200" y="1783080"/>
            <a:ext cx="1325880" cy="228600"/>
          </a:xfrm>
          <a:prstGeom prst="rect">
            <a:avLst/>
          </a:prstGeom>
          <a:noFill/>
          <a:ln/>
        </p:spPr>
        <p:txBody>
          <a:bodyPr wrap="square" lIns="0" tIns="0" rIns="0" bIns="0" rtlCol="0" anchor="ctr"/>
          <a:lstStyle/>
          <a:p>
            <a:pPr marL="0" indent="0" algn="ctr">
              <a:buNone/>
            </a:pPr>
            <a:r>
              <a:rPr lang="en-US" sz="850" b="1" kern="0" spc="150" dirty="0">
                <a:solidFill>
                  <a:srgbClr val="EF3B2D"/>
                </a:solidFill>
                <a:latin typeface="Calibri" pitchFamily="34" charset="0"/>
                <a:ea typeface="Calibri" pitchFamily="34" charset="-122"/>
                <a:cs typeface="Calibri" pitchFamily="34" charset="-120"/>
              </a:rPr>
              <a:t>YOU WRITE</a:t>
            </a:r>
            <a:endParaRPr lang="en-US" sz="850" dirty="0"/>
          </a:p>
        </p:txBody>
      </p:sp>
      <p:sp>
        <p:nvSpPr>
          <p:cNvPr id="29" name="Text 26"/>
          <p:cNvSpPr txBox="1"/>
          <p:nvPr/>
        </p:nvSpPr>
        <p:spPr>
          <a:xfrm>
            <a:off x="7315200" y="2103120"/>
            <a:ext cx="1325880" cy="1463040"/>
          </a:xfrm>
          <a:prstGeom prst="rect">
            <a:avLst/>
          </a:prstGeom>
          <a:noFill/>
          <a:ln/>
        </p:spPr>
        <p:txBody>
          <a:bodyPr wrap="square" lIns="0" tIns="0" rIns="0" bIns="0" rtlCol="0" anchor="t"/>
          <a:lstStyle/>
          <a:p>
            <a:pPr marL="0" indent="0" algn="ctr">
              <a:buNone/>
            </a:pPr>
            <a:r>
              <a:rPr lang="en-US" sz="950" dirty="0">
                <a:solidFill>
                  <a:srgbClr val="C9D3DD"/>
                </a:solidFill>
                <a:latin typeface="Courier New" pitchFamily="34" charset="0"/>
                <a:ea typeface="Courier New" pitchFamily="34" charset="-122"/>
                <a:cs typeface="Courier New" pitchFamily="34" charset="-120"/>
              </a:rPr>
              <a:t>app/views/</a:t>
            </a:r>
            <a:r>
              <a:rPr lang="en-US" sz="950">
                <a:solidFill>
                  <a:srgbClr val="C9D3DD"/>
                </a:solidFill>
                <a:latin typeface="Courier New" pitchFamily="34" charset="0"/>
                <a:ea typeface="Courier New" pitchFamily="34" charset="-122"/>
                <a:cs typeface="Courier New" pitchFamily="34" charset="-120"/>
              </a:rPr>
              <a:t>posts/</a:t>
            </a:r>
            <a:br>
              <a:rPr lang="en-US" sz="950">
                <a:solidFill>
                  <a:srgbClr val="C9D3DD"/>
                </a:solidFill>
                <a:latin typeface="Courier New" pitchFamily="34" charset="0"/>
                <a:ea typeface="Courier New" pitchFamily="34" charset="-122"/>
                <a:cs typeface="Courier New" pitchFamily="34" charset="-120"/>
              </a:rPr>
            </a:br>
            <a:r>
              <a:rPr lang="en-US" sz="950">
                <a:solidFill>
                  <a:srgbClr val="C9D3DD"/>
                </a:solidFill>
                <a:latin typeface="Courier New" pitchFamily="34" charset="0"/>
                <a:ea typeface="Courier New" pitchFamily="34" charset="-122"/>
                <a:cs typeface="Courier New" pitchFamily="34" charset="-120"/>
              </a:rPr>
              <a:t>show</a:t>
            </a:r>
            <a:r>
              <a:rPr lang="en-US" sz="950" dirty="0">
                <a:solidFill>
                  <a:srgbClr val="C9D3DD"/>
                </a:solidFill>
                <a:latin typeface="Courier New" pitchFamily="34" charset="0"/>
                <a:ea typeface="Courier New" pitchFamily="34" charset="-122"/>
                <a:cs typeface="Courier New" pitchFamily="34" charset="-120"/>
              </a:rPr>
              <a:t>.cfm</a:t>
            </a:r>
            <a:endParaRPr lang="en-US" sz="950" dirty="0"/>
          </a:p>
          <a:p>
            <a:pPr marL="0" indent="0" algn="ctr">
              <a:buNone/>
            </a:pPr>
            <a:r>
              <a:rPr lang="en-US" sz="950" dirty="0">
                <a:solidFill>
                  <a:srgbClr val="C9D3DD"/>
                </a:solidFill>
                <a:latin typeface="Courier New" pitchFamily="34" charset="0"/>
                <a:ea typeface="Courier New" pitchFamily="34" charset="-122"/>
                <a:cs typeface="Courier New" pitchFamily="34" charset="-120"/>
              </a:rPr>
              <a:t>+ layout → HTML (or JSON)</a:t>
            </a:r>
            <a:endParaRPr lang="en-US" sz="950" dirty="0"/>
          </a:p>
        </p:txBody>
      </p:sp>
      <p:sp>
        <p:nvSpPr>
          <p:cNvPr id="30" name="Text 27"/>
          <p:cNvSpPr txBox="1"/>
          <p:nvPr/>
        </p:nvSpPr>
        <p:spPr>
          <a:xfrm>
            <a:off x="457200" y="3840480"/>
            <a:ext cx="8229600" cy="8229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1A2430"/>
                </a:solidFill>
                <a:latin typeface="Calibri" pitchFamily="34" charset="0"/>
                <a:ea typeface="Calibri" pitchFamily="34" charset="-122"/>
                <a:cs typeface="Calibri" pitchFamily="34" charset="-120"/>
              </a:rPr>
              <a:t>A route and a view are a complete page. No controller file? Wheels supplies a default one. No model? The view just renders. Controllers and models appear when you have logic or data to put in them.</a:t>
            </a:r>
            <a:endParaRPr lang="en-US" sz="1250" dirty="0"/>
          </a:p>
          <a:p>
            <a:pPr marL="177800" indent="-177800">
              <a:spcAft>
                <a:spcPts val="400"/>
              </a:spcAft>
              <a:buSzPct val="100000"/>
              <a:buChar char="•"/>
            </a:pPr>
            <a:r>
              <a:rPr lang="en-US" sz="1250" dirty="0">
                <a:solidFill>
                  <a:srgbClr val="1A2430"/>
                </a:solidFill>
                <a:latin typeface="Calibri" pitchFamily="34" charset="0"/>
                <a:ea typeface="Calibri" pitchFamily="34" charset="-122"/>
                <a:cs typeface="Calibri" pitchFamily="34" charset="-120"/>
              </a:rPr>
              <a:t>Everything else — URL parsing, the SQL, the layout, error pages, CSRF tokens, flash messages — is the framework's job. Same controller answers HTML, JSON or XML via renderWith().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Your code and the framework never mix</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PROJECT LAYOUT — NEW IN 3.0</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457200" y="1188720"/>
            <a:ext cx="3931920" cy="3383280"/>
          </a:xfrm>
          <a:prstGeom prst="roundRect">
            <a:avLst>
              <a:gd name="adj" fmla="val 2162"/>
            </a:avLst>
          </a:prstGeom>
          <a:solidFill>
            <a:srgbClr val="16232F"/>
          </a:solidFill>
          <a:ln w="12700">
            <a:solidFill>
              <a:srgbClr val="16232F"/>
            </a:solidFill>
            <a:prstDash val="solid"/>
          </a:ln>
        </p:spPr>
        <p:txBody>
          <a:bodyPr/>
          <a:lstStyle/>
          <a:p>
            <a:endParaRPr lang="en-US"/>
          </a:p>
        </p:txBody>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508760"/>
            <a:ext cx="3566160" cy="2971800"/>
          </a:xfrm>
          <a:prstGeom prst="rect">
            <a:avLst/>
          </a:prstGeom>
          <a:noFill/>
          <a:ln/>
        </p:spPr>
        <p:txBody>
          <a:bodyPr wrap="square" lIns="0" tIns="0" rIns="0" bIns="0" rtlCol="0" anchor="t"/>
          <a:lstStyle/>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myapp/</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EF3B2D"/>
                </a:solidFill>
                <a:latin typeface="Courier New" pitchFamily="34" charset="0"/>
                <a:ea typeface="Courier New" pitchFamily="34" charset="-122"/>
                <a:cs typeface="Courier New" pitchFamily="34" charset="-120"/>
              </a:rPr>
              <a:t>app/</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9AA7B4"/>
                </a:solidFill>
                <a:latin typeface="Courier New" pitchFamily="34" charset="0"/>
                <a:ea typeface="Courier New" pitchFamily="34" charset="-122"/>
                <a:cs typeface="Courier New" pitchFamily="34" charset="-120"/>
              </a:rPr>
              <a:t>← yours</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 controllers/</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 models/</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 views/</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 policies/</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 migrator/migrations/</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EF3B2D"/>
                </a:solidFill>
                <a:latin typeface="Courier New" pitchFamily="34" charset="0"/>
                <a:ea typeface="Courier New" pitchFamily="34" charset="-122"/>
                <a:cs typeface="Courier New" pitchFamily="34" charset="-120"/>
              </a:rPr>
              <a:t>config/</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9AA7B4"/>
                </a:solidFill>
                <a:latin typeface="Courier New" pitchFamily="34" charset="0"/>
                <a:ea typeface="Courier New" pitchFamily="34" charset="-122"/>
                <a:cs typeface="Courier New" pitchFamily="34" charset="-120"/>
              </a:rPr>
              <a:t>← routes, settings</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db/              </a:t>
            </a:r>
            <a:r>
              <a:rPr lang="en-US" sz="1150" dirty="0">
                <a:solidFill>
                  <a:srgbClr val="9AA7B4"/>
                </a:solidFill>
                <a:latin typeface="Courier New" pitchFamily="34" charset="0"/>
                <a:ea typeface="Courier New" pitchFamily="34" charset="-122"/>
                <a:cs typeface="Courier New" pitchFamily="34" charset="-120"/>
              </a:rPr>
              <a:t>← SQLite by default</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r>
              <a:rPr lang="en-US" sz="1150" b="1" dirty="0">
                <a:solidFill>
                  <a:srgbClr val="E6EDF3"/>
                </a:solidFill>
                <a:latin typeface="Courier New" pitchFamily="34" charset="0"/>
                <a:ea typeface="Courier New" pitchFamily="34" charset="-122"/>
                <a:cs typeface="Courier New" pitchFamily="34" charset="-120"/>
              </a:rPr>
              <a:t>public/</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9AA7B4"/>
                </a:solidFill>
                <a:latin typeface="Courier New" pitchFamily="34" charset="0"/>
                <a:ea typeface="Courier New" pitchFamily="34" charset="-122"/>
                <a:cs typeface="Courier New" pitchFamily="34" charset="-120"/>
              </a:rPr>
              <a:t>← web root</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tests/specs/     </a:t>
            </a:r>
            <a:r>
              <a:rPr lang="en-US" sz="1150" dirty="0">
                <a:solidFill>
                  <a:srgbClr val="9AA7B4"/>
                </a:solidFill>
                <a:latin typeface="Courier New" pitchFamily="34" charset="0"/>
                <a:ea typeface="Courier New" pitchFamily="34" charset="-122"/>
                <a:cs typeface="Courier New" pitchFamily="34" charset="-120"/>
              </a:rPr>
              <a:t>← WheelsTest</a:t>
            </a:r>
            <a:endParaRPr lang="en-US" sz="1150" dirty="0"/>
          </a:p>
          <a:p>
            <a:pPr marL="0" indent="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9AA7B4"/>
                </a:solidFill>
                <a:latin typeface="Courier New" pitchFamily="34" charset="0"/>
                <a:ea typeface="Courier New" pitchFamily="34" charset="-122"/>
                <a:cs typeface="Courier New" pitchFamily="34" charset="-120"/>
              </a:rPr>
              <a:t>vendor/wheels/</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9AA7B4"/>
                </a:solidFill>
                <a:latin typeface="Courier New" pitchFamily="34" charset="0"/>
                <a:ea typeface="Courier New" pitchFamily="34" charset="-122"/>
                <a:cs typeface="Courier New" pitchFamily="34" charset="-120"/>
              </a:rPr>
              <a:t>← the framework</a:t>
            </a:r>
            <a:endParaRPr lang="en-US" sz="1150" dirty="0"/>
          </a:p>
        </p:txBody>
      </p:sp>
      <p:sp>
        <p:nvSpPr>
          <p:cNvPr id="12" name="Text 9"/>
          <p:cNvSpPr txBox="1"/>
          <p:nvPr/>
        </p:nvSpPr>
        <p:spPr>
          <a:xfrm>
            <a:off x="4663440" y="1188720"/>
            <a:ext cx="4023360" cy="338328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Framework core lives in vendor/wheels. Upgrading is replacing one directory — no diffing your app against the new release.</a:t>
            </a:r>
            <a:endParaRPr lang="en-US" sz="1300" dirty="0"/>
          </a:p>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Web root is public/ — models, config and tests are not reachable from a URL.</a:t>
            </a:r>
            <a:endParaRPr lang="en-US" sz="1300" dirty="0"/>
          </a:p>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Migrations are versioned CFCs in your repo. Schema travels with code.</a:t>
            </a:r>
            <a:endParaRPr lang="en-US" sz="1300" dirty="0"/>
          </a:p>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Environments: development / testing / production, each with its own settings file and datasource.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The model layer in one screen</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ORM, QUERY BUILDER, MIGRATIONS</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457200" y="1188720"/>
            <a:ext cx="5120640" cy="3383280"/>
          </a:xfrm>
          <a:prstGeom prst="roundRect">
            <a:avLst>
              <a:gd name="adj" fmla="val 2162"/>
            </a:avLst>
          </a:prstGeom>
          <a:solidFill>
            <a:srgbClr val="16232F"/>
          </a:solidFill>
          <a:ln w="12700">
            <a:solidFill>
              <a:srgbClr val="16232F"/>
            </a:solidFill>
            <a:prstDash val="solid"/>
          </a:ln>
        </p:spPr>
        <p:txBody>
          <a:bodyPr/>
          <a:lstStyle/>
          <a:p>
            <a:endParaRPr lang="en-US"/>
          </a:p>
        </p:txBody>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508760"/>
            <a:ext cx="4754880" cy="2971800"/>
          </a:xfrm>
          <a:prstGeom prst="rect">
            <a:avLst/>
          </a:prstGeom>
          <a:noFill/>
          <a:ln/>
        </p:spPr>
        <p:txBody>
          <a:bodyPr wrap="square" lIns="0" tIns="0" rIns="0" bIns="0" rtlCol="0" anchor="t"/>
          <a:lstStyle/>
          <a:p>
            <a:pPr marL="0" indent="0">
              <a:lnSpc>
                <a:spcPct val="115000"/>
              </a:lnSpc>
              <a:buNone/>
            </a:pPr>
            <a:r>
              <a:rPr lang="en-US" sz="1050" dirty="0">
                <a:solidFill>
                  <a:srgbClr val="9AA7B4"/>
                </a:solidFill>
                <a:latin typeface="Courier New" pitchFamily="34" charset="0"/>
                <a:ea typeface="Courier New" pitchFamily="34" charset="-122"/>
                <a:cs typeface="Courier New" pitchFamily="34" charset="-120"/>
              </a:rPr>
              <a:t>// finders</a:t>
            </a:r>
            <a:endParaRPr lang="en-US" sz="1050" dirty="0"/>
          </a:p>
          <a:p>
            <a:pPr marL="0" indent="0">
              <a:lnSpc>
                <a:spcPct val="115000"/>
              </a:lnSpc>
              <a:buNone/>
            </a:pPr>
            <a:r>
              <a:rPr lang="en-US" sz="1050" dirty="0">
                <a:solidFill>
                  <a:srgbClr val="E6EDF3"/>
                </a:solidFill>
                <a:latin typeface="Courier New" pitchFamily="34" charset="0"/>
                <a:ea typeface="Courier New" pitchFamily="34" charset="-122"/>
                <a:cs typeface="Courier New" pitchFamily="34" charset="-120"/>
              </a:rPr>
              <a:t>post  = model(</a:t>
            </a:r>
            <a:r>
              <a:rPr lang="en-US" sz="1050" dirty="0">
                <a:solidFill>
                  <a:srgbClr val="3DDC84"/>
                </a:solidFill>
                <a:latin typeface="Courier New" pitchFamily="34" charset="0"/>
                <a:ea typeface="Courier New" pitchFamily="34" charset="-122"/>
                <a:cs typeface="Courier New" pitchFamily="34" charset="-120"/>
              </a:rPr>
              <a:t>"Post"</a:t>
            </a:r>
            <a:r>
              <a:rPr lang="en-US" sz="1050" dirty="0">
                <a:solidFill>
                  <a:srgbClr val="E6EDF3"/>
                </a:solidFill>
                <a:latin typeface="Courier New" pitchFamily="34" charset="0"/>
                <a:ea typeface="Courier New" pitchFamily="34" charset="-122"/>
                <a:cs typeface="Courier New" pitchFamily="34" charset="-120"/>
              </a:rPr>
              <a:t>).findByKey(42);</a:t>
            </a:r>
            <a:endParaRPr lang="en-US" sz="1050" dirty="0"/>
          </a:p>
          <a:p>
            <a:pPr marL="0" indent="0">
              <a:lnSpc>
                <a:spcPct val="115000"/>
              </a:lnSpc>
              <a:buNone/>
            </a:pPr>
            <a:r>
              <a:rPr lang="en-US" sz="1050" dirty="0">
                <a:solidFill>
                  <a:srgbClr val="E6EDF3"/>
                </a:solidFill>
                <a:latin typeface="Courier New" pitchFamily="34" charset="0"/>
                <a:ea typeface="Courier New" pitchFamily="34" charset="-122"/>
                <a:cs typeface="Courier New" pitchFamily="34" charset="-120"/>
              </a:rPr>
              <a:t>posts = model(</a:t>
            </a:r>
            <a:r>
              <a:rPr lang="en-US" sz="1050" dirty="0">
                <a:solidFill>
                  <a:srgbClr val="3DDC84"/>
                </a:solidFill>
                <a:latin typeface="Courier New" pitchFamily="34" charset="0"/>
                <a:ea typeface="Courier New" pitchFamily="34" charset="-122"/>
                <a:cs typeface="Courier New" pitchFamily="34" charset="-120"/>
              </a:rPr>
              <a:t>"Post"</a:t>
            </a:r>
            <a:r>
              <a:rPr lang="en-US" sz="1050" dirty="0">
                <a:solidFill>
                  <a:srgbClr val="E6EDF3"/>
                </a:solidFill>
                <a:latin typeface="Courier New" pitchFamily="34" charset="0"/>
                <a:ea typeface="Courier New" pitchFamily="34" charset="-122"/>
                <a:cs typeface="Courier New" pitchFamily="34" charset="-120"/>
              </a:rPr>
              <a:t>).findAll(where=</a:t>
            </a:r>
            <a:r>
              <a:rPr lang="en-US" sz="1050" dirty="0">
                <a:solidFill>
                  <a:srgbClr val="3DDC84"/>
                </a:solidFill>
                <a:latin typeface="Courier New" pitchFamily="34" charset="0"/>
                <a:ea typeface="Courier New" pitchFamily="34" charset="-122"/>
                <a:cs typeface="Courier New" pitchFamily="34" charset="-120"/>
              </a:rPr>
              <a:t>"body IS NOT NULL"</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15000"/>
              </a:lnSpc>
              <a:buNone/>
            </a:pPr>
            <a:r>
              <a:rPr lang="en-US" sz="1050" dirty="0">
                <a:solidFill>
                  <a:srgbClr val="E6EDF3"/>
                </a:solidFill>
                <a:latin typeface="Courier New" pitchFamily="34" charset="0"/>
                <a:ea typeface="Courier New" pitchFamily="34" charset="-122"/>
                <a:cs typeface="Courier New" pitchFamily="34" charset="-120"/>
              </a:rPr>
              <a:t>    order=</a:t>
            </a:r>
            <a:r>
              <a:rPr lang="en-US" sz="1050" dirty="0">
                <a:solidFill>
                  <a:srgbClr val="3DDC84"/>
                </a:solidFill>
                <a:latin typeface="Courier New" pitchFamily="34" charset="0"/>
                <a:ea typeface="Courier New" pitchFamily="34" charset="-122"/>
                <a:cs typeface="Courier New" pitchFamily="34" charset="-120"/>
              </a:rPr>
              <a:t>"publishedAt DESC"</a:t>
            </a:r>
            <a:r>
              <a:rPr lang="en-US" sz="1050" dirty="0">
                <a:solidFill>
                  <a:srgbClr val="E6EDF3"/>
                </a:solidFill>
                <a:latin typeface="Courier New" pitchFamily="34" charset="0"/>
                <a:ea typeface="Courier New" pitchFamily="34" charset="-122"/>
                <a:cs typeface="Courier New" pitchFamily="34" charset="-120"/>
              </a:rPr>
              <a:t>, include=</a:t>
            </a:r>
            <a:r>
              <a:rPr lang="en-US" sz="1050" dirty="0">
                <a:solidFill>
                  <a:srgbClr val="3DDC84"/>
                </a:solidFill>
                <a:latin typeface="Courier New" pitchFamily="34" charset="0"/>
                <a:ea typeface="Courier New" pitchFamily="34" charset="-122"/>
                <a:cs typeface="Courier New" pitchFamily="34" charset="-120"/>
              </a:rPr>
              <a:t>"comments"</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15000"/>
              </a:lnSpc>
              <a:buNone/>
            </a:pPr>
            <a:endParaRPr lang="en-US" sz="1050" dirty="0"/>
          </a:p>
          <a:p>
            <a:pPr marL="0" indent="0">
              <a:lnSpc>
                <a:spcPct val="115000"/>
              </a:lnSpc>
              <a:buNone/>
            </a:pPr>
            <a:r>
              <a:rPr lang="en-US" sz="1050" dirty="0">
                <a:solidFill>
                  <a:srgbClr val="9AA7B4"/>
                </a:solidFill>
                <a:latin typeface="Courier New" pitchFamily="34" charset="0"/>
                <a:ea typeface="Courier New" pitchFamily="34" charset="-122"/>
                <a:cs typeface="Courier New" pitchFamily="34" charset="-120"/>
              </a:rPr>
              <a:t>// chainable builder (4.x)</a:t>
            </a:r>
            <a:endParaRPr lang="en-US" sz="1050" dirty="0"/>
          </a:p>
          <a:p>
            <a:pPr marL="0" indent="0">
              <a:lnSpc>
                <a:spcPct val="115000"/>
              </a:lnSpc>
              <a:buNone/>
            </a:pPr>
            <a:r>
              <a:rPr lang="en-US" sz="1050" dirty="0">
                <a:solidFill>
                  <a:srgbClr val="E6EDF3"/>
                </a:solidFill>
                <a:latin typeface="Courier New" pitchFamily="34" charset="0"/>
                <a:ea typeface="Courier New" pitchFamily="34" charset="-122"/>
                <a:cs typeface="Courier New" pitchFamily="34" charset="-120"/>
              </a:rPr>
              <a:t>model(</a:t>
            </a:r>
            <a:r>
              <a:rPr lang="en-US" sz="1050" dirty="0">
                <a:solidFill>
                  <a:srgbClr val="3DDC84"/>
                </a:solidFill>
                <a:latin typeface="Courier New" pitchFamily="34" charset="0"/>
                <a:ea typeface="Courier New" pitchFamily="34" charset="-122"/>
                <a:cs typeface="Courier New" pitchFamily="34" charset="-120"/>
              </a:rPr>
              <a:t>"Post"</a:t>
            </a:r>
            <a:r>
              <a:rPr lang="en-US" sz="1050" dirty="0">
                <a:solidFill>
                  <a:srgbClr val="E6EDF3"/>
                </a:solidFill>
                <a:latin typeface="Courier New" pitchFamily="34" charset="0"/>
                <a:ea typeface="Courier New" pitchFamily="34" charset="-122"/>
                <a:cs typeface="Courier New" pitchFamily="34" charset="-120"/>
              </a:rPr>
              <a:t>).select(</a:t>
            </a:r>
            <a:r>
              <a:rPr lang="en-US" sz="1050" dirty="0">
                <a:solidFill>
                  <a:srgbClr val="3DDC84"/>
                </a:solidFill>
                <a:latin typeface="Courier New" pitchFamily="34" charset="0"/>
                <a:ea typeface="Courier New" pitchFamily="34" charset="-122"/>
                <a:cs typeface="Courier New" pitchFamily="34" charset="-120"/>
              </a:rPr>
              <a:t>"id,title"</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a:lnSpc>
                <a:spcPct val="115000"/>
              </a:lnSpc>
            </a:pPr>
            <a:r>
              <a:rPr lang="en-US" sz="1050">
                <a:solidFill>
                  <a:srgbClr val="E6EDF3"/>
                </a:solidFill>
                <a:latin typeface="Courier New" pitchFamily="34" charset="0"/>
                <a:ea typeface="Courier New" pitchFamily="34" charset="-122"/>
                <a:cs typeface="Courier New" pitchFamily="34" charset="-120"/>
              </a:rPr>
              <a:t>  .where(</a:t>
            </a:r>
            <a:r>
              <a:rPr lang="en-US" sz="1050">
                <a:solidFill>
                  <a:srgbClr val="3DDC84"/>
                </a:solidFill>
                <a:latin typeface="Courier New" pitchFamily="34" charset="0"/>
                <a:ea typeface="Courier New" pitchFamily="34" charset="-122"/>
                <a:cs typeface="Courier New" pitchFamily="34" charset="-120"/>
              </a:rPr>
              <a:t>"title"</a:t>
            </a:r>
            <a:r>
              <a:rPr lang="en-US" sz="1050">
                <a:solidFill>
                  <a:srgbClr val="E6EDF3"/>
                </a:solidFill>
                <a:latin typeface="Courier New" pitchFamily="34" charset="0"/>
                <a:ea typeface="Courier New" pitchFamily="34" charset="-122"/>
                <a:cs typeface="Courier New" pitchFamily="34" charset="-120"/>
              </a:rPr>
              <a:t>, </a:t>
            </a:r>
            <a:r>
              <a:rPr lang="en-US" sz="1050">
                <a:solidFill>
                  <a:srgbClr val="3DDC84"/>
                </a:solidFill>
                <a:latin typeface="Courier New" pitchFamily="34" charset="0"/>
                <a:ea typeface="Courier New" pitchFamily="34" charset="-122"/>
                <a:cs typeface="Courier New" pitchFamily="34" charset="-120"/>
              </a:rPr>
              <a:t>"LIKE"</a:t>
            </a:r>
            <a:r>
              <a:rPr lang="en-US" sz="1050">
                <a:solidFill>
                  <a:srgbClr val="E6EDF3"/>
                </a:solidFill>
                <a:latin typeface="Courier New" pitchFamily="34" charset="0"/>
                <a:ea typeface="Courier New" pitchFamily="34" charset="-122"/>
                <a:cs typeface="Courier New" pitchFamily="34" charset="-120"/>
              </a:rPr>
              <a:t>, </a:t>
            </a:r>
            <a:r>
              <a:rPr lang="en-US" sz="1050">
                <a:solidFill>
                  <a:srgbClr val="3DDC84"/>
                </a:solidFill>
                <a:latin typeface="Courier New" pitchFamily="34" charset="0"/>
                <a:ea typeface="Courier New" pitchFamily="34" charset="-122"/>
                <a:cs typeface="Courier New" pitchFamily="34" charset="-120"/>
              </a:rPr>
              <a:t>"%wheels%"</a:t>
            </a:r>
            <a:r>
              <a:rPr lang="en-US" sz="1050">
                <a:solidFill>
                  <a:srgbClr val="E6EDF3"/>
                </a:solidFill>
                <a:latin typeface="Courier New" pitchFamily="34" charset="0"/>
                <a:ea typeface="Courier New" pitchFamily="34" charset="-122"/>
                <a:cs typeface="Courier New" pitchFamily="34" charset="-120"/>
              </a:rPr>
              <a:t>)</a:t>
            </a:r>
          </a:p>
          <a:p>
            <a:pPr>
              <a:lnSpc>
                <a:spcPct val="115000"/>
              </a:lnSpc>
            </a:pPr>
            <a:r>
              <a:rPr lang="en-US" sz="1050">
                <a:solidFill>
                  <a:srgbClr val="E6EDF3"/>
                </a:solidFill>
                <a:latin typeface="Courier New" pitchFamily="34" charset="0"/>
                <a:cs typeface="Courier New" pitchFamily="34" charset="-120"/>
              </a:rPr>
              <a:t>  .orWhere</a:t>
            </a:r>
            <a:r>
              <a:rPr lang="en-US" sz="1050">
                <a:solidFill>
                  <a:srgbClr val="E6EDF3"/>
                </a:solidFill>
                <a:latin typeface="Courier New" pitchFamily="34" charset="0"/>
                <a:ea typeface="Courier New" pitchFamily="34" charset="-122"/>
                <a:cs typeface="Courier New" pitchFamily="34" charset="-120"/>
              </a:rPr>
              <a:t>(</a:t>
            </a:r>
            <a:r>
              <a:rPr lang="en-US" sz="1050">
                <a:solidFill>
                  <a:srgbClr val="3DDC84"/>
                </a:solidFill>
                <a:latin typeface="Courier New" pitchFamily="34" charset="0"/>
                <a:ea typeface="Courier New" pitchFamily="34" charset="-122"/>
                <a:cs typeface="Courier New" pitchFamily="34" charset="-120"/>
              </a:rPr>
              <a:t>"title"</a:t>
            </a:r>
            <a:r>
              <a:rPr lang="en-US" sz="1050">
                <a:solidFill>
                  <a:srgbClr val="E6EDF3"/>
                </a:solidFill>
                <a:latin typeface="Courier New" pitchFamily="34" charset="0"/>
                <a:ea typeface="Courier New" pitchFamily="34" charset="-122"/>
                <a:cs typeface="Courier New" pitchFamily="34" charset="-120"/>
              </a:rPr>
              <a:t>, </a:t>
            </a:r>
            <a:r>
              <a:rPr lang="en-US" sz="1050">
                <a:solidFill>
                  <a:srgbClr val="3DDC84"/>
                </a:solidFill>
                <a:latin typeface="Courier New" pitchFamily="34" charset="0"/>
                <a:ea typeface="Courier New" pitchFamily="34" charset="-122"/>
                <a:cs typeface="Courier New" pitchFamily="34" charset="-120"/>
              </a:rPr>
              <a:t>"LIKE"</a:t>
            </a:r>
            <a:r>
              <a:rPr lang="en-US" sz="1050">
                <a:solidFill>
                  <a:srgbClr val="E6EDF3"/>
                </a:solidFill>
                <a:latin typeface="Courier New" pitchFamily="34" charset="0"/>
                <a:ea typeface="Courier New" pitchFamily="34" charset="-122"/>
                <a:cs typeface="Courier New" pitchFamily="34" charset="-120"/>
              </a:rPr>
              <a:t>, </a:t>
            </a:r>
            <a:r>
              <a:rPr lang="en-US" sz="1050">
                <a:solidFill>
                  <a:srgbClr val="3DDC84"/>
                </a:solidFill>
                <a:latin typeface="Courier New" pitchFamily="34" charset="0"/>
                <a:ea typeface="Courier New" pitchFamily="34" charset="-122"/>
                <a:cs typeface="Courier New" pitchFamily="34" charset="-120"/>
              </a:rPr>
              <a:t>"%rails%"</a:t>
            </a:r>
            <a:r>
              <a:rPr lang="en-US" sz="1050">
                <a:solidFill>
                  <a:srgbClr val="E6EDF3"/>
                </a:solidFill>
                <a:latin typeface="Courier New" pitchFamily="34" charset="0"/>
                <a:ea typeface="Courier New" pitchFamily="34" charset="-122"/>
                <a:cs typeface="Courier New" pitchFamily="34" charset="-120"/>
              </a:rPr>
              <a:t>)        // OR</a:t>
            </a:r>
            <a:br>
              <a:rPr lang="en-US" sz="1050">
                <a:solidFill>
                  <a:srgbClr val="E6EDF3"/>
                </a:solidFill>
                <a:latin typeface="Courier New" pitchFamily="34" charset="0"/>
                <a:ea typeface="Courier New" pitchFamily="34" charset="-122"/>
                <a:cs typeface="Courier New" pitchFamily="34" charset="-120"/>
              </a:rPr>
            </a:br>
            <a:r>
              <a:rPr lang="en-US" sz="1050">
                <a:solidFill>
                  <a:srgbClr val="E6EDF3"/>
                </a:solidFill>
                <a:latin typeface="Courier New" pitchFamily="34" charset="0"/>
                <a:ea typeface="Courier New" pitchFamily="34" charset="-122"/>
                <a:cs typeface="Courier New" pitchFamily="34" charset="-120"/>
              </a:rPr>
              <a:t>  .where(</a:t>
            </a:r>
            <a:r>
              <a:rPr lang="en-US" sz="1050">
                <a:solidFill>
                  <a:srgbClr val="3DDC84"/>
                </a:solidFill>
                <a:latin typeface="Courier New" pitchFamily="34" charset="0"/>
                <a:ea typeface="Courier New" pitchFamily="34" charset="-122"/>
                <a:cs typeface="Courier New" pitchFamily="34" charset="-120"/>
              </a:rPr>
              <a:t>”publishedAt"</a:t>
            </a:r>
            <a:r>
              <a:rPr lang="en-US" sz="1050">
                <a:solidFill>
                  <a:srgbClr val="E6EDF3"/>
                </a:solidFill>
                <a:latin typeface="Courier New" pitchFamily="34" charset="0"/>
                <a:ea typeface="Courier New" pitchFamily="34" charset="-122"/>
                <a:cs typeface="Courier New" pitchFamily="34" charset="-120"/>
              </a:rPr>
              <a:t>, </a:t>
            </a:r>
            <a:r>
              <a:rPr lang="en-US" sz="1050">
                <a:solidFill>
                  <a:srgbClr val="3DDC84"/>
                </a:solidFill>
                <a:latin typeface="Courier New" pitchFamily="34" charset="0"/>
                <a:ea typeface="Courier New" pitchFamily="34" charset="-122"/>
                <a:cs typeface="Courier New" pitchFamily="34" charset="-120"/>
              </a:rPr>
              <a:t>”&gt;="</a:t>
            </a:r>
            <a:r>
              <a:rPr lang="en-US" sz="1050">
                <a:solidFill>
                  <a:srgbClr val="E6EDF3"/>
                </a:solidFill>
                <a:latin typeface="Courier New" pitchFamily="34" charset="0"/>
                <a:ea typeface="Courier New" pitchFamily="34" charset="-122"/>
                <a:cs typeface="Courier New" pitchFamily="34" charset="-120"/>
              </a:rPr>
              <a:t>, </a:t>
            </a:r>
            <a:r>
              <a:rPr lang="en-US" sz="1050">
                <a:solidFill>
                  <a:srgbClr val="3DDC84"/>
                </a:solidFill>
                <a:latin typeface="Courier New" pitchFamily="34" charset="0"/>
                <a:ea typeface="Courier New" pitchFamily="34" charset="-122"/>
                <a:cs typeface="Courier New" pitchFamily="34" charset="-120"/>
              </a:rPr>
              <a:t>lastWeekStart</a:t>
            </a:r>
            <a:r>
              <a:rPr lang="en-US" sz="1050">
                <a:solidFill>
                  <a:srgbClr val="E6EDF3"/>
                </a:solidFill>
                <a:latin typeface="Courier New" pitchFamily="34" charset="0"/>
                <a:ea typeface="Courier New" pitchFamily="34" charset="-122"/>
                <a:cs typeface="Courier New" pitchFamily="34" charset="-120"/>
              </a:rPr>
              <a:t>)  // AND</a:t>
            </a:r>
          </a:p>
          <a:p>
            <a:pPr>
              <a:lnSpc>
                <a:spcPct val="115000"/>
              </a:lnSpc>
            </a:pPr>
            <a:r>
              <a:rPr lang="en-US" sz="1050">
                <a:solidFill>
                  <a:srgbClr val="E6EDF3"/>
                </a:solidFill>
                <a:latin typeface="Courier New" pitchFamily="34" charset="0"/>
                <a:ea typeface="Courier New" pitchFamily="34" charset="-122"/>
                <a:cs typeface="Courier New" pitchFamily="34" charset="-120"/>
              </a:rPr>
              <a:t>  .</a:t>
            </a:r>
            <a:r>
              <a:rPr lang="en-US" sz="1050" dirty="0">
                <a:solidFill>
                  <a:srgbClr val="E6EDF3"/>
                </a:solidFill>
                <a:latin typeface="Courier New" pitchFamily="34" charset="0"/>
                <a:ea typeface="Courier New" pitchFamily="34" charset="-122"/>
                <a:cs typeface="Courier New" pitchFamily="34" charset="-120"/>
              </a:rPr>
              <a:t>orderBy(</a:t>
            </a:r>
            <a:r>
              <a:rPr lang="en-US" sz="1050" dirty="0">
                <a:solidFill>
                  <a:srgbClr val="3DDC84"/>
                </a:solidFill>
                <a:latin typeface="Courier New" pitchFamily="34" charset="0"/>
                <a:ea typeface="Courier New" pitchFamily="34" charset="-122"/>
                <a:cs typeface="Courier New" pitchFamily="34" charset="-120"/>
              </a:rPr>
              <a:t>"publishedAt"</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3DDC84"/>
                </a:solidFill>
                <a:latin typeface="Courier New" pitchFamily="34" charset="0"/>
                <a:ea typeface="Courier New" pitchFamily="34" charset="-122"/>
                <a:cs typeface="Courier New" pitchFamily="34" charset="-120"/>
              </a:rPr>
              <a:t>"DESC"</a:t>
            </a:r>
            <a:r>
              <a:rPr lang="en-US" sz="1050" dirty="0">
                <a:solidFill>
                  <a:srgbClr val="E6EDF3"/>
                </a:solidFill>
                <a:latin typeface="Courier New" pitchFamily="34" charset="0"/>
                <a:ea typeface="Courier New" pitchFamily="34" charset="-122"/>
                <a:cs typeface="Courier New" pitchFamily="34" charset="-120"/>
              </a:rPr>
              <a:t>).limit(10).get();</a:t>
            </a:r>
            <a:endParaRPr lang="en-US" sz="1050" dirty="0"/>
          </a:p>
          <a:p>
            <a:pPr marL="0" indent="0">
              <a:lnSpc>
                <a:spcPct val="115000"/>
              </a:lnSpc>
              <a:buNone/>
            </a:pPr>
            <a:endParaRPr lang="en-US" sz="1050" dirty="0"/>
          </a:p>
          <a:p>
            <a:pPr marL="0" indent="0">
              <a:lnSpc>
                <a:spcPct val="115000"/>
              </a:lnSpc>
              <a:buNone/>
            </a:pPr>
            <a:r>
              <a:rPr lang="en-US" sz="1050" dirty="0">
                <a:solidFill>
                  <a:srgbClr val="9AA7B4"/>
                </a:solidFill>
                <a:latin typeface="Courier New" pitchFamily="34" charset="0"/>
                <a:ea typeface="Courier New" pitchFamily="34" charset="-122"/>
                <a:cs typeface="Courier New" pitchFamily="34" charset="-120"/>
              </a:rPr>
              <a:t>// write path</a:t>
            </a:r>
            <a:endParaRPr lang="en-US" sz="1050" dirty="0"/>
          </a:p>
          <a:p>
            <a:pPr marL="0" indent="0">
              <a:lnSpc>
                <a:spcPct val="115000"/>
              </a:lnSpc>
              <a:buNone/>
            </a:pPr>
            <a:r>
              <a:rPr lang="en-US" sz="1050" dirty="0">
                <a:solidFill>
                  <a:srgbClr val="E6EDF3"/>
                </a:solidFill>
                <a:latin typeface="Courier New" pitchFamily="34" charset="0"/>
                <a:ea typeface="Courier New" pitchFamily="34" charset="-122"/>
                <a:cs typeface="Courier New" pitchFamily="34" charset="-120"/>
              </a:rPr>
              <a:t>post = model(</a:t>
            </a:r>
            <a:r>
              <a:rPr lang="en-US" sz="1050" dirty="0">
                <a:solidFill>
                  <a:srgbClr val="3DDC84"/>
                </a:solidFill>
                <a:latin typeface="Courier New" pitchFamily="34" charset="0"/>
                <a:ea typeface="Courier New" pitchFamily="34" charset="-122"/>
                <a:cs typeface="Courier New" pitchFamily="34" charset="-120"/>
              </a:rPr>
              <a:t>"Post"</a:t>
            </a:r>
            <a:r>
              <a:rPr lang="en-US" sz="1050" dirty="0">
                <a:solidFill>
                  <a:srgbClr val="E6EDF3"/>
                </a:solidFill>
                <a:latin typeface="Courier New" pitchFamily="34" charset="0"/>
                <a:ea typeface="Courier New" pitchFamily="34" charset="-122"/>
                <a:cs typeface="Courier New" pitchFamily="34" charset="-120"/>
              </a:rPr>
              <a:t>).new(params.post);</a:t>
            </a: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if</a:t>
            </a:r>
            <a:r>
              <a:rPr lang="en-US" sz="1050" dirty="0">
                <a:solidFill>
                  <a:srgbClr val="E6EDF3"/>
                </a:solidFill>
                <a:latin typeface="Courier New" pitchFamily="34" charset="0"/>
                <a:ea typeface="Courier New" pitchFamily="34" charset="-122"/>
                <a:cs typeface="Courier New" pitchFamily="34" charset="-120"/>
              </a:rPr>
              <a:t> (post.save()) redirectTo(route=</a:t>
            </a:r>
            <a:r>
              <a:rPr lang="en-US" sz="1050" dirty="0">
                <a:solidFill>
                  <a:srgbClr val="3DDC84"/>
                </a:solidFill>
                <a:latin typeface="Courier New" pitchFamily="34" charset="0"/>
                <a:ea typeface="Courier New" pitchFamily="34" charset="-122"/>
                <a:cs typeface="Courier New" pitchFamily="34" charset="-120"/>
              </a:rPr>
              <a:t>"post"</a:t>
            </a:r>
            <a:r>
              <a:rPr lang="en-US" sz="1050" dirty="0">
                <a:solidFill>
                  <a:srgbClr val="E6EDF3"/>
                </a:solidFill>
                <a:latin typeface="Courier New" pitchFamily="34" charset="0"/>
                <a:ea typeface="Courier New" pitchFamily="34" charset="-122"/>
                <a:cs typeface="Courier New" pitchFamily="34" charset="-120"/>
              </a:rPr>
              <a:t>, key=post.id);</a:t>
            </a: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else</a:t>
            </a:r>
            <a:r>
              <a:rPr lang="en-US" sz="1050" dirty="0">
                <a:solidFill>
                  <a:srgbClr val="E6EDF3"/>
                </a:solidFill>
                <a:latin typeface="Courier New" pitchFamily="34" charset="0"/>
                <a:ea typeface="Courier New" pitchFamily="34" charset="-122"/>
                <a:cs typeface="Courier New" pitchFamily="34" charset="-120"/>
              </a:rPr>
              <a:t>  renderView(</a:t>
            </a:r>
            <a:r>
              <a:rPr lang="en-US" sz="1050" dirty="0">
                <a:solidFill>
                  <a:srgbClr val="3DDC84"/>
                </a:solidFill>
                <a:latin typeface="Courier New" pitchFamily="34" charset="0"/>
                <a:ea typeface="Courier New" pitchFamily="34" charset="-122"/>
                <a:cs typeface="Courier New" pitchFamily="34" charset="-120"/>
              </a:rPr>
              <a:t>"new"</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AA7B4"/>
                </a:solidFill>
                <a:latin typeface="Courier New" pitchFamily="34" charset="0"/>
                <a:ea typeface="Courier New" pitchFamily="34" charset="-122"/>
                <a:cs typeface="Courier New" pitchFamily="34" charset="-120"/>
              </a:rPr>
              <a:t>// errors ride along</a:t>
            </a:r>
            <a:endParaRPr lang="en-US" sz="1050" dirty="0"/>
          </a:p>
        </p:txBody>
      </p:sp>
      <p:sp>
        <p:nvSpPr>
          <p:cNvPr id="12" name="Text 9"/>
          <p:cNvSpPr txBox="1"/>
          <p:nvPr/>
        </p:nvSpPr>
        <p:spPr>
          <a:xfrm>
            <a:off x="5852160" y="1188720"/>
            <a:ext cx="2834640" cy="274320"/>
          </a:xfrm>
          <a:prstGeom prst="rect">
            <a:avLst/>
          </a:prstGeom>
          <a:noFill/>
          <a:ln/>
        </p:spPr>
        <p:txBody>
          <a:bodyPr wrap="square" lIns="0" tIns="0" rIns="0" bIns="0" rtlCol="0" anchor="ctr"/>
          <a:lstStyle/>
          <a:p>
            <a:pPr marL="0" indent="0">
              <a:buNone/>
            </a:pPr>
            <a:r>
              <a:rPr lang="en-US" sz="1350" b="1" dirty="0">
                <a:solidFill>
                  <a:srgbClr val="1A2430"/>
                </a:solidFill>
                <a:latin typeface="Calibri" pitchFamily="34" charset="0"/>
                <a:ea typeface="Calibri" pitchFamily="34" charset="-122"/>
                <a:cs typeface="Calibri" pitchFamily="34" charset="-120"/>
              </a:rPr>
              <a:t>Every value is a cfqueryparam</a:t>
            </a:r>
            <a:endParaRPr lang="en-US" sz="1350" dirty="0"/>
          </a:p>
        </p:txBody>
      </p:sp>
      <p:sp>
        <p:nvSpPr>
          <p:cNvPr id="13" name="Text 10"/>
          <p:cNvSpPr txBox="1"/>
          <p:nvPr/>
        </p:nvSpPr>
        <p:spPr>
          <a:xfrm>
            <a:off x="5852160" y="1463040"/>
            <a:ext cx="2834640" cy="502920"/>
          </a:xfrm>
          <a:prstGeom prst="rect">
            <a:avLst/>
          </a:prstGeom>
          <a:noFill/>
          <a:ln/>
        </p:spPr>
        <p:txBody>
          <a:bodyPr wrap="square" lIns="0" tIns="0" rIns="0" bIns="0" rtlCol="0" anchor="t"/>
          <a:lstStyle/>
          <a:p>
            <a:pPr marL="0" indent="0">
              <a:buNone/>
            </a:pPr>
            <a:r>
              <a:rPr lang="en-US" sz="1100" dirty="0">
                <a:solidFill>
                  <a:srgbClr val="6B7785"/>
                </a:solidFill>
                <a:latin typeface="Calibri" pitchFamily="34" charset="0"/>
                <a:ea typeface="Calibri" pitchFamily="34" charset="-122"/>
                <a:cs typeface="Calibri" pitchFamily="34" charset="-120"/>
              </a:rPr>
              <a:t>You cannot accidentally write a SQL injection with the finder API.</a:t>
            </a:r>
            <a:endParaRPr lang="en-US" sz="1100" dirty="0"/>
          </a:p>
        </p:txBody>
      </p:sp>
      <p:sp>
        <p:nvSpPr>
          <p:cNvPr id="14" name="Text 11"/>
          <p:cNvSpPr txBox="1"/>
          <p:nvPr/>
        </p:nvSpPr>
        <p:spPr>
          <a:xfrm>
            <a:off x="5852160" y="2039112"/>
            <a:ext cx="2834640" cy="274320"/>
          </a:xfrm>
          <a:prstGeom prst="rect">
            <a:avLst/>
          </a:prstGeom>
          <a:noFill/>
          <a:ln/>
        </p:spPr>
        <p:txBody>
          <a:bodyPr wrap="square" lIns="0" tIns="0" rIns="0" bIns="0" rtlCol="0" anchor="ctr"/>
          <a:lstStyle/>
          <a:p>
            <a:pPr marL="0" indent="0">
              <a:buNone/>
            </a:pPr>
            <a:r>
              <a:rPr lang="en-US" sz="1350" b="1" dirty="0">
                <a:solidFill>
                  <a:srgbClr val="1A2430"/>
                </a:solidFill>
                <a:latin typeface="Calibri" pitchFamily="34" charset="0"/>
                <a:ea typeface="Calibri" pitchFamily="34" charset="-122"/>
                <a:cs typeface="Calibri" pitchFamily="34" charset="-120"/>
              </a:rPr>
              <a:t>Associations</a:t>
            </a:r>
            <a:endParaRPr lang="en-US" sz="1350" dirty="0"/>
          </a:p>
        </p:txBody>
      </p:sp>
      <p:sp>
        <p:nvSpPr>
          <p:cNvPr id="15" name="Text 12"/>
          <p:cNvSpPr txBox="1"/>
          <p:nvPr/>
        </p:nvSpPr>
        <p:spPr>
          <a:xfrm>
            <a:off x="5852160" y="2313432"/>
            <a:ext cx="2834640" cy="502920"/>
          </a:xfrm>
          <a:prstGeom prst="rect">
            <a:avLst/>
          </a:prstGeom>
          <a:noFill/>
          <a:ln/>
        </p:spPr>
        <p:txBody>
          <a:bodyPr wrap="square" lIns="0" tIns="0" rIns="0" bIns="0" rtlCol="0" anchor="t"/>
          <a:lstStyle/>
          <a:p>
            <a:r>
              <a:rPr lang="en-US" sz="1100">
                <a:solidFill>
                  <a:srgbClr val="6B7785"/>
                </a:solidFill>
                <a:latin typeface="Calibri" pitchFamily="34" charset="0"/>
                <a:ea typeface="Calibri" pitchFamily="34" charset="-122"/>
                <a:cs typeface="Calibri" pitchFamily="34" charset="-120"/>
              </a:rPr>
              <a:t>belongsTo · hasMany · </a:t>
            </a:r>
            <a:r>
              <a:rPr lang="en-US" sz="1100" dirty="0">
                <a:solidFill>
                  <a:srgbClr val="6B7785"/>
                </a:solidFill>
                <a:latin typeface="Calibri" pitchFamily="34" charset="0"/>
                <a:ea typeface="Calibri" pitchFamily="34" charset="-122"/>
                <a:cs typeface="Calibri" pitchFamily="34" charset="-120"/>
              </a:rPr>
              <a:t>hasOne, eager-loaded with include=</a:t>
            </a:r>
            <a:endParaRPr lang="en-US" sz="1100" dirty="0"/>
          </a:p>
        </p:txBody>
      </p:sp>
      <p:sp>
        <p:nvSpPr>
          <p:cNvPr id="16" name="Text 13"/>
          <p:cNvSpPr txBox="1"/>
          <p:nvPr/>
        </p:nvSpPr>
        <p:spPr>
          <a:xfrm>
            <a:off x="5852160" y="2889504"/>
            <a:ext cx="2834640" cy="274320"/>
          </a:xfrm>
          <a:prstGeom prst="rect">
            <a:avLst/>
          </a:prstGeom>
          <a:noFill/>
          <a:ln/>
        </p:spPr>
        <p:txBody>
          <a:bodyPr wrap="square" lIns="0" tIns="0" rIns="0" bIns="0" rtlCol="0" anchor="ctr"/>
          <a:lstStyle/>
          <a:p>
            <a:pPr marL="0" indent="0">
              <a:buNone/>
            </a:pPr>
            <a:r>
              <a:rPr lang="en-US" sz="1350" b="1" dirty="0">
                <a:solidFill>
                  <a:srgbClr val="1A2430"/>
                </a:solidFill>
                <a:latin typeface="Calibri" pitchFamily="34" charset="0"/>
                <a:ea typeface="Calibri" pitchFamily="34" charset="-122"/>
                <a:cs typeface="Calibri" pitchFamily="34" charset="-120"/>
              </a:rPr>
              <a:t>Validations &amp; callbacks</a:t>
            </a:r>
            <a:endParaRPr lang="en-US" sz="1350" dirty="0"/>
          </a:p>
        </p:txBody>
      </p:sp>
      <p:sp>
        <p:nvSpPr>
          <p:cNvPr id="17" name="Text 14"/>
          <p:cNvSpPr txBox="1"/>
          <p:nvPr/>
        </p:nvSpPr>
        <p:spPr>
          <a:xfrm>
            <a:off x="5852160" y="3163824"/>
            <a:ext cx="2834640" cy="502920"/>
          </a:xfrm>
          <a:prstGeom prst="rect">
            <a:avLst/>
          </a:prstGeom>
          <a:noFill/>
          <a:ln/>
        </p:spPr>
        <p:txBody>
          <a:bodyPr wrap="square" lIns="0" tIns="0" rIns="0" bIns="0" rtlCol="0" anchor="t"/>
          <a:lstStyle/>
          <a:p>
            <a:pPr marL="0" indent="0">
              <a:buNone/>
            </a:pPr>
            <a:r>
              <a:rPr lang="en-US" sz="1100" dirty="0">
                <a:solidFill>
                  <a:srgbClr val="6B7785"/>
                </a:solidFill>
                <a:latin typeface="Calibri" pitchFamily="34" charset="0"/>
                <a:ea typeface="Calibri" pitchFamily="34" charset="-122"/>
                <a:cs typeface="Calibri" pitchFamily="34" charset="-120"/>
              </a:rPr>
              <a:t>validatesPresenceOf, validatesUniquenessOf, beforeSave…</a:t>
            </a:r>
            <a:endParaRPr lang="en-US" sz="1100" dirty="0"/>
          </a:p>
        </p:txBody>
      </p:sp>
      <p:sp>
        <p:nvSpPr>
          <p:cNvPr id="18" name="Text 15"/>
          <p:cNvSpPr txBox="1"/>
          <p:nvPr/>
        </p:nvSpPr>
        <p:spPr>
          <a:xfrm>
            <a:off x="5852160" y="3739896"/>
            <a:ext cx="2834640" cy="274320"/>
          </a:xfrm>
          <a:prstGeom prst="rect">
            <a:avLst/>
          </a:prstGeom>
          <a:noFill/>
          <a:ln/>
        </p:spPr>
        <p:txBody>
          <a:bodyPr wrap="square" lIns="0" tIns="0" rIns="0" bIns="0" rtlCol="0" anchor="ctr"/>
          <a:lstStyle/>
          <a:p>
            <a:pPr marL="0" indent="0">
              <a:buNone/>
            </a:pPr>
            <a:r>
              <a:rPr lang="en-US" sz="1350" b="1" dirty="0">
                <a:solidFill>
                  <a:srgbClr val="1A2430"/>
                </a:solidFill>
                <a:latin typeface="Calibri" pitchFamily="34" charset="0"/>
                <a:ea typeface="Calibri" pitchFamily="34" charset="-122"/>
                <a:cs typeface="Calibri" pitchFamily="34" charset="-120"/>
              </a:rPr>
              <a:t>Migrations</a:t>
            </a:r>
            <a:endParaRPr lang="en-US" sz="1350" dirty="0"/>
          </a:p>
        </p:txBody>
      </p:sp>
      <p:sp>
        <p:nvSpPr>
          <p:cNvPr id="19" name="Text 16"/>
          <p:cNvSpPr txBox="1"/>
          <p:nvPr/>
        </p:nvSpPr>
        <p:spPr>
          <a:xfrm>
            <a:off x="5852160" y="4014216"/>
            <a:ext cx="2834640" cy="502920"/>
          </a:xfrm>
          <a:prstGeom prst="rect">
            <a:avLst/>
          </a:prstGeom>
          <a:noFill/>
          <a:ln/>
        </p:spPr>
        <p:txBody>
          <a:bodyPr wrap="square" lIns="0" tIns="0" rIns="0" bIns="0" rtlCol="0" anchor="t"/>
          <a:lstStyle/>
          <a:p>
            <a:pPr marL="0" indent="0">
              <a:buNone/>
            </a:pPr>
            <a:r>
              <a:rPr lang="en-US" sz="1100" dirty="0">
                <a:solidFill>
                  <a:srgbClr val="6B7785"/>
                </a:solidFill>
                <a:latin typeface="Calibri" pitchFamily="34" charset="0"/>
                <a:ea typeface="Calibri" pitchFamily="34" charset="-122"/>
                <a:cs typeface="Calibri" pitchFamily="34" charset="-120"/>
              </a:rPr>
              <a:t>wheels migrate latest — same schema on SQLite locally, SQL Server in prod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The CLI: one binary, no CommandBox</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NEW IN 4.0</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457200" y="1188720"/>
            <a:ext cx="4206240" cy="2651760"/>
          </a:xfrm>
          <a:prstGeom prst="roundRect">
            <a:avLst>
              <a:gd name="adj" fmla="val 2759"/>
            </a:avLst>
          </a:prstGeom>
          <a:solidFill>
            <a:srgbClr val="16232F"/>
          </a:solidFill>
          <a:ln w="12700">
            <a:solidFill>
              <a:srgbClr val="16232F"/>
            </a:solidFill>
            <a:prstDash val="solid"/>
          </a:ln>
        </p:spPr>
        <p:txBody>
          <a:bodyPr/>
          <a:lstStyle/>
          <a:p>
            <a:endParaRPr lang="en-US"/>
          </a:p>
        </p:txBody>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508760"/>
            <a:ext cx="3840480" cy="2240280"/>
          </a:xfrm>
          <a:prstGeom prst="rect">
            <a:avLst/>
          </a:prstGeom>
          <a:noFill/>
          <a:ln/>
        </p:spPr>
        <p:txBody>
          <a:bodyPr wrap="square" lIns="0" tIns="0" rIns="0" bIns="0" rtlCol="0" anchor="t"/>
          <a:lstStyle/>
          <a:p>
            <a:pPr marL="0" indent="0">
              <a:lnSpc>
                <a:spcPct val="115000"/>
              </a:lnSpc>
              <a:buNone/>
            </a:pPr>
            <a:r>
              <a:rPr lang="en-US" sz="1050" dirty="0">
                <a:solidFill>
                  <a:srgbClr val="9AA7B4"/>
                </a:solidFill>
                <a:latin typeface="Courier New" pitchFamily="34" charset="0"/>
                <a:ea typeface="Courier New" pitchFamily="34" charset="-122"/>
                <a:cs typeface="Courier New" pitchFamily="34" charset="-120"/>
              </a:rPr>
              <a:t># macOS &amp; Linux — Homebrew</a:t>
            </a: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r>
              <a:rPr lang="en-US" sz="1050" dirty="0">
                <a:solidFill>
                  <a:srgbClr val="E6EDF3"/>
                </a:solidFill>
                <a:latin typeface="Courier New" pitchFamily="34" charset="0"/>
                <a:ea typeface="Courier New" pitchFamily="34" charset="-122"/>
                <a:cs typeface="Courier New" pitchFamily="34" charset="-120"/>
              </a:rPr>
              <a:t>brew tap wheels-dev/wheels</a:t>
            </a: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r>
              <a:rPr lang="en-US" sz="1050" dirty="0">
                <a:solidFill>
                  <a:srgbClr val="E6EDF3"/>
                </a:solidFill>
                <a:latin typeface="Courier New" pitchFamily="34" charset="0"/>
                <a:ea typeface="Courier New" pitchFamily="34" charset="-122"/>
                <a:cs typeface="Courier New" pitchFamily="34" charset="-120"/>
              </a:rPr>
              <a:t>brew install wheels      </a:t>
            </a:r>
            <a:r>
              <a:rPr lang="en-US" sz="1050" dirty="0">
                <a:solidFill>
                  <a:srgbClr val="9AA7B4"/>
                </a:solidFill>
                <a:latin typeface="Courier New" pitchFamily="34" charset="0"/>
                <a:ea typeface="Courier New" pitchFamily="34" charset="-122"/>
                <a:cs typeface="Courier New" pitchFamily="34" charset="-120"/>
              </a:rPr>
              <a:t># stable</a:t>
            </a: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r>
              <a:rPr lang="en-US" sz="1050" dirty="0">
                <a:solidFill>
                  <a:srgbClr val="E6EDF3"/>
                </a:solidFill>
                <a:latin typeface="Courier New" pitchFamily="34" charset="0"/>
                <a:ea typeface="Courier New" pitchFamily="34" charset="-122"/>
                <a:cs typeface="Courier New" pitchFamily="34" charset="-120"/>
              </a:rPr>
              <a:t>brew install wheels-be   </a:t>
            </a:r>
            <a:r>
              <a:rPr lang="en-US" sz="1050" dirty="0">
                <a:solidFill>
                  <a:srgbClr val="9AA7B4"/>
                </a:solidFill>
                <a:latin typeface="Courier New" pitchFamily="34" charset="0"/>
                <a:ea typeface="Courier New" pitchFamily="34" charset="-122"/>
                <a:cs typeface="Courier New" pitchFamily="34" charset="-120"/>
              </a:rPr>
              <a:t># bleeding edge</a:t>
            </a:r>
            <a:endParaRPr lang="en-US" sz="1050" dirty="0"/>
          </a:p>
          <a:p>
            <a:pPr marL="0" indent="0">
              <a:lnSpc>
                <a:spcPct val="115000"/>
              </a:lnSpc>
              <a:buNone/>
            </a:pPr>
            <a:endParaRPr lang="en-US" sz="1050" dirty="0"/>
          </a:p>
          <a:p>
            <a:pPr marL="0" indent="0">
              <a:lnSpc>
                <a:spcPct val="115000"/>
              </a:lnSpc>
              <a:buNone/>
            </a:pPr>
            <a:r>
              <a:rPr lang="en-US" sz="1050" dirty="0">
                <a:solidFill>
                  <a:srgbClr val="9AA7B4"/>
                </a:solidFill>
                <a:latin typeface="Courier New" pitchFamily="34" charset="0"/>
                <a:ea typeface="Courier New" pitchFamily="34" charset="-122"/>
                <a:cs typeface="Courier New" pitchFamily="34" charset="-120"/>
              </a:rPr>
              <a:t># Windows — Scoop</a:t>
            </a: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r>
              <a:rPr lang="en-US" sz="1050" dirty="0">
                <a:solidFill>
                  <a:srgbClr val="E6EDF3"/>
                </a:solidFill>
                <a:latin typeface="Courier New" pitchFamily="34" charset="0"/>
                <a:ea typeface="Courier New" pitchFamily="34" charset="-122"/>
                <a:cs typeface="Courier New" pitchFamily="34" charset="-120"/>
              </a:rPr>
              <a:t>scoop bucket add wheels \</a:t>
            </a:r>
            <a:endParaRPr lang="en-US" sz="1050" dirty="0"/>
          </a:p>
          <a:p>
            <a:pPr marL="0" indent="0">
              <a:lnSpc>
                <a:spcPct val="115000"/>
              </a:lnSpc>
              <a:buNone/>
            </a:pPr>
            <a:r>
              <a:rPr lang="en-US" sz="1050" dirty="0">
                <a:solidFill>
                  <a:srgbClr val="E6EDF3"/>
                </a:solidFill>
                <a:latin typeface="Courier New" pitchFamily="34" charset="0"/>
                <a:ea typeface="Courier New" pitchFamily="34" charset="-122"/>
                <a:cs typeface="Courier New" pitchFamily="34" charset="-120"/>
              </a:rPr>
              <a:t>    https://github.com/wheels-dev/scoop-wheels</a:t>
            </a: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r>
              <a:rPr lang="en-US" sz="1050" dirty="0">
                <a:solidFill>
                  <a:srgbClr val="E6EDF3"/>
                </a:solidFill>
                <a:latin typeface="Courier New" pitchFamily="34" charset="0"/>
                <a:ea typeface="Courier New" pitchFamily="34" charset="-122"/>
                <a:cs typeface="Courier New" pitchFamily="34" charset="-120"/>
              </a:rPr>
              <a:t>scoop install wheels     </a:t>
            </a:r>
            <a:r>
              <a:rPr lang="en-US" sz="1050" dirty="0">
                <a:solidFill>
                  <a:srgbClr val="9AA7B4"/>
                </a:solidFill>
                <a:latin typeface="Courier New" pitchFamily="34" charset="0"/>
                <a:ea typeface="Courier New" pitchFamily="34" charset="-122"/>
                <a:cs typeface="Courier New" pitchFamily="34" charset="-120"/>
              </a:rPr>
              <a:t># or wheels-be</a:t>
            </a:r>
            <a:endParaRPr lang="en-US" sz="1050" dirty="0"/>
          </a:p>
          <a:p>
            <a:pPr marL="0" indent="0">
              <a:lnSpc>
                <a:spcPct val="115000"/>
              </a:lnSpc>
              <a:buNone/>
            </a:pPr>
            <a:endParaRPr lang="en-US" sz="1050" dirty="0"/>
          </a:p>
          <a:p>
            <a:pPr marL="0" indent="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r>
              <a:rPr lang="en-US" sz="1050" dirty="0">
                <a:solidFill>
                  <a:srgbClr val="E6EDF3"/>
                </a:solidFill>
                <a:latin typeface="Courier New" pitchFamily="34" charset="0"/>
                <a:ea typeface="Courier New" pitchFamily="34" charset="-122"/>
                <a:cs typeface="Courier New" pitchFamily="34" charset="-120"/>
              </a:rPr>
              <a:t>wheels new myapp &amp;&amp; cd myapp &amp;&amp; wheels start</a:t>
            </a:r>
            <a:endParaRPr lang="en-US" sz="1050" dirty="0"/>
          </a:p>
        </p:txBody>
      </p:sp>
      <p:sp>
        <p:nvSpPr>
          <p:cNvPr id="12" name="Text 9"/>
          <p:cNvSpPr txBox="1"/>
          <p:nvPr/>
        </p:nvSpPr>
        <p:spPr>
          <a:xfrm>
            <a:off x="457200" y="3931920"/>
            <a:ext cx="4206240" cy="77724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Only dependency: Java 21. Linux is a first-class target — the same brew formula runs on Ubuntu, Debian, Fedora and friends, so CI runners, Docker images and servers get the same CLI as your </a:t>
            </a:r>
            <a:r>
              <a:rPr lang="en-US" sz="1100">
                <a:solidFill>
                  <a:srgbClr val="6B7785"/>
                </a:solidFill>
                <a:latin typeface="Calibri" pitchFamily="34" charset="0"/>
                <a:ea typeface="Calibri" pitchFamily="34" charset="-122"/>
                <a:cs typeface="Calibri" pitchFamily="34" charset="-120"/>
              </a:rPr>
              <a:t>laptop. Support the native yum and apt package managers on Linux. </a:t>
            </a:r>
            <a:endParaRPr lang="en-US" sz="1100" dirty="0"/>
          </a:p>
        </p:txBody>
      </p:sp>
      <p:sp>
        <p:nvSpPr>
          <p:cNvPr id="13" name="Text 10"/>
          <p:cNvSpPr txBox="1"/>
          <p:nvPr/>
        </p:nvSpPr>
        <p:spPr>
          <a:xfrm>
            <a:off x="4937760" y="1188720"/>
            <a:ext cx="3749040" cy="292608"/>
          </a:xfrm>
          <a:prstGeom prst="rect">
            <a:avLst/>
          </a:prstGeom>
          <a:noFill/>
          <a:ln/>
        </p:spPr>
        <p:txBody>
          <a:bodyPr wrap="square" lIns="0" tIns="0" rIns="0" bIns="0" rtlCol="0" anchor="ctr"/>
          <a:lstStyle/>
          <a:p>
            <a:pPr marL="0" indent="0">
              <a:buNone/>
            </a:pPr>
            <a:r>
              <a:rPr lang="en-US" sz="1200" b="1" dirty="0">
                <a:solidFill>
                  <a:srgbClr val="1A2430"/>
                </a:solidFill>
                <a:latin typeface="Courier New" pitchFamily="34" charset="0"/>
                <a:ea typeface="Courier New" pitchFamily="34" charset="-122"/>
                <a:cs typeface="Courier New" pitchFamily="34" charset="-120"/>
              </a:rPr>
              <a:t>new · start · stop · reload</a:t>
            </a:r>
            <a:endParaRPr lang="en-US" sz="1200" dirty="0"/>
          </a:p>
        </p:txBody>
      </p:sp>
      <p:sp>
        <p:nvSpPr>
          <p:cNvPr id="14" name="Text 11"/>
          <p:cNvSpPr txBox="1"/>
          <p:nvPr/>
        </p:nvSpPr>
        <p:spPr>
          <a:xfrm>
            <a:off x="4937760" y="1481328"/>
            <a:ext cx="374904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project lifecycle</a:t>
            </a:r>
            <a:endParaRPr lang="en-US" sz="1100" dirty="0"/>
          </a:p>
        </p:txBody>
      </p:sp>
      <p:sp>
        <p:nvSpPr>
          <p:cNvPr id="15" name="Text 12"/>
          <p:cNvSpPr txBox="1"/>
          <p:nvPr/>
        </p:nvSpPr>
        <p:spPr>
          <a:xfrm>
            <a:off x="4937760" y="1847088"/>
            <a:ext cx="3749040" cy="292608"/>
          </a:xfrm>
          <a:prstGeom prst="rect">
            <a:avLst/>
          </a:prstGeom>
          <a:noFill/>
          <a:ln/>
        </p:spPr>
        <p:txBody>
          <a:bodyPr wrap="square" lIns="0" tIns="0" rIns="0" bIns="0" rtlCol="0" anchor="ctr"/>
          <a:lstStyle/>
          <a:p>
            <a:pPr marL="0" indent="0">
              <a:buNone/>
            </a:pPr>
            <a:r>
              <a:rPr lang="en-US" sz="1200" b="1" dirty="0">
                <a:solidFill>
                  <a:srgbClr val="1A2430"/>
                </a:solidFill>
                <a:latin typeface="Courier New" pitchFamily="34" charset="0"/>
                <a:ea typeface="Courier New" pitchFamily="34" charset="-122"/>
                <a:cs typeface="Courier New" pitchFamily="34" charset="-120"/>
              </a:rPr>
              <a:t>generate scaffold | model | controller | auth | policy | api-resource | migration</a:t>
            </a:r>
            <a:endParaRPr lang="en-US" sz="1200" dirty="0"/>
          </a:p>
        </p:txBody>
      </p:sp>
      <p:sp>
        <p:nvSpPr>
          <p:cNvPr id="16" name="Text 13"/>
          <p:cNvSpPr txBox="1"/>
          <p:nvPr/>
        </p:nvSpPr>
        <p:spPr>
          <a:xfrm>
            <a:off x="4937760" y="2139696"/>
            <a:ext cx="374904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code you own, with headers</a:t>
            </a:r>
            <a:endParaRPr lang="en-US" sz="1100" dirty="0"/>
          </a:p>
        </p:txBody>
      </p:sp>
      <p:sp>
        <p:nvSpPr>
          <p:cNvPr id="17" name="Text 14"/>
          <p:cNvSpPr txBox="1"/>
          <p:nvPr/>
        </p:nvSpPr>
        <p:spPr>
          <a:xfrm>
            <a:off x="4937760" y="2505456"/>
            <a:ext cx="3749040" cy="292608"/>
          </a:xfrm>
          <a:prstGeom prst="rect">
            <a:avLst/>
          </a:prstGeom>
          <a:noFill/>
          <a:ln/>
        </p:spPr>
        <p:txBody>
          <a:bodyPr wrap="square" lIns="0" tIns="0" rIns="0" bIns="0" rtlCol="0" anchor="ctr"/>
          <a:lstStyle/>
          <a:p>
            <a:pPr marL="0" indent="0">
              <a:buNone/>
            </a:pPr>
            <a:r>
              <a:rPr lang="en-US" sz="1200" b="1" dirty="0">
                <a:solidFill>
                  <a:srgbClr val="1A2430"/>
                </a:solidFill>
                <a:latin typeface="Courier New" pitchFamily="34" charset="0"/>
                <a:ea typeface="Courier New" pitchFamily="34" charset="-122"/>
                <a:cs typeface="Courier New" pitchFamily="34" charset="-120"/>
              </a:rPr>
              <a:t>migrate latest · routes · console</a:t>
            </a:r>
            <a:endParaRPr lang="en-US" sz="1200" dirty="0"/>
          </a:p>
        </p:txBody>
      </p:sp>
      <p:sp>
        <p:nvSpPr>
          <p:cNvPr id="18" name="Text 15"/>
          <p:cNvSpPr txBox="1"/>
          <p:nvPr/>
        </p:nvSpPr>
        <p:spPr>
          <a:xfrm>
            <a:off x="4937760" y="2798064"/>
            <a:ext cx="374904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schema, routing table, REPL</a:t>
            </a:r>
            <a:endParaRPr lang="en-US" sz="1100" dirty="0"/>
          </a:p>
        </p:txBody>
      </p:sp>
      <p:sp>
        <p:nvSpPr>
          <p:cNvPr id="19" name="Text 16"/>
          <p:cNvSpPr txBox="1"/>
          <p:nvPr/>
        </p:nvSpPr>
        <p:spPr>
          <a:xfrm>
            <a:off x="4937760" y="3163824"/>
            <a:ext cx="3749040" cy="292608"/>
          </a:xfrm>
          <a:prstGeom prst="rect">
            <a:avLst/>
          </a:prstGeom>
          <a:noFill/>
          <a:ln/>
        </p:spPr>
        <p:txBody>
          <a:bodyPr wrap="square" lIns="0" tIns="0" rIns="0" bIns="0" rtlCol="0" anchor="ctr"/>
          <a:lstStyle/>
          <a:p>
            <a:pPr marL="0" indent="0">
              <a:buNone/>
            </a:pPr>
            <a:r>
              <a:rPr lang="en-US" sz="1200" b="1" dirty="0">
                <a:solidFill>
                  <a:srgbClr val="1A2430"/>
                </a:solidFill>
                <a:latin typeface="Courier New" pitchFamily="34" charset="0"/>
                <a:ea typeface="Courier New" pitchFamily="34" charset="-122"/>
                <a:cs typeface="Courier New" pitchFamily="34" charset="-120"/>
              </a:rPr>
              <a:t>test · doctor · info · stats · notes</a:t>
            </a:r>
            <a:endParaRPr lang="en-US" sz="1200" dirty="0"/>
          </a:p>
        </p:txBody>
      </p:sp>
      <p:sp>
        <p:nvSpPr>
          <p:cNvPr id="20" name="Text 17"/>
          <p:cNvSpPr txBox="1"/>
          <p:nvPr/>
        </p:nvSpPr>
        <p:spPr>
          <a:xfrm>
            <a:off x="4937760" y="3456432"/>
            <a:ext cx="374904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WheelsTest runner and diagnostics</a:t>
            </a:r>
            <a:endParaRPr lang="en-US" sz="1100" dirty="0"/>
          </a:p>
        </p:txBody>
      </p:sp>
      <p:sp>
        <p:nvSpPr>
          <p:cNvPr id="21" name="Text 18"/>
          <p:cNvSpPr txBox="1"/>
          <p:nvPr/>
        </p:nvSpPr>
        <p:spPr>
          <a:xfrm>
            <a:off x="4937760" y="3822192"/>
            <a:ext cx="3749040" cy="292608"/>
          </a:xfrm>
          <a:prstGeom prst="rect">
            <a:avLst/>
          </a:prstGeom>
          <a:noFill/>
          <a:ln/>
        </p:spPr>
        <p:txBody>
          <a:bodyPr wrap="square" lIns="0" tIns="0" rIns="0" bIns="0" rtlCol="0" anchor="ctr"/>
          <a:lstStyle/>
          <a:p>
            <a:pPr marL="0" indent="0">
              <a:buNone/>
            </a:pPr>
            <a:r>
              <a:rPr lang="en-US" sz="1200" b="1" dirty="0">
                <a:solidFill>
                  <a:srgbClr val="1A2430"/>
                </a:solidFill>
                <a:latin typeface="Courier New" pitchFamily="34" charset="0"/>
                <a:ea typeface="Courier New" pitchFamily="34" charset="-122"/>
                <a:cs typeface="Courier New" pitchFamily="34" charset="-120"/>
              </a:rPr>
              <a:t>mcp</a:t>
            </a:r>
            <a:endParaRPr lang="en-US" sz="1200" dirty="0"/>
          </a:p>
        </p:txBody>
      </p:sp>
      <p:sp>
        <p:nvSpPr>
          <p:cNvPr id="22" name="Text 19"/>
          <p:cNvSpPr txBox="1"/>
          <p:nvPr/>
        </p:nvSpPr>
        <p:spPr>
          <a:xfrm>
            <a:off x="4937760" y="4114800"/>
            <a:ext cx="374904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every command as an MCP tool for AI agents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12</a:t>
            </a:r>
            <a:endParaRPr lang="en-US" sz="900" dirty="0"/>
          </a:p>
        </p:txBody>
      </p:sp>
      <p:sp>
        <p:nvSpPr>
          <p:cNvPr id="5" name="Text 2"/>
          <p:cNvSpPr txBox="1"/>
          <p:nvPr/>
        </p:nvSpPr>
        <p:spPr>
          <a:xfrm>
            <a:off x="457200" y="548640"/>
            <a:ext cx="5486400" cy="274320"/>
          </a:xfrm>
          <a:prstGeom prst="rect">
            <a:avLst/>
          </a:prstGeom>
          <a:noFill/>
          <a:ln/>
        </p:spPr>
        <p:txBody>
          <a:bodyPr wrap="square" lIns="0" tIns="0" rIns="0" bIns="0" rtlCol="0" anchor="ctr"/>
          <a:lstStyle/>
          <a:p>
            <a:pPr marL="0" indent="0">
              <a:buNone/>
            </a:pPr>
            <a:r>
              <a:rPr lang="en-US" sz="1100" b="1" kern="0" spc="300" dirty="0">
                <a:solidFill>
                  <a:srgbClr val="EF3B2D"/>
                </a:solidFill>
                <a:latin typeface="Calibri" pitchFamily="34" charset="0"/>
                <a:ea typeface="Calibri" pitchFamily="34" charset="-122"/>
                <a:cs typeface="Calibri" pitchFamily="34" charset="-120"/>
              </a:rPr>
              <a:t>THE NEXT 50 MINUTES</a:t>
            </a:r>
            <a:endParaRPr lang="en-US" sz="1100" dirty="0"/>
          </a:p>
        </p:txBody>
      </p:sp>
      <p:sp>
        <p:nvSpPr>
          <p:cNvPr id="6" name="Text 3"/>
          <p:cNvSpPr txBox="1"/>
          <p:nvPr/>
        </p:nvSpPr>
        <p:spPr>
          <a:xfrm>
            <a:off x="457200" y="86868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With no IDE and no config files, we're going to build a blog with:</a:t>
            </a:r>
            <a:endParaRPr lang="en-US" sz="2400" dirty="0"/>
          </a:p>
        </p:txBody>
      </p:sp>
      <p:sp>
        <p:nvSpPr>
          <p:cNvPr id="7" name="Shape 4"/>
          <p:cNvSpPr/>
          <p:nvPr/>
        </p:nvSpPr>
        <p:spPr>
          <a:xfrm>
            <a:off x="457200" y="1764792"/>
            <a:ext cx="384048" cy="384048"/>
          </a:xfrm>
          <a:prstGeom prst="ellipse">
            <a:avLst/>
          </a:prstGeom>
          <a:solidFill>
            <a:srgbClr val="EF3B2D"/>
          </a:solidFill>
          <a:ln w="12700">
            <a:solidFill>
              <a:srgbClr val="EF3B2D"/>
            </a:solidFill>
            <a:prstDash val="solid"/>
          </a:ln>
        </p:spPr>
        <p:txBody>
          <a:bodyPr/>
          <a:lstStyle/>
          <a:p>
            <a:endParaRPr lang="en-US"/>
          </a:p>
        </p:txBody>
      </p:sp>
      <p:sp>
        <p:nvSpPr>
          <p:cNvPr id="8" name="Text 5"/>
          <p:cNvSpPr txBox="1"/>
          <p:nvPr/>
        </p:nvSpPr>
        <p:spPr>
          <a:xfrm>
            <a:off x="457200" y="17647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1005840" y="1691640"/>
            <a:ext cx="356616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Posts — full CRUD, validated</a:t>
            </a:r>
            <a:endParaRPr lang="en-US" sz="1700" dirty="0"/>
          </a:p>
        </p:txBody>
      </p:sp>
      <p:sp>
        <p:nvSpPr>
          <p:cNvPr id="10" name="Shape 7"/>
          <p:cNvSpPr/>
          <p:nvPr/>
        </p:nvSpPr>
        <p:spPr>
          <a:xfrm>
            <a:off x="4663440" y="1764792"/>
            <a:ext cx="384048" cy="384048"/>
          </a:xfrm>
          <a:prstGeom prst="ellipse">
            <a:avLst/>
          </a:prstGeom>
          <a:solidFill>
            <a:srgbClr val="EF3B2D"/>
          </a:solidFill>
          <a:ln w="12700">
            <a:solidFill>
              <a:srgbClr val="EF3B2D"/>
            </a:solidFill>
            <a:prstDash val="solid"/>
          </a:ln>
        </p:spPr>
        <p:txBody>
          <a:bodyPr/>
          <a:lstStyle/>
          <a:p>
            <a:endParaRPr lang="en-US"/>
          </a:p>
        </p:txBody>
      </p:sp>
      <p:sp>
        <p:nvSpPr>
          <p:cNvPr id="11" name="Text 8"/>
          <p:cNvSpPr txBox="1"/>
          <p:nvPr/>
        </p:nvSpPr>
        <p:spPr>
          <a:xfrm>
            <a:off x="4663440" y="17647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9"/>
          <p:cNvSpPr txBox="1"/>
          <p:nvPr/>
        </p:nvSpPr>
        <p:spPr>
          <a:xfrm>
            <a:off x="5212080" y="1691640"/>
            <a:ext cx="356616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Comments — associated to posts</a:t>
            </a:r>
            <a:endParaRPr lang="en-US" sz="1700" dirty="0"/>
          </a:p>
        </p:txBody>
      </p:sp>
      <p:sp>
        <p:nvSpPr>
          <p:cNvPr id="13" name="Shape 10"/>
          <p:cNvSpPr/>
          <p:nvPr/>
        </p:nvSpPr>
        <p:spPr>
          <a:xfrm>
            <a:off x="457200" y="2542032"/>
            <a:ext cx="384048" cy="384048"/>
          </a:xfrm>
          <a:prstGeom prst="ellipse">
            <a:avLst/>
          </a:prstGeom>
          <a:solidFill>
            <a:srgbClr val="EF3B2D"/>
          </a:solidFill>
          <a:ln w="12700">
            <a:solidFill>
              <a:srgbClr val="EF3B2D"/>
            </a:solidFill>
            <a:prstDash val="solid"/>
          </a:ln>
        </p:spPr>
        <p:txBody>
          <a:bodyPr/>
          <a:lstStyle/>
          <a:p>
            <a:endParaRPr lang="en-US"/>
          </a:p>
        </p:txBody>
      </p:sp>
      <p:sp>
        <p:nvSpPr>
          <p:cNvPr id="14" name="Text 11"/>
          <p:cNvSpPr txBox="1"/>
          <p:nvPr/>
        </p:nvSpPr>
        <p:spPr>
          <a:xfrm>
            <a:off x="457200" y="25420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2"/>
          <p:cNvSpPr txBox="1"/>
          <p:nvPr/>
        </p:nvSpPr>
        <p:spPr>
          <a:xfrm>
            <a:off x="1005840" y="2468880"/>
            <a:ext cx="356616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User accounts with properly hashed passwords</a:t>
            </a:r>
            <a:endParaRPr lang="en-US" sz="1700" dirty="0"/>
          </a:p>
        </p:txBody>
      </p:sp>
      <p:sp>
        <p:nvSpPr>
          <p:cNvPr id="16" name="Shape 13"/>
          <p:cNvSpPr/>
          <p:nvPr/>
        </p:nvSpPr>
        <p:spPr>
          <a:xfrm>
            <a:off x="4663440" y="2542032"/>
            <a:ext cx="384048" cy="384048"/>
          </a:xfrm>
          <a:prstGeom prst="ellipse">
            <a:avLst/>
          </a:prstGeom>
          <a:solidFill>
            <a:srgbClr val="EF3B2D"/>
          </a:solidFill>
          <a:ln w="12700">
            <a:solidFill>
              <a:srgbClr val="EF3B2D"/>
            </a:solidFill>
            <a:prstDash val="solid"/>
          </a:ln>
        </p:spPr>
        <p:txBody>
          <a:bodyPr/>
          <a:lstStyle/>
          <a:p>
            <a:endParaRPr lang="en-US"/>
          </a:p>
        </p:txBody>
      </p:sp>
      <p:sp>
        <p:nvSpPr>
          <p:cNvPr id="17" name="Text 14"/>
          <p:cNvSpPr txBox="1"/>
          <p:nvPr/>
        </p:nvSpPr>
        <p:spPr>
          <a:xfrm>
            <a:off x="4663440" y="25420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5"/>
          <p:cNvSpPr txBox="1"/>
          <p:nvPr/>
        </p:nvSpPr>
        <p:spPr>
          <a:xfrm>
            <a:off x="5212080" y="2468880"/>
            <a:ext cx="356616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Authorization policies (default-deny)</a:t>
            </a:r>
            <a:endParaRPr lang="en-US" sz="1700" dirty="0"/>
          </a:p>
        </p:txBody>
      </p:sp>
      <p:sp>
        <p:nvSpPr>
          <p:cNvPr id="19" name="Shape 16"/>
          <p:cNvSpPr/>
          <p:nvPr/>
        </p:nvSpPr>
        <p:spPr>
          <a:xfrm>
            <a:off x="457200" y="3319272"/>
            <a:ext cx="384048" cy="384048"/>
          </a:xfrm>
          <a:prstGeom prst="ellipse">
            <a:avLst/>
          </a:prstGeom>
          <a:solidFill>
            <a:srgbClr val="EF3B2D"/>
          </a:solidFill>
          <a:ln w="12700">
            <a:solidFill>
              <a:srgbClr val="EF3B2D"/>
            </a:solidFill>
            <a:prstDash val="solid"/>
          </a:ln>
        </p:spPr>
        <p:txBody>
          <a:bodyPr/>
          <a:lstStyle/>
          <a:p>
            <a:endParaRPr lang="en-US"/>
          </a:p>
        </p:txBody>
      </p:sp>
      <p:sp>
        <p:nvSpPr>
          <p:cNvPr id="20" name="Text 17"/>
          <p:cNvSpPr txBox="1"/>
          <p:nvPr/>
        </p:nvSpPr>
        <p:spPr>
          <a:xfrm>
            <a:off x="457200" y="331927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8"/>
          <p:cNvSpPr txBox="1"/>
          <p:nvPr/>
        </p:nvSpPr>
        <p:spPr>
          <a:xfrm>
            <a:off x="1005840" y="3246120"/>
            <a:ext cx="356616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 passing test suite</a:t>
            </a:r>
            <a:endParaRPr lang="en-US" sz="1700" dirty="0"/>
          </a:p>
        </p:txBody>
      </p:sp>
      <p:sp>
        <p:nvSpPr>
          <p:cNvPr id="22" name="Shape 19"/>
          <p:cNvSpPr/>
          <p:nvPr/>
        </p:nvSpPr>
        <p:spPr>
          <a:xfrm>
            <a:off x="4663440" y="3319272"/>
            <a:ext cx="384048" cy="384048"/>
          </a:xfrm>
          <a:prstGeom prst="ellipse">
            <a:avLst/>
          </a:prstGeom>
          <a:solidFill>
            <a:srgbClr val="EF3B2D"/>
          </a:solidFill>
          <a:ln w="12700">
            <a:solidFill>
              <a:srgbClr val="EF3B2D"/>
            </a:solidFill>
            <a:prstDash val="solid"/>
          </a:ln>
        </p:spPr>
        <p:txBody>
          <a:bodyPr/>
          <a:lstStyle/>
          <a:p>
            <a:endParaRPr lang="en-US"/>
          </a:p>
        </p:txBody>
      </p:sp>
      <p:sp>
        <p:nvSpPr>
          <p:cNvPr id="23" name="Text 20"/>
          <p:cNvSpPr txBox="1"/>
          <p:nvPr/>
        </p:nvSpPr>
        <p:spPr>
          <a:xfrm>
            <a:off x="4663440" y="331927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4" name="Text 21"/>
          <p:cNvSpPr txBox="1"/>
          <p:nvPr/>
        </p:nvSpPr>
        <p:spPr>
          <a:xfrm>
            <a:off x="5212080" y="3246120"/>
            <a:ext cx="356616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…and a JSON API, for free</a:t>
            </a:r>
            <a:endParaRPr lang="en-US" sz="1700" dirty="0"/>
          </a:p>
        </p:txBody>
      </p:sp>
      <p:sp>
        <p:nvSpPr>
          <p:cNvPr id="25" name="Text 22"/>
          <p:cNvSpPr txBox="1"/>
          <p:nvPr/>
        </p:nvSpPr>
        <p:spPr>
          <a:xfrm>
            <a:off x="457200" y="4114800"/>
            <a:ext cx="8229600" cy="457200"/>
          </a:xfrm>
          <a:prstGeom prst="rect">
            <a:avLst/>
          </a:prstGeom>
          <a:noFill/>
          <a:ln/>
        </p:spPr>
        <p:txBody>
          <a:bodyPr wrap="square" lIns="0" tIns="0" rIns="0" bIns="0" rtlCol="0" anchor="ctr"/>
          <a:lstStyle/>
          <a:p>
            <a:pPr marL="0" indent="0">
              <a:buNone/>
            </a:pPr>
            <a:r>
              <a:rPr lang="en-US" sz="1800" i="1" dirty="0">
                <a:solidFill>
                  <a:srgbClr val="C9D3DD"/>
                </a:solidFill>
                <a:latin typeface="Calibri" pitchFamily="34" charset="0"/>
                <a:ea typeface="Calibri" pitchFamily="34" charset="-122"/>
                <a:cs typeface="Calibri" pitchFamily="34" charset="-120"/>
              </a:rPr>
              <a:t>Every command I type is a command you can type tonight.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13</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1 OF 8 · ~4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 running app in one command</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cd ~/demo</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new blogdemo</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cd blogdemo</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start</a:t>
            </a:r>
            <a:endParaRPr lang="en-US" sz="1100" dirty="0"/>
          </a:p>
          <a:p>
            <a:pPr marL="0" indent="0">
              <a:lnSpc>
                <a:spcPct val="115000"/>
              </a:lnSpc>
              <a:buNone/>
            </a:pP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browser opens on the welcome page:</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"Your Wheels 4.1 application is running on</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Lucee with blogdemo (development)"</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ls</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AGENTS.md  CLAUDE.md  app  config  db  lucee.json</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public  rewrite.config  tests  vendor</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“No CommandBox, no server.json, no datasource in the admin. SQLite is the default, so the app has a working database before you've written a line.”</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Point at the welcome line: version, engine, datasource, environment. Then ls: your code in app/, the framework in vendor/ — and CLAUDE.md and AGENTS.md are already there. We'll come back to those.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2 OF 8 · ~8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Scaffold a Post</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generate scaffold Post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title:string{50} body:text publishedAt:datetime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EF3B2D"/>
                </a:solidFill>
                <a:latin typeface="Courier New" pitchFamily="34" charset="0"/>
                <a:ea typeface="Courier New" pitchFamily="34" charset="-122"/>
                <a:cs typeface="Courier New" pitchFamily="34" charset="-120"/>
              </a:rPr>
              <a:t>--dry-run</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9AA7B4"/>
                </a:solidFill>
                <a:latin typeface="Courier New" pitchFamily="34" charset="0"/>
                <a:ea typeface="Courier New" pitchFamily="34" charset="-122"/>
                <a:cs typeface="Courier New" pitchFamily="34" charset="-120"/>
              </a:rPr>
              <a:t># plan only, writes nothing</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generate scaffold Post …  </a:t>
            </a:r>
            <a:r>
              <a:rPr lang="en-US" sz="1100" dirty="0">
                <a:solidFill>
                  <a:srgbClr val="9AA7B4"/>
                </a:solidFill>
                <a:latin typeface="Courier New" pitchFamily="34" charset="0"/>
                <a:ea typeface="Courier New" pitchFamily="34" charset="-122"/>
                <a:cs typeface="Courier New" pitchFamily="34" charset="-120"/>
              </a:rPr>
              <a:t># for real</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app/models/Post.cfc · app/controllers/Posts.cfc</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app/migrator/migrations/…_create_posts_table.cfc</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app/views/posts/{index,show,new,edit,_form}.cfm</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tests/specs/{models,controllers}/…Spec.cfc</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config/routes.cfm  +.resources("posts")</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migrate latest</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seed --generate   </a:t>
            </a:r>
            <a:r>
              <a:rPr lang="en-US" sz="1100" dirty="0">
                <a:solidFill>
                  <a:srgbClr val="9AA7B4"/>
                </a:solidFill>
                <a:latin typeface="Courier New" pitchFamily="34" charset="0"/>
                <a:ea typeface="Courier New" pitchFamily="34" charset="-122"/>
                <a:cs typeface="Courier New" pitchFamily="34" charset="-120"/>
              </a:rPr>
              <a:t># sample rows</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reload            </a:t>
            </a:r>
            <a:r>
              <a:rPr lang="en-US" sz="1100" dirty="0">
                <a:solidFill>
                  <a:srgbClr val="9AA7B4"/>
                </a:solidFill>
                <a:latin typeface="Courier New" pitchFamily="34" charset="0"/>
                <a:ea typeface="Courier New" pitchFamily="34" charset="-122"/>
                <a:cs typeface="Courier New" pitchFamily="34" charset="-120"/>
              </a:rPr>
              <a:t># pick up new routes</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routes | grep posts</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“Singular model, plural controller, plural table. I never told it any of that.”</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--dry-run: “Here's everything it would write. Nothing has happened yet.” Then for real.</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{50}: column length and validatesLengthOf(maximum=50) from one declaration.</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seed, reload, then the browser: create a post titled “Hello, Wheels” → edit → delete. Slowly. Point at the flash message.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15</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3 OF 8 · ~5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It wrote files. You own them.</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app/models/Post.cfc — as generated</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component</a:t>
            </a:r>
            <a:r>
              <a:rPr lang="en-US" sz="1100" dirty="0">
                <a:solidFill>
                  <a:srgbClr val="E6EDF3"/>
                </a:solidFill>
                <a:latin typeface="Courier New" pitchFamily="34" charset="0"/>
                <a:ea typeface="Courier New" pitchFamily="34" charset="-122"/>
                <a:cs typeface="Courier New" pitchFamily="34" charset="-120"/>
              </a:rPr>
              <a:t> extends=</a:t>
            </a:r>
            <a:r>
              <a:rPr lang="en-US" sz="1100" dirty="0">
                <a:solidFill>
                  <a:srgbClr val="3DDC84"/>
                </a:solidFill>
                <a:latin typeface="Courier New" pitchFamily="34" charset="0"/>
                <a:ea typeface="Courier New" pitchFamily="34" charset="-122"/>
                <a:cs typeface="Courier New" pitchFamily="34" charset="-120"/>
              </a:rPr>
              <a:t>"Model"</a:t>
            </a: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EF3B2D"/>
                </a:solidFill>
                <a:latin typeface="Courier New" pitchFamily="34" charset="0"/>
                <a:ea typeface="Courier New" pitchFamily="34" charset="-122"/>
                <a:cs typeface="Courier New" pitchFamily="34" charset="-120"/>
              </a:rPr>
              <a:t>function</a:t>
            </a:r>
            <a:r>
              <a:rPr lang="en-US" sz="1100" dirty="0">
                <a:solidFill>
                  <a:srgbClr val="E6EDF3"/>
                </a:solidFill>
                <a:latin typeface="Courier New" pitchFamily="34" charset="0"/>
                <a:ea typeface="Courier New" pitchFamily="34" charset="-122"/>
                <a:cs typeface="Courier New" pitchFamily="34" charset="-120"/>
              </a:rPr>
              <a:t> config()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validatesPresenceOf(</a:t>
            </a:r>
            <a:r>
              <a:rPr lang="en-US" sz="1100" dirty="0">
                <a:solidFill>
                  <a:srgbClr val="3DDC84"/>
                </a:solidFill>
                <a:latin typeface="Courier New" pitchFamily="34" charset="0"/>
                <a:ea typeface="Courier New" pitchFamily="34" charset="-122"/>
                <a:cs typeface="Courier New" pitchFamily="34" charset="-120"/>
              </a:rPr>
              <a:t>"title,body,publishedAt"</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validatesLengthOf(property=</a:t>
            </a:r>
            <a:r>
              <a:rPr lang="en-US" sz="1100" dirty="0">
                <a:solidFill>
                  <a:srgbClr val="3DDC84"/>
                </a:solidFill>
                <a:latin typeface="Courier New" pitchFamily="34" charset="0"/>
                <a:ea typeface="Courier New" pitchFamily="34" charset="-122"/>
                <a:cs typeface="Courier New" pitchFamily="34" charset="-120"/>
              </a:rPr>
              <a:t>"title"</a:t>
            </a:r>
            <a:r>
              <a:rPr lang="en-US" sz="1100" dirty="0">
                <a:solidFill>
                  <a:srgbClr val="E6EDF3"/>
                </a:solidFill>
                <a:latin typeface="Courier New" pitchFamily="34" charset="0"/>
                <a:ea typeface="Courier New" pitchFamily="34" charset="-122"/>
                <a:cs typeface="Courier New" pitchFamily="34" charset="-120"/>
              </a:rPr>
              <a:t>, maximum=50);</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9AA7B4"/>
                </a:solidFill>
                <a:latin typeface="Courier New" pitchFamily="34" charset="0"/>
                <a:ea typeface="Courier New" pitchFamily="34" charset="-122"/>
                <a:cs typeface="Courier New" pitchFamily="34" charset="-120"/>
              </a:rPr>
              <a:t>// you type:</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validatesExclusionOf(property=</a:t>
            </a:r>
            <a:r>
              <a:rPr lang="en-US" sz="1100" dirty="0">
                <a:solidFill>
                  <a:srgbClr val="3DDC84"/>
                </a:solidFill>
                <a:latin typeface="Courier New" pitchFamily="34" charset="0"/>
                <a:ea typeface="Courier New" pitchFamily="34" charset="-122"/>
                <a:cs typeface="Courier New" pitchFamily="34" charset="-120"/>
              </a:rPr>
              <a:t>"title"</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list=</a:t>
            </a:r>
            <a:r>
              <a:rPr lang="en-US" sz="1100" dirty="0">
                <a:solidFill>
                  <a:srgbClr val="3DDC84"/>
                </a:solidFill>
                <a:latin typeface="Courier New" pitchFamily="34" charset="0"/>
                <a:ea typeface="Courier New" pitchFamily="34" charset="-122"/>
                <a:cs typeface="Courier New" pitchFamily="34" charset="-120"/>
              </a:rPr>
              <a:t>"Untitled"</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hasMany(</a:t>
            </a:r>
            <a:r>
              <a:rPr lang="en-US" sz="1100" dirty="0">
                <a:solidFill>
                  <a:srgbClr val="3DDC84"/>
                </a:solidFill>
                <a:latin typeface="Courier New" pitchFamily="34" charset="0"/>
                <a:ea typeface="Courier New" pitchFamily="34" charset="-122"/>
                <a:cs typeface="Courier New" pitchFamily="34" charset="-120"/>
              </a:rPr>
              <a:t>"comments"</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reload</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submit an empty form → errors, no view changes</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“This is the difference between a scaffold and a black box. There's no runtime magic inventing a form from my model — it wrote files. I can delete half of this and it still runs.”</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First hand-typed code of the night: one business rule (no placeholder titles) and the association. Reload.</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“The form partial already knew how to render errors. That's the convention paying you back the second time.”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16</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4 OF 8 · ~5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Associations and a REPL</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generate scaffold Comment body:text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--belongsTo=post</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migrate latest</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seed --generate   </a:t>
            </a:r>
            <a:r>
              <a:rPr lang="en-US" sz="1100" dirty="0">
                <a:solidFill>
                  <a:srgbClr val="9AA7B4"/>
                </a:solidFill>
                <a:latin typeface="Courier New" pitchFamily="34" charset="0"/>
                <a:ea typeface="Courier New" pitchFamily="34" charset="-122"/>
                <a:cs typeface="Courier New" pitchFamily="34" charset="-120"/>
              </a:rPr>
              <a:t># comments, post_id 1..10</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reload</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console</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wheels&gt; model(</a:t>
            </a:r>
            <a:r>
              <a:rPr lang="en-US" sz="1100" dirty="0">
                <a:solidFill>
                  <a:srgbClr val="3DDC84"/>
                </a:solidFill>
                <a:latin typeface="Courier New" pitchFamily="34" charset="0"/>
                <a:ea typeface="Courier New" pitchFamily="34" charset="-122"/>
                <a:cs typeface="Courier New" pitchFamily="34" charset="-120"/>
              </a:rPr>
              <a:t>"Post"</a:t>
            </a:r>
            <a:r>
              <a:rPr lang="en-US" sz="1100" dirty="0">
                <a:solidFill>
                  <a:srgbClr val="E6EDF3"/>
                </a:solidFill>
                <a:latin typeface="Courier New" pitchFamily="34" charset="0"/>
                <a:ea typeface="Courier New" pitchFamily="34" charset="-122"/>
                <a:cs typeface="Courier New" pitchFamily="34" charset="-120"/>
              </a:rPr>
              <a:t>).findByKey(1).comments()</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wheels&gt; model(</a:t>
            </a:r>
            <a:r>
              <a:rPr lang="en-US" sz="1100" dirty="0">
                <a:solidFill>
                  <a:srgbClr val="3DDC84"/>
                </a:solidFill>
                <a:latin typeface="Courier New" pitchFamily="34" charset="0"/>
                <a:ea typeface="Courier New" pitchFamily="34" charset="-122"/>
                <a:cs typeface="Courier New" pitchFamily="34" charset="-120"/>
              </a:rPr>
              <a:t>"Comment"</a:t>
            </a:r>
            <a:r>
              <a:rPr lang="en-US" sz="1100" dirty="0">
                <a:solidFill>
                  <a:srgbClr val="E6EDF3"/>
                </a:solidFill>
                <a:latin typeface="Courier New" pitchFamily="34" charset="0"/>
                <a:ea typeface="Courier New" pitchFamily="34" charset="-122"/>
                <a:cs typeface="Courier New" pitchFamily="34" charset="-120"/>
              </a:rPr>
              <a:t>).findByKey(3).post().title</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wheels&gt; model(</a:t>
            </a:r>
            <a:r>
              <a:rPr lang="en-US" sz="1100" dirty="0">
                <a:solidFill>
                  <a:srgbClr val="3DDC84"/>
                </a:solidFill>
                <a:latin typeface="Courier New" pitchFamily="34" charset="0"/>
                <a:ea typeface="Courier New" pitchFamily="34" charset="-122"/>
                <a:cs typeface="Courier New" pitchFamily="34" charset="-120"/>
              </a:rPr>
              <a:t>"Post"</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.where(</a:t>
            </a:r>
            <a:r>
              <a:rPr lang="en-US" sz="1100" dirty="0">
                <a:solidFill>
                  <a:srgbClr val="3DDC84"/>
                </a:solidFill>
                <a:latin typeface="Courier New" pitchFamily="34" charset="0"/>
                <a:ea typeface="Courier New" pitchFamily="34" charset="-122"/>
                <a:cs typeface="Courier New" pitchFamily="34" charset="-120"/>
              </a:rPr>
              <a:t>"title"</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"LIKE"</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"%Wheels%"</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.orderBy(</a:t>
            </a:r>
            <a:r>
              <a:rPr lang="en-US" sz="1100" dirty="0">
                <a:solidFill>
                  <a:srgbClr val="3DDC84"/>
                </a:solidFill>
                <a:latin typeface="Courier New" pitchFamily="34" charset="0"/>
                <a:ea typeface="Courier New" pitchFamily="34" charset="-122"/>
                <a:cs typeface="Courier New" pitchFamily="34" charset="-120"/>
              </a:rPr>
              <a:t>"publishedAt"</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"DESC"</a:t>
            </a:r>
            <a:r>
              <a:rPr lang="en-US" sz="1100" dirty="0">
                <a:solidFill>
                  <a:srgbClr val="E6EDF3"/>
                </a:solidFill>
                <a:latin typeface="Courier New" pitchFamily="34" charset="0"/>
                <a:ea typeface="Courier New" pitchFamily="34" charset="-122"/>
                <a:cs typeface="Courier New" pitchFamily="34" charset="-120"/>
              </a:rPr>
              <a:t>).get()</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“--belongsTo=post added the post_id column and wired belongsTo into the model. hasMany on Post was already there, so the relationship is complete both ways.”</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Seed again so there are comments, reload, then the REPL — most CF developers have never had one.</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“Every one of those becomes a cfqueryparam. You cannot accidentally write SQL injection with the finder API.”</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17</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5 OF 8 · ~10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Authentication and authorization</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generate auth --strategy=session</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migrate latest</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reload</a:t>
            </a:r>
            <a:endParaRPr lang="en-US" sz="1100" dirty="0"/>
          </a:p>
          <a:p>
            <a:pPr marL="0" indent="0">
              <a:lnSpc>
                <a:spcPct val="115000"/>
              </a:lnSpc>
              <a:buNone/>
            </a:pP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User model · Sessions/Registrations/Passwords</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CSRF-safe views · users migration, unique email</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routes + services injected · specs generated</a:t>
            </a:r>
            <a:endParaRPr lang="en-US" sz="1100" dirty="0"/>
          </a:p>
          <a:p>
            <a:pPr marL="0" indent="0">
              <a:lnSpc>
                <a:spcPct val="115000"/>
              </a:lnSpc>
              <a:buNone/>
            </a:pP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bcryptHash() / bcryptVerify() — bundled jBCrypt,</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no dependency to install · bcryptNeedsRehash()</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generate policy Post</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app/policies/PostPolicy.cfc  (default-deny)</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This is the beat that says 2026, not 2009. Don't rush it.</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“Passwords go through bcrypt. The framework bundles jBCrypt, so there's nothing to install and nothing to hand-roll — and that's the thing every one of us has hand-rolled badly at least once. The same hash verifies on Lucee, Adobe, BoxLang and RustCFML, so you can move engines and nobody resets a password.”</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Browser: /register → log out → /login.</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“Default-deny. Forget to write a policy and you get a 403, not a data leak.”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18</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6 OF 8 · ~8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Red, green</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test</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model + 7 CRUD specs per scaffold, plus auth specs</a:t>
            </a:r>
            <a:endParaRPr lang="en-US" sz="1100" dirty="0"/>
          </a:p>
          <a:p>
            <a:pPr marL="0" indent="0">
              <a:lnSpc>
                <a:spcPct val="115000"/>
              </a:lnSpc>
              <a:buNone/>
            </a:pP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tests/specs/models/PostSpec.cfc</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it(</a:t>
            </a:r>
            <a:r>
              <a:rPr lang="en-US" sz="1100" dirty="0">
                <a:solidFill>
                  <a:srgbClr val="3DDC84"/>
                </a:solidFill>
                <a:latin typeface="Courier New" pitchFamily="34" charset="0"/>
                <a:ea typeface="Courier New" pitchFamily="34" charset="-122"/>
                <a:cs typeface="Courier New" pitchFamily="34" charset="-120"/>
              </a:rPr>
              <a:t>"requires a body"</a:t>
            </a:r>
            <a:r>
              <a:rPr lang="en-US" sz="1100" dirty="0">
                <a:solidFill>
                  <a:srgbClr val="E6EDF3"/>
                </a:solidFill>
                <a:latin typeface="Courier New" pitchFamily="34" charset="0"/>
                <a:ea typeface="Courier New" pitchFamily="34" charset="-122"/>
                <a:cs typeface="Courier New" pitchFamily="34" charset="-120"/>
              </a:rPr>
              <a:t>, () =&gt;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EF3B2D"/>
                </a:solidFill>
                <a:latin typeface="Courier New" pitchFamily="34" charset="0"/>
                <a:ea typeface="Courier New" pitchFamily="34" charset="-122"/>
                <a:cs typeface="Courier New" pitchFamily="34" charset="-120"/>
              </a:rPr>
              <a:t>var</a:t>
            </a:r>
            <a:r>
              <a:rPr lang="en-US" sz="1100" dirty="0">
                <a:solidFill>
                  <a:srgbClr val="E6EDF3"/>
                </a:solidFill>
                <a:latin typeface="Courier New" pitchFamily="34" charset="0"/>
                <a:ea typeface="Courier New" pitchFamily="34" charset="-122"/>
                <a:cs typeface="Courier New" pitchFamily="34" charset="-120"/>
              </a:rPr>
              <a:t> post = model(</a:t>
            </a:r>
            <a:r>
              <a:rPr lang="en-US" sz="1100" dirty="0">
                <a:solidFill>
                  <a:srgbClr val="3DDC84"/>
                </a:solidFill>
                <a:latin typeface="Courier New" pitchFamily="34" charset="0"/>
                <a:ea typeface="Courier New" pitchFamily="34" charset="-122"/>
                <a:cs typeface="Courier New" pitchFamily="34" charset="-120"/>
              </a:rPr>
              <a:t>"Post"</a:t>
            </a:r>
            <a:r>
              <a:rPr lang="en-US" sz="1100" dirty="0">
                <a:solidFill>
                  <a:srgbClr val="E6EDF3"/>
                </a:solidFill>
                <a:latin typeface="Courier New" pitchFamily="34" charset="0"/>
                <a:ea typeface="Courier New" pitchFamily="34" charset="-122"/>
                <a:cs typeface="Courier New" pitchFamily="34" charset="-120"/>
              </a:rPr>
              <a:t>).new(title=</a:t>
            </a:r>
            <a:r>
              <a:rPr lang="en-US" sz="1100" dirty="0">
                <a:solidFill>
                  <a:srgbClr val="3DDC84"/>
                </a:solidFill>
                <a:latin typeface="Courier New" pitchFamily="34" charset="0"/>
                <a:ea typeface="Courier New" pitchFamily="34" charset="-122"/>
                <a:cs typeface="Courier New" pitchFamily="34" charset="-120"/>
              </a:rPr>
              <a:t>"No body here"</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expect(post.valid()).toBeFalse();</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expect(post.errorsOn(</a:t>
            </a:r>
            <a:r>
              <a:rPr lang="en-US" sz="1100" dirty="0">
                <a:solidFill>
                  <a:srgbClr val="3DDC84"/>
                </a:solidFill>
                <a:latin typeface="Courier New" pitchFamily="34" charset="0"/>
                <a:ea typeface="Courier New" pitchFamily="34" charset="-122"/>
                <a:cs typeface="Courier New" pitchFamily="34" charset="-120"/>
              </a:rPr>
              <a:t>"body"</a:t>
            </a:r>
            <a:r>
              <a:rPr lang="en-US" sz="1100" dirty="0">
                <a:solidFill>
                  <a:srgbClr val="E6EDF3"/>
                </a:solidFill>
                <a:latin typeface="Courier New" pitchFamily="34" charset="0"/>
                <a:ea typeface="Courier New" pitchFamily="34" charset="-122"/>
                <a:cs typeface="Courier New" pitchFamily="34" charset="-120"/>
              </a:rPr>
              <a:t>)).notToBeEmpty();</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test</a:t>
            </a:r>
            <a:endParaRPr lang="en-US" sz="1100" dirty="0"/>
          </a:p>
          <a:p>
            <a:pPr marL="0" indent="0">
              <a:lnSpc>
                <a:spcPct val="115000"/>
              </a:lnSpc>
              <a:buNone/>
            </a:pPr>
            <a:r>
              <a:rPr lang="en-US" sz="1100" dirty="0">
                <a:solidFill>
                  <a:srgbClr val="3DDC84"/>
                </a:solidFill>
                <a:latin typeface="Courier New" pitchFamily="34" charset="0"/>
                <a:ea typeface="Courier New" pitchFamily="34" charset="-122"/>
                <a:cs typeface="Courier New" pitchFamily="34" charset="-120"/>
              </a:rPr>
              <a:t>  ✓ green</a:t>
            </a:r>
            <a:r>
              <a:rPr lang="en-US" sz="1100" dirty="0">
                <a:solidFill>
                  <a:srgbClr val="E6EDF3"/>
                </a:solidFill>
                <a:latin typeface="Courier New" pitchFamily="34" charset="0"/>
                <a:ea typeface="Courier New" pitchFamily="34" charset="-122"/>
                <a:cs typeface="Courier New" pitchFamily="34" charset="-120"/>
              </a:rPr>
              <a:t>  → comment out presence → </a:t>
            </a:r>
            <a:r>
              <a:rPr lang="en-US" sz="1100" dirty="0">
                <a:solidFill>
                  <a:srgbClr val="EF3B2D"/>
                </a:solidFill>
                <a:latin typeface="Courier New" pitchFamily="34" charset="0"/>
                <a:ea typeface="Courier New" pitchFamily="34" charset="-122"/>
                <a:cs typeface="Courier New" pitchFamily="34" charset="-120"/>
              </a:rPr>
              <a:t>✗ red</a:t>
            </a:r>
            <a:r>
              <a:rPr lang="en-US" sz="1100" dirty="0">
                <a:solidFill>
                  <a:srgbClr val="E6EDF3"/>
                </a:solidFill>
                <a:latin typeface="Courier New" pitchFamily="34" charset="0"/>
                <a:ea typeface="Courier New" pitchFamily="34" charset="-122"/>
                <a:cs typeface="Courier New" pitchFamily="34" charset="-120"/>
              </a:rPr>
              <a:t> → fix</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“WheelsTest ships inside the framework — describe, it, expect. No extra dependency, nothing to install.”</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Green. Then break it on purpose, show red, restore, show green.</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“Red, green — on a framework a lot of people in this room wrote off as ‘that CFML Rails clone that never shipped.’ It ships. It has for a while now.”</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19</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7 OF 8 · ~7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two-minute tour</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info          </a:t>
            </a:r>
            <a:r>
              <a:rPr lang="en-US" sz="1100" dirty="0">
                <a:solidFill>
                  <a:srgbClr val="9AA7B4"/>
                </a:solidFill>
                <a:latin typeface="Courier New" pitchFamily="34" charset="0"/>
                <a:ea typeface="Courier New" pitchFamily="34" charset="-122"/>
                <a:cs typeface="Courier New" pitchFamily="34" charset="-120"/>
              </a:rPr>
              <a:t># version · engine · db</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migrate diff  </a:t>
            </a:r>
            <a:r>
              <a:rPr lang="en-US" sz="1100" dirty="0">
                <a:solidFill>
                  <a:srgbClr val="9AA7B4"/>
                </a:solidFill>
                <a:latin typeface="Courier New" pitchFamily="34" charset="0"/>
                <a:ea typeface="Courier New" pitchFamily="34" charset="-122"/>
                <a:cs typeface="Courier New" pitchFamily="34" charset="-120"/>
              </a:rPr>
              <a:t># models vs. schema drift</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coverage      </a:t>
            </a:r>
            <a:r>
              <a:rPr lang="en-US" sz="1100" dirty="0">
                <a:solidFill>
                  <a:srgbClr val="9AA7B4"/>
                </a:solidFill>
                <a:latin typeface="Courier New" pitchFamily="34" charset="0"/>
                <a:ea typeface="Courier New" pitchFamily="34" charset="-122"/>
                <a:cs typeface="Courier New" pitchFamily="34" charset="-120"/>
              </a:rPr>
              <a:t># CRAP: complexity × untested</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generate api-resource Product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name price:decimal sku:string</a:t>
            </a: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migrate latest &amp;&amp; wheels reload</a:t>
            </a:r>
            <a:endParaRPr lang="en-US" sz="1100" dirty="0"/>
          </a:p>
          <a:p>
            <a:pPr marL="0" indent="0">
              <a:lnSpc>
                <a:spcPct val="115000"/>
              </a:lnSpc>
              <a:buNone/>
            </a:pPr>
            <a:endParaRPr lang="en-US" sz="1100" dirty="0"/>
          </a:p>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curl -X POST localhost:8080/api/products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-H 'Content-Type: application/json'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-d '{"product":{"name":"Drum","price":149.99}}'</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201 → JSON · then GET /api/products</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Rapid-fire. Don't explain deeply — the point is breadth.</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“Same generator, no views, JSON controller under an /api namespace. The API story is the same story.”</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Then name, don't demo: middleware with CORS, CSP, HSTS and rate limiting; SSE channels; background jobs; local + S3 storage with a from-scratch SigV4 signer; Kamal-compatible deploy.</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“In Rails, four of those are gems. Here they're the framework.”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20</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LIVE DEMO · BEAT 8 OF 8 · ~5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Wheels and AI coding agents</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txBody>
          <a:bodyPr/>
          <a:lstStyle/>
          <a:p>
            <a:endParaRPr lang="en-US"/>
          </a:p>
        </p:txBody>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737360"/>
            <a:ext cx="4572000" cy="2697480"/>
          </a:xfrm>
          <a:prstGeom prst="rect">
            <a:avLst/>
          </a:prstGeom>
          <a:noFill/>
          <a:ln/>
        </p:spPr>
        <p:txBody>
          <a:bodyPr wrap="square" lIns="0" tIns="0" rIns="0" bIns="0" rtlCol="0" anchor="t"/>
          <a:lstStyle/>
          <a:p>
            <a:pPr marL="0" indent="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r>
              <a:rPr lang="en-US" sz="1100" dirty="0">
                <a:solidFill>
                  <a:srgbClr val="E6EDF3"/>
                </a:solidFill>
                <a:latin typeface="Courier New" pitchFamily="34" charset="0"/>
                <a:ea typeface="Courier New" pitchFamily="34" charset="-122"/>
                <a:cs typeface="Courier New" pitchFamily="34" charset="-120"/>
              </a:rPr>
              <a:t>wheels mcp wheels</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stdio MCP server — 19 tools, auto-discovered</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generate · migrate · seed · test · routes · reload</a:t>
            </a:r>
            <a:endParaRPr lang="en-US" sz="1100" dirty="0"/>
          </a:p>
          <a:p>
            <a:pPr marL="0" indent="0">
              <a:lnSpc>
                <a:spcPct val="115000"/>
              </a:lnSpc>
              <a:buNone/>
            </a:pP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.mcp.json for Claude Code / Cursor:</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"mcpServers"</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3DDC84"/>
                </a:solidFill>
                <a:latin typeface="Courier New" pitchFamily="34" charset="0"/>
                <a:ea typeface="Courier New" pitchFamily="34" charset="-122"/>
                <a:cs typeface="Courier New" pitchFamily="34" charset="-120"/>
              </a:rPr>
              <a:t>"wheels"</a:t>
            </a: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"command"</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"wheels"</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"args"</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"mcp"</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3DDC84"/>
                </a:solidFill>
                <a:latin typeface="Courier New" pitchFamily="34" charset="0"/>
                <a:ea typeface="Courier New" pitchFamily="34" charset="-122"/>
                <a:cs typeface="Courier New" pitchFamily="34" charset="-120"/>
              </a:rPr>
              <a:t>"wheels"</a:t>
            </a:r>
            <a:r>
              <a:rPr lang="en-US" sz="1100" dirty="0">
                <a:solidFill>
                  <a:srgbClr val="E6EDF3"/>
                </a:solidFill>
                <a:latin typeface="Courier New" pitchFamily="34" charset="0"/>
                <a:ea typeface="Courier New" pitchFamily="34" charset="-122"/>
                <a:cs typeface="Courier New" pitchFamily="34" charset="-120"/>
              </a:rPr>
              <a:t>] } } }</a:t>
            </a:r>
            <a:endParaRPr lang="en-US" sz="1100" dirty="0"/>
          </a:p>
          <a:p>
            <a:pPr marL="0" indent="0">
              <a:lnSpc>
                <a:spcPct val="115000"/>
              </a:lnSpc>
              <a:buNone/>
            </a:pP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wheels new also drops CLAUDE.md + AGENTS.md</a:t>
            </a:r>
            <a:endParaRPr lang="en-US" sz="1100" dirty="0"/>
          </a:p>
          <a:p>
            <a:pPr marL="0" indent="0">
              <a:lnSpc>
                <a:spcPct val="115000"/>
              </a:lnSpc>
              <a:buNone/>
            </a:pPr>
            <a:r>
              <a:rPr lang="en-US" sz="1100" dirty="0">
                <a:solidFill>
                  <a:srgbClr val="9AA7B4"/>
                </a:solidFill>
                <a:latin typeface="Courier New" pitchFamily="34" charset="0"/>
                <a:ea typeface="Courier New" pitchFamily="34" charset="-122"/>
                <a:cs typeface="Courier New" pitchFamily="34" charset="-120"/>
              </a:rPr>
              <a:t># dev error page: Copy → JSON exception for your agent</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marL="0" indent="0">
              <a:buNone/>
            </a:pPr>
            <a:r>
              <a:rPr lang="en-US" sz="1400" i="1" dirty="0">
                <a:solidFill>
                  <a:srgbClr val="C9D3DD"/>
                </a:solidFill>
                <a:latin typeface="Calibri" pitchFamily="34" charset="0"/>
                <a:ea typeface="Calibri" pitchFamily="34" charset="-122"/>
                <a:cs typeface="Calibri" pitchFamily="34" charset="-120"/>
              </a:rPr>
              <a:t>“Point Claude or Cursor at your Wheels app and it can scaffold a resource, run the migration, seed it and run the suite against your actual project — not its memory of a framework it half-read on the internet.”</a:t>
            </a:r>
            <a:endParaRPr lang="en-US" sz="1400" dirty="0"/>
          </a:p>
          <a:p>
            <a:pPr marL="0" indent="0">
              <a:buNone/>
            </a:pPr>
            <a:endParaRPr lang="en-US" sz="1400" dirty="0"/>
          </a:p>
          <a:p>
            <a:pPr marL="0" indent="0">
              <a:buNone/>
            </a:pPr>
            <a:r>
              <a:rPr lang="en-US" sz="1400" i="1" dirty="0">
                <a:solidFill>
                  <a:srgbClr val="C9D3DD"/>
                </a:solidFill>
                <a:latin typeface="Calibri" pitchFamily="34" charset="0"/>
                <a:ea typeface="Calibri" pitchFamily="34" charset="-122"/>
                <a:cs typeface="Calibri" pitchFamily="34" charset="-120"/>
              </a:rPr>
              <a:t>The honest note: “I maintain this as one person. 4.x moved this fast because the CI, triage, reproductions and test enforcement are agent-driven. That's a talk of its own if Rick will have me back.”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What we just built</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50 MINUTES · ~15 COMMANDS · 3 HAND-TYPED FUNCTIONS</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457200" y="1188720"/>
            <a:ext cx="2651760" cy="1234440"/>
          </a:xfrm>
          <a:prstGeom prst="roundRect">
            <a:avLst>
              <a:gd name="adj" fmla="val 5926"/>
            </a:avLst>
          </a:prstGeom>
          <a:solidFill>
            <a:srgbClr val="F3F5F7"/>
          </a:solidFill>
          <a:ln w="12700">
            <a:solidFill>
              <a:srgbClr val="F3F5F7"/>
            </a:solidFill>
            <a:prstDash val="solid"/>
          </a:ln>
        </p:spPr>
        <p:txBody>
          <a:bodyPr/>
          <a:lstStyle/>
          <a:p>
            <a:endParaRPr lang="en-US"/>
          </a:p>
        </p:txBody>
      </p:sp>
      <p:sp>
        <p:nvSpPr>
          <p:cNvPr id="8" name="Shape 5"/>
          <p:cNvSpPr/>
          <p:nvPr/>
        </p:nvSpPr>
        <p:spPr>
          <a:xfrm>
            <a:off x="640080" y="1371600"/>
            <a:ext cx="365760" cy="365760"/>
          </a:xfrm>
          <a:prstGeom prst="ellipse">
            <a:avLst/>
          </a:prstGeom>
          <a:solidFill>
            <a:srgbClr val="EF3B2D"/>
          </a:solidFill>
          <a:ln w="12700">
            <a:solidFill>
              <a:srgbClr val="EF3B2D"/>
            </a:solidFill>
            <a:prstDash val="solid"/>
          </a:ln>
        </p:spPr>
        <p:txBody>
          <a:bodyPr/>
          <a:lstStyle/>
          <a:p>
            <a:endParaRPr lang="en-US"/>
          </a:p>
        </p:txBody>
      </p:sp>
      <p:sp>
        <p:nvSpPr>
          <p:cNvPr id="9" name="Text 6"/>
          <p:cNvSpPr txBox="1"/>
          <p:nvPr/>
        </p:nvSpPr>
        <p:spPr>
          <a:xfrm>
            <a:off x="640080" y="13716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7"/>
          <p:cNvSpPr txBox="1"/>
          <p:nvPr/>
        </p:nvSpPr>
        <p:spPr>
          <a:xfrm>
            <a:off x="1143000" y="1371600"/>
            <a:ext cx="1828800" cy="365760"/>
          </a:xfrm>
          <a:prstGeom prst="rect">
            <a:avLst/>
          </a:prstGeom>
          <a:noFill/>
          <a:ln/>
        </p:spPr>
        <p:txBody>
          <a:bodyPr wrap="square" lIns="0" tIns="0" rIns="0" bIns="0" rtlCol="0" anchor="ctr"/>
          <a:lstStyle/>
          <a:p>
            <a:pPr marL="0" indent="0">
              <a:buNone/>
            </a:pPr>
            <a:r>
              <a:rPr lang="en-US" sz="1700" b="1" dirty="0">
                <a:solidFill>
                  <a:srgbClr val="1A2430"/>
                </a:solidFill>
                <a:latin typeface="Calibri" pitchFamily="34" charset="0"/>
                <a:ea typeface="Calibri" pitchFamily="34" charset="-122"/>
                <a:cs typeface="Calibri" pitchFamily="34" charset="-120"/>
              </a:rPr>
              <a:t>Posts</a:t>
            </a:r>
            <a:endParaRPr lang="en-US" sz="1700" dirty="0"/>
          </a:p>
        </p:txBody>
      </p:sp>
      <p:sp>
        <p:nvSpPr>
          <p:cNvPr id="11" name="Text 8"/>
          <p:cNvSpPr txBox="1"/>
          <p:nvPr/>
        </p:nvSpPr>
        <p:spPr>
          <a:xfrm>
            <a:off x="640080" y="1847088"/>
            <a:ext cx="2286000" cy="50292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CRUD, validation, error rendering</a:t>
            </a:r>
            <a:endParaRPr lang="en-US" sz="1200" dirty="0"/>
          </a:p>
        </p:txBody>
      </p:sp>
      <p:sp>
        <p:nvSpPr>
          <p:cNvPr id="12" name="Shape 9"/>
          <p:cNvSpPr/>
          <p:nvPr/>
        </p:nvSpPr>
        <p:spPr>
          <a:xfrm>
            <a:off x="3246120" y="1188720"/>
            <a:ext cx="2651760" cy="1234440"/>
          </a:xfrm>
          <a:prstGeom prst="roundRect">
            <a:avLst>
              <a:gd name="adj" fmla="val 5926"/>
            </a:avLst>
          </a:prstGeom>
          <a:solidFill>
            <a:srgbClr val="F3F5F7"/>
          </a:solidFill>
          <a:ln w="12700">
            <a:solidFill>
              <a:srgbClr val="F3F5F7"/>
            </a:solidFill>
            <a:prstDash val="solid"/>
          </a:ln>
        </p:spPr>
        <p:txBody>
          <a:bodyPr/>
          <a:lstStyle/>
          <a:p>
            <a:endParaRPr lang="en-US"/>
          </a:p>
        </p:txBody>
      </p:sp>
      <p:sp>
        <p:nvSpPr>
          <p:cNvPr id="13" name="Shape 10"/>
          <p:cNvSpPr/>
          <p:nvPr/>
        </p:nvSpPr>
        <p:spPr>
          <a:xfrm>
            <a:off x="3429000" y="1371600"/>
            <a:ext cx="365760" cy="365760"/>
          </a:xfrm>
          <a:prstGeom prst="ellipse">
            <a:avLst/>
          </a:prstGeom>
          <a:solidFill>
            <a:srgbClr val="EF3B2D"/>
          </a:solidFill>
          <a:ln w="12700">
            <a:solidFill>
              <a:srgbClr val="EF3B2D"/>
            </a:solidFill>
            <a:prstDash val="solid"/>
          </a:ln>
        </p:spPr>
        <p:txBody>
          <a:bodyPr/>
          <a:lstStyle/>
          <a:p>
            <a:endParaRPr lang="en-US"/>
          </a:p>
        </p:txBody>
      </p:sp>
      <p:sp>
        <p:nvSpPr>
          <p:cNvPr id="14" name="Text 11"/>
          <p:cNvSpPr txBox="1"/>
          <p:nvPr/>
        </p:nvSpPr>
        <p:spPr>
          <a:xfrm>
            <a:off x="3429000" y="13716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5" name="Text 12"/>
          <p:cNvSpPr txBox="1"/>
          <p:nvPr/>
        </p:nvSpPr>
        <p:spPr>
          <a:xfrm>
            <a:off x="3931920" y="1371600"/>
            <a:ext cx="1828800" cy="365760"/>
          </a:xfrm>
          <a:prstGeom prst="rect">
            <a:avLst/>
          </a:prstGeom>
          <a:noFill/>
          <a:ln/>
        </p:spPr>
        <p:txBody>
          <a:bodyPr wrap="square" lIns="0" tIns="0" rIns="0" bIns="0" rtlCol="0" anchor="ctr"/>
          <a:lstStyle/>
          <a:p>
            <a:pPr marL="0" indent="0">
              <a:buNone/>
            </a:pPr>
            <a:r>
              <a:rPr lang="en-US" sz="1700" b="1" dirty="0">
                <a:solidFill>
                  <a:srgbClr val="1A2430"/>
                </a:solidFill>
                <a:latin typeface="Calibri" pitchFamily="34" charset="0"/>
                <a:ea typeface="Calibri" pitchFamily="34" charset="-122"/>
                <a:cs typeface="Calibri" pitchFamily="34" charset="-120"/>
              </a:rPr>
              <a:t>Comments</a:t>
            </a:r>
            <a:endParaRPr lang="en-US" sz="1700" dirty="0"/>
          </a:p>
        </p:txBody>
      </p:sp>
      <p:sp>
        <p:nvSpPr>
          <p:cNvPr id="16" name="Text 13"/>
          <p:cNvSpPr txBox="1"/>
          <p:nvPr/>
        </p:nvSpPr>
        <p:spPr>
          <a:xfrm>
            <a:off x="3429000" y="1847088"/>
            <a:ext cx="2286000" cy="50292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belongsTo / hasMany, eager loading</a:t>
            </a:r>
            <a:endParaRPr lang="en-US" sz="1200" dirty="0"/>
          </a:p>
        </p:txBody>
      </p:sp>
      <p:sp>
        <p:nvSpPr>
          <p:cNvPr id="17" name="Shape 14"/>
          <p:cNvSpPr/>
          <p:nvPr/>
        </p:nvSpPr>
        <p:spPr>
          <a:xfrm>
            <a:off x="6035040" y="1188720"/>
            <a:ext cx="2651760" cy="1234440"/>
          </a:xfrm>
          <a:prstGeom prst="roundRect">
            <a:avLst>
              <a:gd name="adj" fmla="val 5926"/>
            </a:avLst>
          </a:prstGeom>
          <a:solidFill>
            <a:srgbClr val="F3F5F7"/>
          </a:solidFill>
          <a:ln w="12700">
            <a:solidFill>
              <a:srgbClr val="F3F5F7"/>
            </a:solidFill>
            <a:prstDash val="solid"/>
          </a:ln>
        </p:spPr>
        <p:txBody>
          <a:bodyPr/>
          <a:lstStyle/>
          <a:p>
            <a:endParaRPr lang="en-US"/>
          </a:p>
        </p:txBody>
      </p:sp>
      <p:sp>
        <p:nvSpPr>
          <p:cNvPr id="18" name="Shape 15"/>
          <p:cNvSpPr/>
          <p:nvPr/>
        </p:nvSpPr>
        <p:spPr>
          <a:xfrm>
            <a:off x="6217920" y="1371600"/>
            <a:ext cx="365760" cy="365760"/>
          </a:xfrm>
          <a:prstGeom prst="ellipse">
            <a:avLst/>
          </a:prstGeom>
          <a:solidFill>
            <a:srgbClr val="EF3B2D"/>
          </a:solidFill>
          <a:ln w="12700">
            <a:solidFill>
              <a:srgbClr val="EF3B2D"/>
            </a:solidFill>
            <a:prstDash val="solid"/>
          </a:ln>
        </p:spPr>
        <p:txBody>
          <a:bodyPr/>
          <a:lstStyle/>
          <a:p>
            <a:endParaRPr lang="en-US"/>
          </a:p>
        </p:txBody>
      </p:sp>
      <p:sp>
        <p:nvSpPr>
          <p:cNvPr id="19" name="Text 16"/>
          <p:cNvSpPr txBox="1"/>
          <p:nvPr/>
        </p:nvSpPr>
        <p:spPr>
          <a:xfrm>
            <a:off x="6217920" y="13716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7"/>
          <p:cNvSpPr txBox="1"/>
          <p:nvPr/>
        </p:nvSpPr>
        <p:spPr>
          <a:xfrm>
            <a:off x="6720840" y="1371600"/>
            <a:ext cx="1828800" cy="365760"/>
          </a:xfrm>
          <a:prstGeom prst="rect">
            <a:avLst/>
          </a:prstGeom>
          <a:noFill/>
          <a:ln/>
        </p:spPr>
        <p:txBody>
          <a:bodyPr wrap="square" lIns="0" tIns="0" rIns="0" bIns="0" rtlCol="0" anchor="ctr"/>
          <a:lstStyle/>
          <a:p>
            <a:pPr marL="0" indent="0">
              <a:buNone/>
            </a:pPr>
            <a:r>
              <a:rPr lang="en-US" sz="1700" b="1" dirty="0">
                <a:solidFill>
                  <a:srgbClr val="1A2430"/>
                </a:solidFill>
                <a:latin typeface="Calibri" pitchFamily="34" charset="0"/>
                <a:ea typeface="Calibri" pitchFamily="34" charset="-122"/>
                <a:cs typeface="Calibri" pitchFamily="34" charset="-120"/>
              </a:rPr>
              <a:t>Users</a:t>
            </a:r>
            <a:endParaRPr lang="en-US" sz="1700" dirty="0"/>
          </a:p>
        </p:txBody>
      </p:sp>
      <p:sp>
        <p:nvSpPr>
          <p:cNvPr id="21" name="Text 18"/>
          <p:cNvSpPr txBox="1"/>
          <p:nvPr/>
        </p:nvSpPr>
        <p:spPr>
          <a:xfrm>
            <a:off x="6217920" y="1847088"/>
            <a:ext cx="2286000" cy="50292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bcrypt passwords, sessions, registration</a:t>
            </a:r>
            <a:endParaRPr lang="en-US" sz="1200" dirty="0"/>
          </a:p>
        </p:txBody>
      </p:sp>
      <p:sp>
        <p:nvSpPr>
          <p:cNvPr id="22" name="Shape 19"/>
          <p:cNvSpPr/>
          <p:nvPr/>
        </p:nvSpPr>
        <p:spPr>
          <a:xfrm>
            <a:off x="457200" y="2606040"/>
            <a:ext cx="2651760" cy="1234440"/>
          </a:xfrm>
          <a:prstGeom prst="roundRect">
            <a:avLst>
              <a:gd name="adj" fmla="val 5926"/>
            </a:avLst>
          </a:prstGeom>
          <a:solidFill>
            <a:srgbClr val="F3F5F7"/>
          </a:solidFill>
          <a:ln w="12700">
            <a:solidFill>
              <a:srgbClr val="F3F5F7"/>
            </a:solidFill>
            <a:prstDash val="solid"/>
          </a:ln>
        </p:spPr>
        <p:txBody>
          <a:bodyPr/>
          <a:lstStyle/>
          <a:p>
            <a:endParaRPr lang="en-US"/>
          </a:p>
        </p:txBody>
      </p:sp>
      <p:sp>
        <p:nvSpPr>
          <p:cNvPr id="23" name="Shape 20"/>
          <p:cNvSpPr/>
          <p:nvPr/>
        </p:nvSpPr>
        <p:spPr>
          <a:xfrm>
            <a:off x="640080" y="2788920"/>
            <a:ext cx="365760" cy="365760"/>
          </a:xfrm>
          <a:prstGeom prst="ellipse">
            <a:avLst/>
          </a:prstGeom>
          <a:solidFill>
            <a:srgbClr val="EF3B2D"/>
          </a:solidFill>
          <a:ln w="12700">
            <a:solidFill>
              <a:srgbClr val="EF3B2D"/>
            </a:solidFill>
            <a:prstDash val="solid"/>
          </a:ln>
        </p:spPr>
        <p:txBody>
          <a:bodyPr/>
          <a:lstStyle/>
          <a:p>
            <a:endParaRPr lang="en-US"/>
          </a:p>
        </p:txBody>
      </p:sp>
      <p:sp>
        <p:nvSpPr>
          <p:cNvPr id="24" name="Text 21"/>
          <p:cNvSpPr txBox="1"/>
          <p:nvPr/>
        </p:nvSpPr>
        <p:spPr>
          <a:xfrm>
            <a:off x="640080" y="27889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2"/>
          <p:cNvSpPr txBox="1"/>
          <p:nvPr/>
        </p:nvSpPr>
        <p:spPr>
          <a:xfrm>
            <a:off x="1143000" y="2788920"/>
            <a:ext cx="1828800" cy="365760"/>
          </a:xfrm>
          <a:prstGeom prst="rect">
            <a:avLst/>
          </a:prstGeom>
          <a:noFill/>
          <a:ln/>
        </p:spPr>
        <p:txBody>
          <a:bodyPr wrap="square" lIns="0" tIns="0" rIns="0" bIns="0" rtlCol="0" anchor="ctr"/>
          <a:lstStyle/>
          <a:p>
            <a:pPr marL="0" indent="0">
              <a:buNone/>
            </a:pPr>
            <a:r>
              <a:rPr lang="en-US" sz="1700" b="1" dirty="0">
                <a:solidFill>
                  <a:srgbClr val="1A2430"/>
                </a:solidFill>
                <a:latin typeface="Calibri" pitchFamily="34" charset="0"/>
                <a:ea typeface="Calibri" pitchFamily="34" charset="-122"/>
                <a:cs typeface="Calibri" pitchFamily="34" charset="-120"/>
              </a:rPr>
              <a:t>Policies</a:t>
            </a:r>
            <a:endParaRPr lang="en-US" sz="1700" dirty="0"/>
          </a:p>
        </p:txBody>
      </p:sp>
      <p:sp>
        <p:nvSpPr>
          <p:cNvPr id="26" name="Text 23"/>
          <p:cNvSpPr txBox="1"/>
          <p:nvPr/>
        </p:nvSpPr>
        <p:spPr>
          <a:xfrm>
            <a:off x="640080" y="3264408"/>
            <a:ext cx="2286000" cy="50292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default-deny authorization</a:t>
            </a:r>
            <a:endParaRPr lang="en-US" sz="1200" dirty="0"/>
          </a:p>
        </p:txBody>
      </p:sp>
      <p:sp>
        <p:nvSpPr>
          <p:cNvPr id="27" name="Shape 24"/>
          <p:cNvSpPr/>
          <p:nvPr/>
        </p:nvSpPr>
        <p:spPr>
          <a:xfrm>
            <a:off x="3246120" y="2606040"/>
            <a:ext cx="2651760" cy="1234440"/>
          </a:xfrm>
          <a:prstGeom prst="roundRect">
            <a:avLst>
              <a:gd name="adj" fmla="val 5926"/>
            </a:avLst>
          </a:prstGeom>
          <a:solidFill>
            <a:srgbClr val="F3F5F7"/>
          </a:solidFill>
          <a:ln w="12700">
            <a:solidFill>
              <a:srgbClr val="F3F5F7"/>
            </a:solidFill>
            <a:prstDash val="solid"/>
          </a:ln>
        </p:spPr>
        <p:txBody>
          <a:bodyPr/>
          <a:lstStyle/>
          <a:p>
            <a:endParaRPr lang="en-US"/>
          </a:p>
        </p:txBody>
      </p:sp>
      <p:sp>
        <p:nvSpPr>
          <p:cNvPr id="28" name="Shape 25"/>
          <p:cNvSpPr/>
          <p:nvPr/>
        </p:nvSpPr>
        <p:spPr>
          <a:xfrm>
            <a:off x="3429000" y="2788920"/>
            <a:ext cx="365760" cy="365760"/>
          </a:xfrm>
          <a:prstGeom prst="ellipse">
            <a:avLst/>
          </a:prstGeom>
          <a:solidFill>
            <a:srgbClr val="EF3B2D"/>
          </a:solidFill>
          <a:ln w="12700">
            <a:solidFill>
              <a:srgbClr val="EF3B2D"/>
            </a:solidFill>
            <a:prstDash val="solid"/>
          </a:ln>
        </p:spPr>
        <p:txBody>
          <a:bodyPr/>
          <a:lstStyle/>
          <a:p>
            <a:endParaRPr lang="en-US"/>
          </a:p>
        </p:txBody>
      </p:sp>
      <p:sp>
        <p:nvSpPr>
          <p:cNvPr id="29" name="Text 26"/>
          <p:cNvSpPr txBox="1"/>
          <p:nvPr/>
        </p:nvSpPr>
        <p:spPr>
          <a:xfrm>
            <a:off x="3429000" y="27889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7"/>
          <p:cNvSpPr txBox="1"/>
          <p:nvPr/>
        </p:nvSpPr>
        <p:spPr>
          <a:xfrm>
            <a:off x="3931920" y="2788920"/>
            <a:ext cx="1828800" cy="365760"/>
          </a:xfrm>
          <a:prstGeom prst="rect">
            <a:avLst/>
          </a:prstGeom>
          <a:noFill/>
          <a:ln/>
        </p:spPr>
        <p:txBody>
          <a:bodyPr wrap="square" lIns="0" tIns="0" rIns="0" bIns="0" rtlCol="0" anchor="ctr"/>
          <a:lstStyle/>
          <a:p>
            <a:pPr marL="0" indent="0">
              <a:buNone/>
            </a:pPr>
            <a:r>
              <a:rPr lang="en-US" sz="1700" b="1" dirty="0">
                <a:solidFill>
                  <a:srgbClr val="1A2430"/>
                </a:solidFill>
                <a:latin typeface="Calibri" pitchFamily="34" charset="0"/>
                <a:ea typeface="Calibri" pitchFamily="34" charset="-122"/>
                <a:cs typeface="Calibri" pitchFamily="34" charset="-120"/>
              </a:rPr>
              <a:t>Tests</a:t>
            </a:r>
            <a:endParaRPr lang="en-US" sz="1700" dirty="0"/>
          </a:p>
        </p:txBody>
      </p:sp>
      <p:sp>
        <p:nvSpPr>
          <p:cNvPr id="31" name="Text 28"/>
          <p:cNvSpPr txBox="1"/>
          <p:nvPr/>
        </p:nvSpPr>
        <p:spPr>
          <a:xfrm>
            <a:off x="3429000" y="3264408"/>
            <a:ext cx="2286000" cy="50292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WheelsTest specs, red → green</a:t>
            </a:r>
            <a:endParaRPr lang="en-US" sz="1200" dirty="0"/>
          </a:p>
        </p:txBody>
      </p:sp>
      <p:sp>
        <p:nvSpPr>
          <p:cNvPr id="32" name="Shape 29"/>
          <p:cNvSpPr/>
          <p:nvPr/>
        </p:nvSpPr>
        <p:spPr>
          <a:xfrm>
            <a:off x="6035040" y="2606040"/>
            <a:ext cx="2651760" cy="1234440"/>
          </a:xfrm>
          <a:prstGeom prst="roundRect">
            <a:avLst>
              <a:gd name="adj" fmla="val 5926"/>
            </a:avLst>
          </a:prstGeom>
          <a:solidFill>
            <a:srgbClr val="F3F5F7"/>
          </a:solidFill>
          <a:ln w="12700">
            <a:solidFill>
              <a:srgbClr val="F3F5F7"/>
            </a:solidFill>
            <a:prstDash val="solid"/>
          </a:ln>
        </p:spPr>
        <p:txBody>
          <a:bodyPr/>
          <a:lstStyle/>
          <a:p>
            <a:endParaRPr lang="en-US"/>
          </a:p>
        </p:txBody>
      </p:sp>
      <p:sp>
        <p:nvSpPr>
          <p:cNvPr id="33" name="Shape 30"/>
          <p:cNvSpPr/>
          <p:nvPr/>
        </p:nvSpPr>
        <p:spPr>
          <a:xfrm>
            <a:off x="6217920" y="2788920"/>
            <a:ext cx="365760" cy="365760"/>
          </a:xfrm>
          <a:prstGeom prst="ellipse">
            <a:avLst/>
          </a:prstGeom>
          <a:solidFill>
            <a:srgbClr val="EF3B2D"/>
          </a:solidFill>
          <a:ln w="12700">
            <a:solidFill>
              <a:srgbClr val="EF3B2D"/>
            </a:solidFill>
            <a:prstDash val="solid"/>
          </a:ln>
        </p:spPr>
        <p:txBody>
          <a:bodyPr/>
          <a:lstStyle/>
          <a:p>
            <a:endParaRPr lang="en-US"/>
          </a:p>
        </p:txBody>
      </p:sp>
      <p:sp>
        <p:nvSpPr>
          <p:cNvPr id="34" name="Text 31"/>
          <p:cNvSpPr txBox="1"/>
          <p:nvPr/>
        </p:nvSpPr>
        <p:spPr>
          <a:xfrm>
            <a:off x="6217920" y="27889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5" name="Text 32"/>
          <p:cNvSpPr txBox="1"/>
          <p:nvPr/>
        </p:nvSpPr>
        <p:spPr>
          <a:xfrm>
            <a:off x="6720840" y="2788920"/>
            <a:ext cx="1828800" cy="365760"/>
          </a:xfrm>
          <a:prstGeom prst="rect">
            <a:avLst/>
          </a:prstGeom>
          <a:noFill/>
          <a:ln/>
        </p:spPr>
        <p:txBody>
          <a:bodyPr wrap="square" lIns="0" tIns="0" rIns="0" bIns="0" rtlCol="0" anchor="ctr"/>
          <a:lstStyle/>
          <a:p>
            <a:pPr marL="0" indent="0">
              <a:buNone/>
            </a:pPr>
            <a:r>
              <a:rPr lang="en-US" sz="1700" b="1" dirty="0">
                <a:solidFill>
                  <a:srgbClr val="1A2430"/>
                </a:solidFill>
                <a:latin typeface="Calibri" pitchFamily="34" charset="0"/>
                <a:ea typeface="Calibri" pitchFamily="34" charset="-122"/>
                <a:cs typeface="Calibri" pitchFamily="34" charset="-120"/>
              </a:rPr>
              <a:t>API</a:t>
            </a:r>
            <a:endParaRPr lang="en-US" sz="1700" dirty="0"/>
          </a:p>
        </p:txBody>
      </p:sp>
      <p:sp>
        <p:nvSpPr>
          <p:cNvPr id="36" name="Text 33"/>
          <p:cNvSpPr txBox="1"/>
          <p:nvPr/>
        </p:nvSpPr>
        <p:spPr>
          <a:xfrm>
            <a:off x="6217920" y="3264408"/>
            <a:ext cx="2286000" cy="502920"/>
          </a:xfrm>
          <a:prstGeom prst="rect">
            <a:avLst/>
          </a:prstGeom>
          <a:noFill/>
          <a:ln/>
        </p:spPr>
        <p:txBody>
          <a:bodyPr wrap="square" lIns="0" tIns="0" rIns="0" bIns="0" rtlCol="0" anchor="ctr"/>
          <a:lstStyle/>
          <a:p>
            <a:pPr marL="0" indent="0">
              <a:buNone/>
            </a:pPr>
            <a:r>
              <a:rPr lang="en-US" sz="1200" dirty="0">
                <a:solidFill>
                  <a:srgbClr val="6B7785"/>
                </a:solidFill>
                <a:latin typeface="Calibri" pitchFamily="34" charset="0"/>
                <a:ea typeface="Calibri" pitchFamily="34" charset="-122"/>
                <a:cs typeface="Calibri" pitchFamily="34" charset="-120"/>
              </a:rPr>
              <a:t>/api/products, JSON, versioned</a:t>
            </a:r>
            <a:endParaRPr lang="en-US" sz="1200" dirty="0"/>
          </a:p>
        </p:txBody>
      </p:sp>
      <p:sp>
        <p:nvSpPr>
          <p:cNvPr id="37" name="Text 34"/>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300" i="1" dirty="0">
                <a:solidFill>
                  <a:srgbClr val="6B7785"/>
                </a:solidFill>
                <a:latin typeface="Calibri" pitchFamily="34" charset="0"/>
                <a:ea typeface="Calibri" pitchFamily="34" charset="-122"/>
                <a:cs typeface="Calibri" pitchFamily="34" charset="-120"/>
              </a:rPr>
              <a:t>Nothing on screen was pre-built. The repo is public — link in the YouTube description.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Also in the box — no plugins required</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WHAT WE DIDN'T HAVE TIME FOR</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9AA7B4"/>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457200" y="118872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8" name="Text 5"/>
          <p:cNvSpPr txBox="1"/>
          <p:nvPr/>
        </p:nvSpPr>
        <p:spPr>
          <a:xfrm>
            <a:off x="621792" y="132588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Security middleware</a:t>
            </a:r>
            <a:endParaRPr lang="en-US" sz="1350" dirty="0"/>
          </a:p>
        </p:txBody>
      </p:sp>
      <p:sp>
        <p:nvSpPr>
          <p:cNvPr id="9" name="Text 6"/>
          <p:cNvSpPr txBox="1"/>
          <p:nvPr/>
        </p:nvSpPr>
        <p:spPr>
          <a:xfrm>
            <a:off x="621792" y="184708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CORS, CSP, HSTS, rate limiting, CSRF</a:t>
            </a:r>
            <a:endParaRPr lang="en-US" sz="1050" dirty="0"/>
          </a:p>
        </p:txBody>
      </p:sp>
      <p:sp>
        <p:nvSpPr>
          <p:cNvPr id="10" name="Shape 7"/>
          <p:cNvSpPr/>
          <p:nvPr/>
        </p:nvSpPr>
        <p:spPr>
          <a:xfrm>
            <a:off x="2560320" y="118872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11" name="Text 8"/>
          <p:cNvSpPr txBox="1"/>
          <p:nvPr/>
        </p:nvSpPr>
        <p:spPr>
          <a:xfrm>
            <a:off x="2724912" y="132588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Server-Sent Events</a:t>
            </a:r>
            <a:endParaRPr lang="en-US" sz="1350" dirty="0"/>
          </a:p>
        </p:txBody>
      </p:sp>
      <p:sp>
        <p:nvSpPr>
          <p:cNvPr id="12" name="Text 9"/>
          <p:cNvSpPr txBox="1"/>
          <p:nvPr/>
        </p:nvSpPr>
        <p:spPr>
          <a:xfrm>
            <a:off x="2724912" y="184708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channels for live updates without a socket server</a:t>
            </a:r>
            <a:endParaRPr lang="en-US" sz="1050" dirty="0"/>
          </a:p>
        </p:txBody>
      </p:sp>
      <p:sp>
        <p:nvSpPr>
          <p:cNvPr id="13" name="Shape 10"/>
          <p:cNvSpPr/>
          <p:nvPr/>
        </p:nvSpPr>
        <p:spPr>
          <a:xfrm>
            <a:off x="4663440" y="118872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14" name="Text 11"/>
          <p:cNvSpPr txBox="1"/>
          <p:nvPr/>
        </p:nvSpPr>
        <p:spPr>
          <a:xfrm>
            <a:off x="4828032" y="132588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Background jobs</a:t>
            </a:r>
            <a:endParaRPr lang="en-US" sz="1350" dirty="0"/>
          </a:p>
        </p:txBody>
      </p:sp>
      <p:sp>
        <p:nvSpPr>
          <p:cNvPr id="15" name="Text 12"/>
          <p:cNvSpPr txBox="1"/>
          <p:nvPr/>
        </p:nvSpPr>
        <p:spPr>
          <a:xfrm>
            <a:off x="4828032" y="184708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queue work out of the request</a:t>
            </a:r>
            <a:endParaRPr lang="en-US" sz="1050" dirty="0"/>
          </a:p>
        </p:txBody>
      </p:sp>
      <p:sp>
        <p:nvSpPr>
          <p:cNvPr id="16" name="Shape 13"/>
          <p:cNvSpPr/>
          <p:nvPr/>
        </p:nvSpPr>
        <p:spPr>
          <a:xfrm>
            <a:off x="6766560" y="118872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17" name="Text 14"/>
          <p:cNvSpPr txBox="1"/>
          <p:nvPr/>
        </p:nvSpPr>
        <p:spPr>
          <a:xfrm>
            <a:off x="6931152" y="132588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Storage disks</a:t>
            </a:r>
            <a:endParaRPr lang="en-US" sz="1350" dirty="0"/>
          </a:p>
        </p:txBody>
      </p:sp>
      <p:sp>
        <p:nvSpPr>
          <p:cNvPr id="18" name="Text 15"/>
          <p:cNvSpPr txBox="1"/>
          <p:nvPr/>
        </p:nvSpPr>
        <p:spPr>
          <a:xfrm>
            <a:off x="6931152" y="184708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local + S3 drivers, presigned URLs, no AWS SDK</a:t>
            </a:r>
            <a:endParaRPr lang="en-US" sz="1050" dirty="0"/>
          </a:p>
        </p:txBody>
      </p:sp>
      <p:sp>
        <p:nvSpPr>
          <p:cNvPr id="19" name="Shape 16"/>
          <p:cNvSpPr/>
          <p:nvPr/>
        </p:nvSpPr>
        <p:spPr>
          <a:xfrm>
            <a:off x="457200" y="274320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20" name="Text 17"/>
          <p:cNvSpPr txBox="1"/>
          <p:nvPr/>
        </p:nvSpPr>
        <p:spPr>
          <a:xfrm>
            <a:off x="621792" y="288036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Multi-tenancy</a:t>
            </a:r>
            <a:endParaRPr lang="en-US" sz="1350" dirty="0"/>
          </a:p>
        </p:txBody>
      </p:sp>
      <p:sp>
        <p:nvSpPr>
          <p:cNvPr id="21" name="Text 18"/>
          <p:cNvSpPr txBox="1"/>
          <p:nvPr/>
        </p:nvSpPr>
        <p:spPr>
          <a:xfrm>
            <a:off x="621792" y="340156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per-tenant datasources</a:t>
            </a:r>
            <a:endParaRPr lang="en-US" sz="1050" dirty="0"/>
          </a:p>
        </p:txBody>
      </p:sp>
      <p:sp>
        <p:nvSpPr>
          <p:cNvPr id="22" name="Shape 19"/>
          <p:cNvSpPr/>
          <p:nvPr/>
        </p:nvSpPr>
        <p:spPr>
          <a:xfrm>
            <a:off x="2560320" y="274320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23" name="Text 20"/>
          <p:cNvSpPr txBox="1"/>
          <p:nvPr/>
        </p:nvSpPr>
        <p:spPr>
          <a:xfrm>
            <a:off x="2724912" y="288036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Deploy</a:t>
            </a:r>
            <a:endParaRPr lang="en-US" sz="1350" dirty="0"/>
          </a:p>
        </p:txBody>
      </p:sp>
      <p:sp>
        <p:nvSpPr>
          <p:cNvPr id="24" name="Text 21"/>
          <p:cNvSpPr txBox="1"/>
          <p:nvPr/>
        </p:nvSpPr>
        <p:spPr>
          <a:xfrm>
            <a:off x="2724912" y="340156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Docker images and Kamal-compatible deploys</a:t>
            </a:r>
            <a:endParaRPr lang="en-US" sz="1050" dirty="0"/>
          </a:p>
        </p:txBody>
      </p:sp>
      <p:sp>
        <p:nvSpPr>
          <p:cNvPr id="25" name="Shape 22"/>
          <p:cNvSpPr/>
          <p:nvPr/>
        </p:nvSpPr>
        <p:spPr>
          <a:xfrm>
            <a:off x="4663440" y="274320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26" name="Text 23"/>
          <p:cNvSpPr txBox="1"/>
          <p:nvPr/>
        </p:nvSpPr>
        <p:spPr>
          <a:xfrm>
            <a:off x="4828032" y="288036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Dev tooling</a:t>
            </a:r>
            <a:endParaRPr lang="en-US" sz="1350" dirty="0"/>
          </a:p>
        </p:txBody>
      </p:sp>
      <p:sp>
        <p:nvSpPr>
          <p:cNvPr id="27" name="Text 24"/>
          <p:cNvSpPr txBox="1"/>
          <p:nvPr/>
        </p:nvSpPr>
        <p:spPr>
          <a:xfrm>
            <a:off x="4828032" y="340156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debug bar with code complexity, wheels coverage CRAP report, migrate diff</a:t>
            </a:r>
            <a:endParaRPr lang="en-US" sz="1050" dirty="0"/>
          </a:p>
        </p:txBody>
      </p:sp>
      <p:sp>
        <p:nvSpPr>
          <p:cNvPr id="28" name="Shape 25"/>
          <p:cNvSpPr/>
          <p:nvPr/>
        </p:nvSpPr>
        <p:spPr>
          <a:xfrm>
            <a:off x="6766560" y="2743200"/>
            <a:ext cx="1920240" cy="1371600"/>
          </a:xfrm>
          <a:prstGeom prst="roundRect">
            <a:avLst>
              <a:gd name="adj" fmla="val 5333"/>
            </a:avLst>
          </a:prstGeom>
          <a:solidFill>
            <a:srgbClr val="16232F"/>
          </a:solidFill>
          <a:ln w="12700">
            <a:solidFill>
              <a:srgbClr val="16232F"/>
            </a:solidFill>
            <a:prstDash val="solid"/>
          </a:ln>
        </p:spPr>
        <p:txBody>
          <a:bodyPr/>
          <a:lstStyle/>
          <a:p>
            <a:endParaRPr lang="en-US"/>
          </a:p>
        </p:txBody>
      </p:sp>
      <p:sp>
        <p:nvSpPr>
          <p:cNvPr id="29" name="Text 26"/>
          <p:cNvSpPr txBox="1"/>
          <p:nvPr/>
        </p:nvSpPr>
        <p:spPr>
          <a:xfrm>
            <a:off x="6931152" y="2880360"/>
            <a:ext cx="160020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Plugins &amp; packages</a:t>
            </a:r>
            <a:endParaRPr lang="en-US" sz="1350" dirty="0"/>
          </a:p>
        </p:txBody>
      </p:sp>
      <p:sp>
        <p:nvSpPr>
          <p:cNvPr id="30" name="Text 27"/>
          <p:cNvSpPr txBox="1"/>
          <p:nvPr/>
        </p:nvSpPr>
        <p:spPr>
          <a:xfrm>
            <a:off x="6931152" y="3401568"/>
            <a:ext cx="1600200" cy="640080"/>
          </a:xfrm>
          <a:prstGeom prst="rect">
            <a:avLst/>
          </a:prstGeom>
          <a:noFill/>
          <a:ln/>
        </p:spPr>
        <p:txBody>
          <a:bodyPr wrap="square" lIns="0" tIns="0" rIns="0" bIns="0" rtlCol="0" anchor="t"/>
          <a:lstStyle/>
          <a:p>
            <a:pPr marL="0" indent="0">
              <a:buNone/>
            </a:pPr>
            <a:r>
              <a:rPr lang="en-US" sz="1050" dirty="0">
                <a:solidFill>
                  <a:srgbClr val="9AA7B4"/>
                </a:solidFill>
                <a:latin typeface="Calibri" pitchFamily="34" charset="0"/>
                <a:ea typeface="Calibri" pitchFamily="34" charset="-122"/>
                <a:cs typeface="Calibri" pitchFamily="34" charset="-120"/>
              </a:rPr>
              <a:t>ForgeBox ecosystem when you want more</a:t>
            </a:r>
            <a:endParaRPr lang="en-US" sz="1050" dirty="0"/>
          </a:p>
        </p:txBody>
      </p:sp>
      <p:sp>
        <p:nvSpPr>
          <p:cNvPr id="31" name="Text 28"/>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300" i="1" dirty="0">
                <a:solidFill>
                  <a:srgbClr val="C9D3DD"/>
                </a:solidFill>
                <a:latin typeface="Calibri" pitchFamily="34" charset="0"/>
                <a:ea typeface="Calibri" pitchFamily="34" charset="-122"/>
                <a:cs typeface="Calibri" pitchFamily="34" charset="-120"/>
              </a:rPr>
              <a:t>“In Rails, half of these are gems. Here they're the framework.”</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“How do I move my existing app to it?”</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THE QUESTION EVERYONE ASKS</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23</a:t>
            </a:r>
            <a:endParaRPr lang="en-US" sz="900" dirty="0"/>
          </a:p>
        </p:txBody>
      </p:sp>
      <p:sp>
        <p:nvSpPr>
          <p:cNvPr id="7" name="Text 4"/>
          <p:cNvSpPr txBox="1"/>
          <p:nvPr/>
        </p:nvSpPr>
        <p:spPr>
          <a:xfrm>
            <a:off x="457200" y="1097280"/>
            <a:ext cx="8229600" cy="457200"/>
          </a:xfrm>
          <a:prstGeom prst="rect">
            <a:avLst/>
          </a:prstGeom>
          <a:noFill/>
          <a:ln/>
        </p:spPr>
        <p:txBody>
          <a:bodyPr wrap="square" lIns="0" tIns="0" rIns="0" bIns="0" rtlCol="0" anchor="ctr"/>
          <a:lstStyle/>
          <a:p>
            <a:pPr marL="0" indent="0">
              <a:buNone/>
            </a:pPr>
            <a:r>
              <a:rPr lang="en-US" sz="2200" b="1" dirty="0">
                <a:solidFill>
                  <a:srgbClr val="EF3B2D"/>
                </a:solidFill>
                <a:latin typeface="Calibri" pitchFamily="34" charset="0"/>
                <a:ea typeface="Calibri" pitchFamily="34" charset="-122"/>
                <a:cs typeface="Calibri" pitchFamily="34" charset="-120"/>
              </a:rPr>
              <a:t>You don't — not in one go.</a:t>
            </a:r>
            <a:endParaRPr lang="en-US" sz="2200" dirty="0"/>
          </a:p>
        </p:txBody>
      </p:sp>
      <p:sp>
        <p:nvSpPr>
          <p:cNvPr id="8" name="Shape 5"/>
          <p:cNvSpPr/>
          <p:nvPr/>
        </p:nvSpPr>
        <p:spPr>
          <a:xfrm>
            <a:off x="457200" y="1737360"/>
            <a:ext cx="457200" cy="457200"/>
          </a:xfrm>
          <a:prstGeom prst="ellipse">
            <a:avLst/>
          </a:prstGeom>
          <a:solidFill>
            <a:srgbClr val="0C1620"/>
          </a:solidFill>
          <a:ln w="12700">
            <a:solidFill>
              <a:srgbClr val="0C1620"/>
            </a:solidFill>
            <a:prstDash val="solid"/>
          </a:ln>
        </p:spPr>
        <p:txBody>
          <a:bodyPr/>
          <a:lstStyle/>
          <a:p>
            <a:endParaRPr lang="en-US"/>
          </a:p>
        </p:txBody>
      </p:sp>
      <p:sp>
        <p:nvSpPr>
          <p:cNvPr id="9" name="Text 6"/>
          <p:cNvSpPr txBox="1"/>
          <p:nvPr/>
        </p:nvSpPr>
        <p:spPr>
          <a:xfrm>
            <a:off x="457200" y="1737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097280" y="1691640"/>
            <a:ext cx="7589520" cy="292608"/>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Run it beside the legacy app</a:t>
            </a:r>
            <a:endParaRPr lang="en-US" sz="1500" dirty="0"/>
          </a:p>
        </p:txBody>
      </p:sp>
      <p:sp>
        <p:nvSpPr>
          <p:cNvPr id="11" name="Text 8"/>
          <p:cNvSpPr txBox="1"/>
          <p:nvPr/>
        </p:nvSpPr>
        <p:spPr>
          <a:xfrm>
            <a:off x="1097280" y="1984248"/>
            <a:ext cx="7589520" cy="320040"/>
          </a:xfrm>
          <a:prstGeom prst="rect">
            <a:avLst/>
          </a:prstGeom>
          <a:noFill/>
          <a:ln/>
        </p:spPr>
        <p:txBody>
          <a:bodyPr wrap="square" lIns="0" tIns="0" rIns="0" bIns="0" rtlCol="0" anchor="ctr"/>
          <a:lstStyle/>
          <a:p>
            <a:pPr marL="0" indent="0">
              <a:buNone/>
            </a:pPr>
            <a:r>
              <a:rPr lang="en-US" sz="1150" dirty="0">
                <a:solidFill>
                  <a:srgbClr val="6B7785"/>
                </a:solidFill>
                <a:latin typeface="Calibri" pitchFamily="34" charset="0"/>
                <a:ea typeface="Calibri" pitchFamily="34" charset="-122"/>
                <a:cs typeface="Calibri" pitchFamily="34" charset="-120"/>
              </a:rPr>
              <a:t>Wheels sits at a URL. Put it at /app or a subdomain, pointed at the same database.</a:t>
            </a:r>
            <a:endParaRPr lang="en-US" sz="1150" dirty="0"/>
          </a:p>
        </p:txBody>
      </p:sp>
      <p:sp>
        <p:nvSpPr>
          <p:cNvPr id="12" name="Shape 9"/>
          <p:cNvSpPr/>
          <p:nvPr/>
        </p:nvSpPr>
        <p:spPr>
          <a:xfrm>
            <a:off x="457200" y="2423160"/>
            <a:ext cx="457200" cy="457200"/>
          </a:xfrm>
          <a:prstGeom prst="ellipse">
            <a:avLst/>
          </a:prstGeom>
          <a:solidFill>
            <a:srgbClr val="0C1620"/>
          </a:solidFill>
          <a:ln w="12700">
            <a:solidFill>
              <a:srgbClr val="0C1620"/>
            </a:solidFill>
            <a:prstDash val="solid"/>
          </a:ln>
        </p:spPr>
        <p:txBody>
          <a:bodyPr/>
          <a:lstStyle/>
          <a:p>
            <a:endParaRPr lang="en-US"/>
          </a:p>
        </p:txBody>
      </p:sp>
      <p:sp>
        <p:nvSpPr>
          <p:cNvPr id="13" name="Text 10"/>
          <p:cNvSpPr txBox="1"/>
          <p:nvPr/>
        </p:nvSpPr>
        <p:spPr>
          <a:xfrm>
            <a:off x="457200" y="2423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097280" y="2377440"/>
            <a:ext cx="7589520" cy="292608"/>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Move one route at a time</a:t>
            </a:r>
            <a:endParaRPr lang="en-US" sz="1500" dirty="0"/>
          </a:p>
        </p:txBody>
      </p:sp>
      <p:sp>
        <p:nvSpPr>
          <p:cNvPr id="15" name="Text 12"/>
          <p:cNvSpPr txBox="1"/>
          <p:nvPr/>
        </p:nvSpPr>
        <p:spPr>
          <a:xfrm>
            <a:off x="1097280" y="2670048"/>
            <a:ext cx="7589520" cy="320040"/>
          </a:xfrm>
          <a:prstGeom prst="rect">
            <a:avLst/>
          </a:prstGeom>
          <a:noFill/>
          <a:ln/>
        </p:spPr>
        <p:txBody>
          <a:bodyPr wrap="square" lIns="0" tIns="0" rIns="0" bIns="0" rtlCol="0" anchor="ctr"/>
          <a:lstStyle/>
          <a:p>
            <a:pPr marL="0" indent="0">
              <a:buNone/>
            </a:pPr>
            <a:r>
              <a:rPr lang="en-US" sz="1150" dirty="0">
                <a:solidFill>
                  <a:srgbClr val="6B7785"/>
                </a:solidFill>
                <a:latin typeface="Calibri" pitchFamily="34" charset="0"/>
                <a:ea typeface="Calibri" pitchFamily="34" charset="-122"/>
                <a:cs typeface="Calibri" pitchFamily="34" charset="-120"/>
              </a:rPr>
              <a:t>New features land in Wheels. Old pages keep working untouched. Nothing is a big-bang.</a:t>
            </a:r>
            <a:endParaRPr lang="en-US" sz="1150" dirty="0"/>
          </a:p>
        </p:txBody>
      </p:sp>
      <p:sp>
        <p:nvSpPr>
          <p:cNvPr id="16" name="Shape 13"/>
          <p:cNvSpPr/>
          <p:nvPr/>
        </p:nvSpPr>
        <p:spPr>
          <a:xfrm>
            <a:off x="457200" y="3108960"/>
            <a:ext cx="457200" cy="457200"/>
          </a:xfrm>
          <a:prstGeom prst="ellipse">
            <a:avLst/>
          </a:prstGeom>
          <a:solidFill>
            <a:srgbClr val="0C1620"/>
          </a:solidFill>
          <a:ln w="12700">
            <a:solidFill>
              <a:srgbClr val="0C1620"/>
            </a:solidFill>
            <a:prstDash val="solid"/>
          </a:ln>
        </p:spPr>
        <p:txBody>
          <a:bodyPr/>
          <a:lstStyle/>
          <a:p>
            <a:endParaRPr lang="en-US"/>
          </a:p>
        </p:txBody>
      </p:sp>
      <p:sp>
        <p:nvSpPr>
          <p:cNvPr id="17" name="Text 14"/>
          <p:cNvSpPr txBox="1"/>
          <p:nvPr/>
        </p:nvSpPr>
        <p:spPr>
          <a:xfrm>
            <a:off x="457200" y="3108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5"/>
          <p:cNvSpPr txBox="1"/>
          <p:nvPr/>
        </p:nvSpPr>
        <p:spPr>
          <a:xfrm>
            <a:off x="1097280" y="3063240"/>
            <a:ext cx="7589520" cy="292608"/>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Models over existing tables</a:t>
            </a:r>
            <a:endParaRPr lang="en-US" sz="1500" dirty="0"/>
          </a:p>
        </p:txBody>
      </p:sp>
      <p:sp>
        <p:nvSpPr>
          <p:cNvPr id="19" name="Text 16"/>
          <p:cNvSpPr txBox="1"/>
          <p:nvPr/>
        </p:nvSpPr>
        <p:spPr>
          <a:xfrm>
            <a:off x="1097280" y="3355848"/>
            <a:ext cx="7589520" cy="320040"/>
          </a:xfrm>
          <a:prstGeom prst="rect">
            <a:avLst/>
          </a:prstGeom>
          <a:noFill/>
          <a:ln/>
        </p:spPr>
        <p:txBody>
          <a:bodyPr wrap="square" lIns="0" tIns="0" rIns="0" bIns="0" rtlCol="0" anchor="ctr"/>
          <a:lstStyle/>
          <a:p>
            <a:pPr marL="0" indent="0">
              <a:buNone/>
            </a:pPr>
            <a:r>
              <a:rPr lang="en-US" sz="1150" dirty="0">
                <a:solidFill>
                  <a:srgbClr val="6B7785"/>
                </a:solidFill>
                <a:latin typeface="Calibri" pitchFamily="34" charset="0"/>
                <a:ea typeface="Calibri" pitchFamily="34" charset="-122"/>
                <a:cs typeface="Calibri" pitchFamily="34" charset="-120"/>
              </a:rPr>
              <a:t>table("LEGACY_TBL") and property mapping mean the ORM works against the schema you have.</a:t>
            </a:r>
            <a:endParaRPr lang="en-US" sz="1150" dirty="0"/>
          </a:p>
        </p:txBody>
      </p:sp>
      <p:sp>
        <p:nvSpPr>
          <p:cNvPr id="20" name="Shape 17"/>
          <p:cNvSpPr/>
          <p:nvPr/>
        </p:nvSpPr>
        <p:spPr>
          <a:xfrm>
            <a:off x="457200" y="3794760"/>
            <a:ext cx="457200" cy="457200"/>
          </a:xfrm>
          <a:prstGeom prst="ellipse">
            <a:avLst/>
          </a:prstGeom>
          <a:solidFill>
            <a:srgbClr val="0C1620"/>
          </a:solidFill>
          <a:ln w="12700">
            <a:solidFill>
              <a:srgbClr val="0C1620"/>
            </a:solidFill>
            <a:prstDash val="solid"/>
          </a:ln>
        </p:spPr>
        <p:txBody>
          <a:bodyPr/>
          <a:lstStyle/>
          <a:p>
            <a:endParaRPr lang="en-US"/>
          </a:p>
        </p:txBody>
      </p:sp>
      <p:sp>
        <p:nvSpPr>
          <p:cNvPr id="21" name="Text 18"/>
          <p:cNvSpPr txBox="1"/>
          <p:nvPr/>
        </p:nvSpPr>
        <p:spPr>
          <a:xfrm>
            <a:off x="457200" y="37947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1097280" y="3749040"/>
            <a:ext cx="7589520" cy="292608"/>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Pick your engine later</a:t>
            </a:r>
            <a:endParaRPr lang="en-US" sz="1500" dirty="0"/>
          </a:p>
        </p:txBody>
      </p:sp>
      <p:sp>
        <p:nvSpPr>
          <p:cNvPr id="23" name="Text 20"/>
          <p:cNvSpPr txBox="1"/>
          <p:nvPr/>
        </p:nvSpPr>
        <p:spPr>
          <a:xfrm>
            <a:off x="1097280" y="4041648"/>
            <a:ext cx="7589520" cy="320040"/>
          </a:xfrm>
          <a:prstGeom prst="rect">
            <a:avLst/>
          </a:prstGeom>
          <a:noFill/>
          <a:ln/>
        </p:spPr>
        <p:txBody>
          <a:bodyPr wrap="square" lIns="0" tIns="0" rIns="0" bIns="0" rtlCol="0" anchor="ctr"/>
          <a:lstStyle/>
          <a:p>
            <a:pPr marL="0" indent="0">
              <a:buNone/>
            </a:pPr>
            <a:r>
              <a:rPr lang="en-US" sz="1150" dirty="0">
                <a:solidFill>
                  <a:srgbClr val="6B7785"/>
                </a:solidFill>
                <a:latin typeface="Calibri" pitchFamily="34" charset="0"/>
                <a:ea typeface="Calibri" pitchFamily="34" charset="-122"/>
                <a:cs typeface="Calibri" pitchFamily="34" charset="-120"/>
              </a:rPr>
              <a:t>Lucee, Adobe, BoxLang or RustCFML — the app and its password hashes move with you.</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home/claude/deck/assets/mark-t.png"/>
          <p:cNvPicPr>
            <a:picLocks noChangeAspect="1"/>
          </p:cNvPicPr>
          <p:nvPr/>
        </p:nvPicPr>
        <p:blipFill>
          <a:blip r:embed="rId3"/>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marL="0" indent="0">
              <a:buNone/>
            </a:pPr>
            <a:r>
              <a:rPr lang="en-US" sz="3000" b="1" dirty="0">
                <a:solidFill>
                  <a:srgbClr val="1A2430"/>
                </a:solidFill>
                <a:latin typeface="Calibri" pitchFamily="34" charset="0"/>
                <a:ea typeface="Calibri" pitchFamily="34" charset="-122"/>
                <a:cs typeface="Calibri" pitchFamily="34" charset="-120"/>
              </a:rPr>
              <a:t>Try it tonight</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marL="0" indent="0">
              <a:buNone/>
            </a:pPr>
            <a:r>
              <a:rPr lang="en-US" sz="1000" b="1" kern="0" spc="200" dirty="0">
                <a:solidFill>
                  <a:srgbClr val="EF3B2D"/>
                </a:solidFill>
                <a:latin typeface="Calibri" pitchFamily="34" charset="0"/>
                <a:ea typeface="Calibri" pitchFamily="34" charset="-122"/>
                <a:cs typeface="Calibri" pitchFamily="34" charset="-120"/>
              </a:rPr>
              <a:t>GET STARTED</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wheels.dev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marL="0" indent="0" algn="r">
              <a:buNone/>
            </a:pPr>
            <a:r>
              <a:rPr lang="en-US" sz="900" dirty="0">
                <a:solidFill>
                  <a:srgbClr val="6B7785"/>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457200" y="1188720"/>
            <a:ext cx="4572000" cy="1737360"/>
          </a:xfrm>
          <a:prstGeom prst="roundRect">
            <a:avLst>
              <a:gd name="adj" fmla="val 4211"/>
            </a:avLst>
          </a:prstGeom>
          <a:solidFill>
            <a:srgbClr val="16232F"/>
          </a:solidFill>
          <a:ln w="12700">
            <a:solidFill>
              <a:srgbClr val="16232F"/>
            </a:solidFill>
            <a:prstDash val="solid"/>
          </a:ln>
        </p:spPr>
        <p:txBody>
          <a:bodyPr/>
          <a:lstStyle/>
          <a:p>
            <a:endParaRPr lang="en-US"/>
          </a:p>
        </p:txBody>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txBody>
          <a:bodyPr/>
          <a:lstStyle/>
          <a:p>
            <a:endParaRPr lang="en-US"/>
          </a:p>
        </p:txBody>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txBody>
          <a:bodyPr/>
          <a:lstStyle/>
          <a:p>
            <a:endParaRPr lang="en-US"/>
          </a:p>
        </p:txBody>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txBody>
          <a:bodyPr/>
          <a:lstStyle/>
          <a:p>
            <a:endParaRPr lang="en-US"/>
          </a:p>
        </p:txBody>
      </p:sp>
      <p:sp>
        <p:nvSpPr>
          <p:cNvPr id="11" name="Text 8"/>
          <p:cNvSpPr txBox="1"/>
          <p:nvPr/>
        </p:nvSpPr>
        <p:spPr>
          <a:xfrm>
            <a:off x="640080" y="1508760"/>
            <a:ext cx="4206240" cy="1325880"/>
          </a:xfrm>
          <a:prstGeom prst="rect">
            <a:avLst/>
          </a:prstGeom>
          <a:noFill/>
          <a:ln/>
        </p:spPr>
        <p:txBody>
          <a:bodyPr wrap="square" lIns="0" tIns="0" rIns="0" bIns="0" rtlCol="0" anchor="t"/>
          <a:lstStyle/>
          <a:p>
            <a:pPr marL="0" indent="0">
              <a:lnSpc>
                <a:spcPct val="115000"/>
              </a:lnSpc>
              <a:buNone/>
            </a:pPr>
            <a:r>
              <a:rPr lang="en-US" sz="1150" dirty="0">
                <a:solidFill>
                  <a:srgbClr val="EF3B2D"/>
                </a:solidFill>
                <a:latin typeface="Courier New" pitchFamily="34" charset="0"/>
                <a:ea typeface="Courier New" pitchFamily="34" charset="-122"/>
                <a:cs typeface="Courier New" pitchFamily="34" charset="-120"/>
              </a:rPr>
              <a:t>$ </a:t>
            </a:r>
            <a:r>
              <a:rPr lang="en-US" sz="1150" dirty="0">
                <a:solidFill>
                  <a:srgbClr val="E6EDF3"/>
                </a:solidFill>
                <a:latin typeface="Courier New" pitchFamily="34" charset="0"/>
                <a:ea typeface="Courier New" pitchFamily="34" charset="-122"/>
                <a:cs typeface="Courier New" pitchFamily="34" charset="-120"/>
              </a:rPr>
              <a:t>brew tap wheels-dev/wheels</a:t>
            </a:r>
            <a:endParaRPr lang="en-US" sz="1150" dirty="0"/>
          </a:p>
          <a:p>
            <a:pPr marL="0" indent="0">
              <a:lnSpc>
                <a:spcPct val="115000"/>
              </a:lnSpc>
              <a:buNone/>
            </a:pPr>
            <a:r>
              <a:rPr lang="en-US" sz="1150" dirty="0">
                <a:solidFill>
                  <a:srgbClr val="EF3B2D"/>
                </a:solidFill>
                <a:latin typeface="Courier New" pitchFamily="34" charset="0"/>
                <a:ea typeface="Courier New" pitchFamily="34" charset="-122"/>
                <a:cs typeface="Courier New" pitchFamily="34" charset="-120"/>
              </a:rPr>
              <a:t>$ </a:t>
            </a:r>
            <a:r>
              <a:rPr lang="en-US" sz="1150" dirty="0">
                <a:solidFill>
                  <a:srgbClr val="E6EDF3"/>
                </a:solidFill>
                <a:latin typeface="Courier New" pitchFamily="34" charset="0"/>
                <a:ea typeface="Courier New" pitchFamily="34" charset="-122"/>
                <a:cs typeface="Courier New" pitchFamily="34" charset="-120"/>
              </a:rPr>
              <a:t>brew install wheels</a:t>
            </a:r>
            <a:endParaRPr lang="en-US" sz="1150" dirty="0"/>
          </a:p>
          <a:p>
            <a:pPr marL="0" indent="0">
              <a:lnSpc>
                <a:spcPct val="115000"/>
              </a:lnSpc>
              <a:buNone/>
            </a:pPr>
            <a:r>
              <a:rPr lang="en-US" sz="1150" dirty="0">
                <a:solidFill>
                  <a:srgbClr val="9AA7B4"/>
                </a:solidFill>
                <a:latin typeface="Courier New" pitchFamily="34" charset="0"/>
                <a:ea typeface="Courier New" pitchFamily="34" charset="-122"/>
                <a:cs typeface="Courier New" pitchFamily="34" charset="-120"/>
              </a:rPr>
              <a:t># Windows: scoop install wheels</a:t>
            </a:r>
            <a:endParaRPr lang="en-US" sz="1150" dirty="0"/>
          </a:p>
          <a:p>
            <a:pPr marL="0" indent="0">
              <a:lnSpc>
                <a:spcPct val="115000"/>
              </a:lnSpc>
              <a:buNone/>
            </a:pPr>
            <a:r>
              <a:rPr lang="en-US" sz="1150" dirty="0">
                <a:solidFill>
                  <a:srgbClr val="EF3B2D"/>
                </a:solidFill>
                <a:latin typeface="Courier New" pitchFamily="34" charset="0"/>
                <a:ea typeface="Courier New" pitchFamily="34" charset="-122"/>
                <a:cs typeface="Courier New" pitchFamily="34" charset="-120"/>
              </a:rPr>
              <a:t>$ </a:t>
            </a:r>
            <a:r>
              <a:rPr lang="en-US" sz="1150" dirty="0">
                <a:solidFill>
                  <a:srgbClr val="E6EDF3"/>
                </a:solidFill>
                <a:latin typeface="Courier New" pitchFamily="34" charset="0"/>
                <a:ea typeface="Courier New" pitchFamily="34" charset="-122"/>
                <a:cs typeface="Courier New" pitchFamily="34" charset="-120"/>
              </a:rPr>
              <a:t>wheels new myapp &amp;&amp; cd myapp &amp;&amp; wheels start</a:t>
            </a:r>
            <a:endParaRPr lang="en-US" sz="1150" dirty="0"/>
          </a:p>
          <a:p>
            <a:pPr marL="0" indent="0">
              <a:lnSpc>
                <a:spcPct val="115000"/>
              </a:lnSpc>
              <a:buNone/>
            </a:pPr>
            <a:endParaRPr lang="en-US" sz="1150" dirty="0"/>
          </a:p>
          <a:p>
            <a:pPr marL="0" indent="0">
              <a:lnSpc>
                <a:spcPct val="115000"/>
              </a:lnSpc>
              <a:buNone/>
            </a:pPr>
            <a:r>
              <a:rPr lang="en-US" sz="1150" dirty="0">
                <a:solidFill>
                  <a:srgbClr val="9AA7B4"/>
                </a:solidFill>
                <a:latin typeface="Courier New" pitchFamily="34" charset="0"/>
                <a:ea typeface="Courier New" pitchFamily="34" charset="-122"/>
                <a:cs typeface="Courier New" pitchFamily="34" charset="-120"/>
              </a:rPr>
              <a:t># 60 seconds later: http://localhost:8080</a:t>
            </a:r>
            <a:endParaRPr lang="en-US" sz="1150" dirty="0"/>
          </a:p>
        </p:txBody>
      </p:sp>
      <p:sp>
        <p:nvSpPr>
          <p:cNvPr id="12" name="Text 9"/>
          <p:cNvSpPr txBox="1"/>
          <p:nvPr/>
        </p:nvSpPr>
        <p:spPr>
          <a:xfrm>
            <a:off x="5303520" y="1188720"/>
            <a:ext cx="3383280" cy="292608"/>
          </a:xfrm>
          <a:prstGeom prst="rect">
            <a:avLst/>
          </a:prstGeom>
          <a:noFill/>
          <a:ln/>
        </p:spPr>
        <p:txBody>
          <a:bodyPr wrap="square" lIns="0" tIns="0" rIns="0" bIns="0" rtlCol="0" anchor="ctr"/>
          <a:lstStyle/>
          <a:p>
            <a:pPr marL="0" indent="0">
              <a:buNone/>
            </a:pPr>
            <a:r>
              <a:rPr lang="en-US" sz="1400" b="1" dirty="0">
                <a:solidFill>
                  <a:srgbClr val="EF3B2D"/>
                </a:solidFill>
                <a:latin typeface="Calibri" pitchFamily="34" charset="0"/>
                <a:ea typeface="Calibri" pitchFamily="34" charset="-122"/>
                <a:cs typeface="Calibri" pitchFamily="34" charset="-120"/>
              </a:rPr>
              <a:t>wheels.dev</a:t>
            </a:r>
            <a:endParaRPr lang="en-US" sz="1400" dirty="0"/>
          </a:p>
        </p:txBody>
      </p:sp>
      <p:sp>
        <p:nvSpPr>
          <p:cNvPr id="13" name="Text 10"/>
          <p:cNvSpPr txBox="1"/>
          <p:nvPr/>
        </p:nvSpPr>
        <p:spPr>
          <a:xfrm>
            <a:off x="5303520" y="1481328"/>
            <a:ext cx="338328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site, blog, release notes</a:t>
            </a:r>
            <a:endParaRPr lang="en-US" sz="1100" dirty="0"/>
          </a:p>
        </p:txBody>
      </p:sp>
      <p:sp>
        <p:nvSpPr>
          <p:cNvPr id="14" name="Text 11"/>
          <p:cNvSpPr txBox="1"/>
          <p:nvPr/>
        </p:nvSpPr>
        <p:spPr>
          <a:xfrm>
            <a:off x="5303520" y="1828800"/>
            <a:ext cx="3383280" cy="292608"/>
          </a:xfrm>
          <a:prstGeom prst="rect">
            <a:avLst/>
          </a:prstGeom>
          <a:noFill/>
          <a:ln/>
        </p:spPr>
        <p:txBody>
          <a:bodyPr wrap="square" lIns="0" tIns="0" rIns="0" bIns="0" rtlCol="0" anchor="ctr"/>
          <a:lstStyle/>
          <a:p>
            <a:pPr marL="0" indent="0">
              <a:buNone/>
            </a:pPr>
            <a:r>
              <a:rPr lang="en-US" sz="1400" b="1" dirty="0">
                <a:solidFill>
                  <a:srgbClr val="EF3B2D"/>
                </a:solidFill>
                <a:latin typeface="Calibri" pitchFamily="34" charset="0"/>
                <a:ea typeface="Calibri" pitchFamily="34" charset="-122"/>
                <a:cs typeface="Calibri" pitchFamily="34" charset="-120"/>
              </a:rPr>
              <a:t>wheels.dev/guides</a:t>
            </a:r>
            <a:endParaRPr lang="en-US" sz="1400" dirty="0"/>
          </a:p>
        </p:txBody>
      </p:sp>
      <p:sp>
        <p:nvSpPr>
          <p:cNvPr id="15" name="Text 12"/>
          <p:cNvSpPr txBox="1"/>
          <p:nvPr/>
        </p:nvSpPr>
        <p:spPr>
          <a:xfrm>
            <a:off x="5303520" y="2121408"/>
            <a:ext cx="338328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docs — start with Beginner Tutorial: Hello World</a:t>
            </a:r>
            <a:endParaRPr lang="en-US" sz="1100" dirty="0"/>
          </a:p>
        </p:txBody>
      </p:sp>
      <p:sp>
        <p:nvSpPr>
          <p:cNvPr id="16" name="Text 13"/>
          <p:cNvSpPr txBox="1"/>
          <p:nvPr/>
        </p:nvSpPr>
        <p:spPr>
          <a:xfrm>
            <a:off x="5303520" y="2468880"/>
            <a:ext cx="3383280" cy="292608"/>
          </a:xfrm>
          <a:prstGeom prst="rect">
            <a:avLst/>
          </a:prstGeom>
          <a:noFill/>
          <a:ln/>
        </p:spPr>
        <p:txBody>
          <a:bodyPr wrap="square" lIns="0" tIns="0" rIns="0" bIns="0" rtlCol="0" anchor="ctr"/>
          <a:lstStyle/>
          <a:p>
            <a:pPr marL="0" indent="0">
              <a:buNone/>
            </a:pPr>
            <a:r>
              <a:rPr lang="en-US" sz="1400" b="1" dirty="0">
                <a:solidFill>
                  <a:srgbClr val="EF3B2D"/>
                </a:solidFill>
                <a:latin typeface="Calibri" pitchFamily="34" charset="0"/>
                <a:ea typeface="Calibri" pitchFamily="34" charset="-122"/>
                <a:cs typeface="Calibri" pitchFamily="34" charset="-120"/>
              </a:rPr>
              <a:t>github.com/wheels-dev/wheels</a:t>
            </a:r>
            <a:endParaRPr lang="en-US" sz="1400" dirty="0"/>
          </a:p>
        </p:txBody>
      </p:sp>
      <p:sp>
        <p:nvSpPr>
          <p:cNvPr id="17" name="Text 14"/>
          <p:cNvSpPr txBox="1"/>
          <p:nvPr/>
        </p:nvSpPr>
        <p:spPr>
          <a:xfrm>
            <a:off x="5303520" y="2761488"/>
            <a:ext cx="338328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source, issues, changelog, discussions</a:t>
            </a:r>
            <a:endParaRPr lang="en-US" sz="1100" dirty="0"/>
          </a:p>
        </p:txBody>
      </p:sp>
      <p:sp>
        <p:nvSpPr>
          <p:cNvPr id="18" name="Text 15"/>
          <p:cNvSpPr txBox="1"/>
          <p:nvPr/>
        </p:nvSpPr>
        <p:spPr>
          <a:xfrm>
            <a:off x="5303520" y="3108960"/>
            <a:ext cx="3383280" cy="292608"/>
          </a:xfrm>
          <a:prstGeom prst="rect">
            <a:avLst/>
          </a:prstGeom>
          <a:noFill/>
          <a:ln/>
        </p:spPr>
        <p:txBody>
          <a:bodyPr wrap="square" lIns="0" tIns="0" rIns="0" bIns="0" rtlCol="0" anchor="ctr"/>
          <a:lstStyle/>
          <a:p>
            <a:pPr marL="0" indent="0">
              <a:buNone/>
            </a:pPr>
            <a:r>
              <a:rPr lang="en-US" sz="1400" b="1" dirty="0">
                <a:solidFill>
                  <a:srgbClr val="EF3B2D"/>
                </a:solidFill>
                <a:latin typeface="Calibri" pitchFamily="34" charset="0"/>
                <a:ea typeface="Calibri" pitchFamily="34" charset="-122"/>
                <a:cs typeface="Calibri" pitchFamily="34" charset="-120"/>
              </a:rPr>
              <a:t>forgebox.io → wheels-core</a:t>
            </a:r>
            <a:endParaRPr lang="en-US" sz="1400" dirty="0"/>
          </a:p>
        </p:txBody>
      </p:sp>
      <p:sp>
        <p:nvSpPr>
          <p:cNvPr id="19" name="Text 16"/>
          <p:cNvSpPr txBox="1"/>
          <p:nvPr/>
        </p:nvSpPr>
        <p:spPr>
          <a:xfrm>
            <a:off x="5303520" y="3401568"/>
            <a:ext cx="338328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if you'd rather install via CommandBox</a:t>
            </a:r>
            <a:endParaRPr lang="en-US" sz="1100" dirty="0"/>
          </a:p>
        </p:txBody>
      </p:sp>
      <p:sp>
        <p:nvSpPr>
          <p:cNvPr id="20" name="Text 17"/>
          <p:cNvSpPr txBox="1"/>
          <p:nvPr/>
        </p:nvSpPr>
        <p:spPr>
          <a:xfrm>
            <a:off x="5303520" y="3749040"/>
            <a:ext cx="3383280" cy="292608"/>
          </a:xfrm>
          <a:prstGeom prst="rect">
            <a:avLst/>
          </a:prstGeom>
          <a:noFill/>
          <a:ln/>
        </p:spPr>
        <p:txBody>
          <a:bodyPr wrap="square" lIns="0" tIns="0" rIns="0" bIns="0" rtlCol="0" anchor="ctr"/>
          <a:lstStyle/>
          <a:p>
            <a:pPr marL="0" indent="0">
              <a:buNone/>
            </a:pPr>
            <a:r>
              <a:rPr lang="en-US" sz="1400" b="1" dirty="0">
                <a:solidFill>
                  <a:srgbClr val="EF3B2D"/>
                </a:solidFill>
                <a:latin typeface="Calibri" pitchFamily="34" charset="0"/>
                <a:ea typeface="Calibri" pitchFamily="34" charset="-122"/>
                <a:cs typeface="Calibri" pitchFamily="34" charset="-120"/>
              </a:rPr>
              <a:t>Tonight's demo repo</a:t>
            </a:r>
            <a:endParaRPr lang="en-US" sz="1400" dirty="0"/>
          </a:p>
        </p:txBody>
      </p:sp>
      <p:sp>
        <p:nvSpPr>
          <p:cNvPr id="21" name="Text 18"/>
          <p:cNvSpPr txBox="1"/>
          <p:nvPr/>
        </p:nvSpPr>
        <p:spPr>
          <a:xfrm>
            <a:off x="5303520" y="4041648"/>
            <a:ext cx="3383280" cy="27432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link in the YouTube description</a:t>
            </a:r>
            <a:endParaRPr lang="en-US" sz="1100" dirty="0"/>
          </a:p>
        </p:txBody>
      </p:sp>
      <p:sp>
        <p:nvSpPr>
          <p:cNvPr id="22" name="Text 19"/>
          <p:cNvSpPr txBox="1"/>
          <p:nvPr/>
        </p:nvSpPr>
        <p:spPr>
          <a:xfrm>
            <a:off x="457200" y="3108960"/>
            <a:ext cx="4572000" cy="320040"/>
          </a:xfrm>
          <a:prstGeom prst="rect">
            <a:avLst/>
          </a:prstGeom>
          <a:noFill/>
          <a:ln/>
        </p:spPr>
        <p:txBody>
          <a:bodyPr wrap="square" lIns="0" tIns="0" rIns="0" bIns="0" rtlCol="0" anchor="ctr"/>
          <a:lstStyle/>
          <a:p>
            <a:pPr marL="0" indent="0">
              <a:buNone/>
            </a:pPr>
            <a:r>
              <a:rPr lang="en-US" sz="1100" dirty="0">
                <a:solidFill>
                  <a:srgbClr val="6B7785"/>
                </a:solidFill>
                <a:latin typeface="Calibri" pitchFamily="34" charset="0"/>
                <a:ea typeface="Calibri" pitchFamily="34" charset="-122"/>
                <a:cs typeface="Calibri" pitchFamily="34" charset="-120"/>
              </a:rPr>
              <a:t>Homebrew 5.1+ may ask you to trust the tap: brew trust wheels-dev/wheels</a:t>
            </a:r>
            <a:endParaRPr lang="en-US" sz="1100" dirty="0"/>
          </a:p>
        </p:txBody>
      </p:sp>
      <p:sp>
        <p:nvSpPr>
          <p:cNvPr id="23" name="Shape 20"/>
          <p:cNvSpPr/>
          <p:nvPr/>
        </p:nvSpPr>
        <p:spPr>
          <a:xfrm>
            <a:off x="457200" y="3566160"/>
            <a:ext cx="4572000" cy="1005840"/>
          </a:xfrm>
          <a:prstGeom prst="roundRect">
            <a:avLst>
              <a:gd name="adj" fmla="val 7273"/>
            </a:avLst>
          </a:prstGeom>
          <a:solidFill>
            <a:srgbClr val="F3F5F7"/>
          </a:solidFill>
          <a:ln w="12700">
            <a:solidFill>
              <a:srgbClr val="F3F5F7"/>
            </a:solidFill>
            <a:prstDash val="solid"/>
          </a:ln>
        </p:spPr>
        <p:txBody>
          <a:bodyPr/>
          <a:lstStyle/>
          <a:p>
            <a:endParaRPr lang="en-US"/>
          </a:p>
        </p:txBody>
      </p:sp>
      <p:sp>
        <p:nvSpPr>
          <p:cNvPr id="24" name="Text 21"/>
          <p:cNvSpPr txBox="1"/>
          <p:nvPr/>
        </p:nvSpPr>
        <p:spPr>
          <a:xfrm>
            <a:off x="640080" y="3703320"/>
            <a:ext cx="4206240" cy="365760"/>
          </a:xfrm>
          <a:prstGeom prst="rect">
            <a:avLst/>
          </a:prstGeom>
          <a:noFill/>
          <a:ln/>
        </p:spPr>
        <p:txBody>
          <a:bodyPr wrap="square" lIns="0" tIns="0" rIns="0" bIns="0" rtlCol="0" anchor="ctr"/>
          <a:lstStyle/>
          <a:p>
            <a:pPr marL="0" indent="0">
              <a:buNone/>
            </a:pPr>
            <a:r>
              <a:rPr lang="en-US" sz="1500" b="1" dirty="0">
                <a:solidFill>
                  <a:srgbClr val="1A2430"/>
                </a:solidFill>
                <a:latin typeface="Calibri" pitchFamily="34" charset="0"/>
                <a:ea typeface="Calibri" pitchFamily="34" charset="-122"/>
                <a:cs typeface="Calibri" pitchFamily="34" charset="-120"/>
              </a:rPr>
              <a:t>Requirements</a:t>
            </a:r>
            <a:endParaRPr lang="en-US" sz="1500" dirty="0"/>
          </a:p>
        </p:txBody>
      </p:sp>
      <p:sp>
        <p:nvSpPr>
          <p:cNvPr id="25" name="Text 22"/>
          <p:cNvSpPr txBox="1"/>
          <p:nvPr/>
        </p:nvSpPr>
        <p:spPr>
          <a:xfrm>
            <a:off x="640080" y="4069080"/>
            <a:ext cx="4206240" cy="365760"/>
          </a:xfrm>
          <a:prstGeom prst="rect">
            <a:avLst/>
          </a:prstGeom>
          <a:noFill/>
          <a:ln/>
        </p:spPr>
        <p:txBody>
          <a:bodyPr wrap="square" lIns="0" tIns="0" rIns="0" bIns="0" rtlCol="0" anchor="t"/>
          <a:lstStyle/>
          <a:p>
            <a:pPr marL="0" indent="0">
              <a:buNone/>
            </a:pPr>
            <a:r>
              <a:rPr lang="en-US" sz="1200" dirty="0">
                <a:solidFill>
                  <a:srgbClr val="6B7785"/>
                </a:solidFill>
                <a:latin typeface="Calibri" pitchFamily="34" charset="0"/>
                <a:ea typeface="Calibri" pitchFamily="34" charset="-122"/>
                <a:cs typeface="Calibri" pitchFamily="34" charset="-120"/>
              </a:rPr>
              <a:t>Java 21. That's it. No CFML engine, no CommandBox, no database server — SQLite is the default.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1620"/>
        </a:solidFill>
        <a:effectLst/>
      </p:bgPr>
    </p:bg>
    <p:spTree>
      <p:nvGrpSpPr>
        <p:cNvPr id="1" name=""/>
        <p:cNvGrpSpPr/>
        <p:nvPr/>
      </p:nvGrpSpPr>
      <p:grpSpPr>
        <a:xfrm>
          <a:off x="0" y="0"/>
          <a:ext cx="0" cy="0"/>
          <a:chOff x="0" y="0"/>
          <a:chExt cx="0" cy="0"/>
        </a:xfrm>
      </p:grpSpPr>
      <p:pic>
        <p:nvPicPr>
          <p:cNvPr id="2" name="Image 0" descr="/home/claude/deck/assets/logo-dark.png"/>
          <p:cNvPicPr>
            <a:picLocks noChangeAspect="1"/>
          </p:cNvPicPr>
          <p:nvPr/>
        </p:nvPicPr>
        <p:blipFill>
          <a:blip r:embed="rId3"/>
          <a:stretch>
            <a:fillRect/>
          </a:stretch>
        </p:blipFill>
        <p:spPr>
          <a:xfrm>
            <a:off x="457200" y="548640"/>
            <a:ext cx="3291840" cy="539496"/>
          </a:xfrm>
          <a:prstGeom prst="rect">
            <a:avLst/>
          </a:prstGeom>
        </p:spPr>
      </p:pic>
      <p:sp>
        <p:nvSpPr>
          <p:cNvPr id="3" name="Text 0"/>
          <p:cNvSpPr txBox="1"/>
          <p:nvPr/>
        </p:nvSpPr>
        <p:spPr>
          <a:xfrm>
            <a:off x="457200" y="1463040"/>
            <a:ext cx="8229600" cy="91440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Questions</a:t>
            </a:r>
            <a:endParaRPr lang="en-US" sz="5400" dirty="0"/>
          </a:p>
        </p:txBody>
      </p:sp>
      <p:sp>
        <p:nvSpPr>
          <p:cNvPr id="4" name="Text 1"/>
          <p:cNvSpPr txBox="1"/>
          <p:nvPr/>
        </p:nvSpPr>
        <p:spPr>
          <a:xfrm>
            <a:off x="457200" y="2423160"/>
            <a:ext cx="8229600" cy="457200"/>
          </a:xfrm>
          <a:prstGeom prst="rect">
            <a:avLst/>
          </a:prstGeom>
          <a:noFill/>
          <a:ln/>
        </p:spPr>
        <p:txBody>
          <a:bodyPr wrap="square" lIns="0" tIns="0" rIns="0" bIns="0" rtlCol="0" anchor="ctr"/>
          <a:lstStyle/>
          <a:p>
            <a:pPr marL="0" indent="0">
              <a:buNone/>
            </a:pPr>
            <a:r>
              <a:rPr lang="en-US" sz="2000" dirty="0">
                <a:solidFill>
                  <a:srgbClr val="C9D3DD"/>
                </a:solidFill>
                <a:latin typeface="Calibri" pitchFamily="34" charset="0"/>
                <a:ea typeface="Calibri" pitchFamily="34" charset="-122"/>
                <a:cs typeface="Calibri" pitchFamily="34" charset="-120"/>
              </a:rPr>
              <a:t>Thank you, Rick and Mid-Michigan CFUG.</a:t>
            </a:r>
            <a:endParaRPr lang="en-US" sz="2000" dirty="0"/>
          </a:p>
        </p:txBody>
      </p:sp>
      <p:sp>
        <p:nvSpPr>
          <p:cNvPr id="5" name="Text 2"/>
          <p:cNvSpPr txBox="1"/>
          <p:nvPr/>
        </p:nvSpPr>
        <p:spPr>
          <a:xfrm>
            <a:off x="457200" y="3108960"/>
            <a:ext cx="1645920" cy="365760"/>
          </a:xfrm>
          <a:prstGeom prst="rect">
            <a:avLst/>
          </a:prstGeom>
          <a:noFill/>
          <a:ln/>
        </p:spPr>
        <p:txBody>
          <a:bodyPr wrap="square" lIns="0" tIns="0" rIns="0" bIns="0" rtlCol="0" anchor="ctr"/>
          <a:lstStyle/>
          <a:p>
            <a:pPr marL="0" indent="0">
              <a:buNone/>
            </a:pPr>
            <a:r>
              <a:rPr lang="en-US" sz="1300" b="1" dirty="0">
                <a:solidFill>
                  <a:srgbClr val="EF3B2D"/>
                </a:solidFill>
                <a:latin typeface="Calibri" pitchFamily="34" charset="0"/>
                <a:ea typeface="Calibri" pitchFamily="34" charset="-122"/>
                <a:cs typeface="Calibri" pitchFamily="34" charset="-120"/>
              </a:rPr>
              <a:t>Peter Amiri</a:t>
            </a:r>
            <a:endParaRPr lang="en-US" sz="1300" dirty="0"/>
          </a:p>
        </p:txBody>
      </p:sp>
      <p:sp>
        <p:nvSpPr>
          <p:cNvPr id="6" name="Text 3"/>
          <p:cNvSpPr txBox="1"/>
          <p:nvPr/>
        </p:nvSpPr>
        <p:spPr>
          <a:xfrm>
            <a:off x="2103120" y="3108960"/>
            <a:ext cx="658368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peter@alurium.com</a:t>
            </a:r>
            <a:endParaRPr lang="en-US" sz="1300" dirty="0"/>
          </a:p>
        </p:txBody>
      </p:sp>
      <p:sp>
        <p:nvSpPr>
          <p:cNvPr id="7" name="Text 4"/>
          <p:cNvSpPr txBox="1"/>
          <p:nvPr/>
        </p:nvSpPr>
        <p:spPr>
          <a:xfrm>
            <a:off x="457200" y="3566160"/>
            <a:ext cx="1645920" cy="365760"/>
          </a:xfrm>
          <a:prstGeom prst="rect">
            <a:avLst/>
          </a:prstGeom>
          <a:noFill/>
          <a:ln/>
        </p:spPr>
        <p:txBody>
          <a:bodyPr wrap="square" lIns="0" tIns="0" rIns="0" bIns="0" rtlCol="0" anchor="ctr"/>
          <a:lstStyle/>
          <a:p>
            <a:pPr marL="0" indent="0">
              <a:buNone/>
            </a:pPr>
            <a:r>
              <a:rPr lang="en-US" sz="1300" b="1" dirty="0">
                <a:solidFill>
                  <a:srgbClr val="EF3B2D"/>
                </a:solidFill>
                <a:latin typeface="Calibri" pitchFamily="34" charset="0"/>
                <a:ea typeface="Calibri" pitchFamily="34" charset="-122"/>
                <a:cs typeface="Calibri" pitchFamily="34" charset="-120"/>
              </a:rPr>
              <a:t>Wheels</a:t>
            </a:r>
            <a:endParaRPr lang="en-US" sz="1300" dirty="0"/>
          </a:p>
        </p:txBody>
      </p:sp>
      <p:sp>
        <p:nvSpPr>
          <p:cNvPr id="8" name="Text 5"/>
          <p:cNvSpPr txBox="1"/>
          <p:nvPr/>
        </p:nvSpPr>
        <p:spPr>
          <a:xfrm>
            <a:off x="2103120" y="3566160"/>
            <a:ext cx="658368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wheels.dev · github.com/wheels-dev/wheels</a:t>
            </a:r>
            <a:endParaRPr lang="en-US" sz="1300" dirty="0"/>
          </a:p>
        </p:txBody>
      </p:sp>
      <p:sp>
        <p:nvSpPr>
          <p:cNvPr id="9" name="Text 6"/>
          <p:cNvSpPr txBox="1"/>
          <p:nvPr/>
        </p:nvSpPr>
        <p:spPr>
          <a:xfrm>
            <a:off x="457200" y="4023360"/>
            <a:ext cx="1645920" cy="365760"/>
          </a:xfrm>
          <a:prstGeom prst="rect">
            <a:avLst/>
          </a:prstGeom>
          <a:noFill/>
          <a:ln/>
        </p:spPr>
        <p:txBody>
          <a:bodyPr wrap="square" lIns="0" tIns="0" rIns="0" bIns="0" rtlCol="0" anchor="ctr"/>
          <a:lstStyle/>
          <a:p>
            <a:pPr marL="0" indent="0">
              <a:buNone/>
            </a:pPr>
            <a:r>
              <a:rPr lang="en-US" sz="1300" b="1" dirty="0">
                <a:solidFill>
                  <a:srgbClr val="EF3B2D"/>
                </a:solidFill>
                <a:latin typeface="Calibri" pitchFamily="34" charset="0"/>
                <a:ea typeface="Calibri" pitchFamily="34" charset="-122"/>
                <a:cs typeface="Calibri" pitchFamily="34" charset="-120"/>
              </a:rPr>
              <a:t>Next time?</a:t>
            </a:r>
            <a:endParaRPr lang="en-US" sz="1300" dirty="0"/>
          </a:p>
        </p:txBody>
      </p:sp>
      <p:sp>
        <p:nvSpPr>
          <p:cNvPr id="10" name="Text 7"/>
          <p:cNvSpPr txBox="1"/>
          <p:nvPr/>
        </p:nvSpPr>
        <p:spPr>
          <a:xfrm>
            <a:off x="2103120" y="4023360"/>
            <a:ext cx="658368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Intermediate session: agent-driven maintenance, MCP, multi-engine CI</a:t>
            </a:r>
            <a:endParaRPr lang="en-US" sz="1300" dirty="0"/>
          </a:p>
        </p:txBody>
      </p:sp>
      <p:sp>
        <p:nvSpPr>
          <p:cNvPr id="11" name="Text 8"/>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rgbClr val="9AA7B4"/>
                </a:solidFill>
                <a:latin typeface="Calibri" pitchFamily="34" charset="0"/>
                <a:ea typeface="Calibri" pitchFamily="34" charset="-122"/>
                <a:cs typeface="Calibri" pitchFamily="34" charset="-120"/>
              </a:rPr>
              <a:t>wheels.dev  ·  github.com/wheels-dev/wheels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1018</TotalTime>
  <Words>6041</Words>
  <Application>Microsoft Macintosh PowerPoint</Application>
  <PresentationFormat>On-screen Show (16:9)</PresentationFormat>
  <Paragraphs>553</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Wheels: Rails-Style CFML</dc:title>
  <dc:subject>PptxGenJS Presentation</dc:subject>
  <dc:creator>Peter Amiri</dc:creator>
  <cp:lastModifiedBy>Peter Amiri</cp:lastModifiedBy>
  <cp:revision>2</cp:revision>
  <cp:lastPrinted>2026-09-11T12:28:52Z</cp:lastPrinted>
  <dcterms:created xsi:type="dcterms:W3CDTF">2026-09-10T20:14:00Z</dcterms:created>
  <dcterms:modified xsi:type="dcterms:W3CDTF">2026-09-12T04:06:40Z</dcterms:modified>
</cp:coreProperties>
</file>